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385" r:id="rId3"/>
    <p:sldId id="431" r:id="rId4"/>
    <p:sldId id="451" r:id="rId5"/>
    <p:sldId id="446" r:id="rId6"/>
    <p:sldId id="435" r:id="rId7"/>
    <p:sldId id="447" r:id="rId8"/>
    <p:sldId id="437" r:id="rId9"/>
    <p:sldId id="448" r:id="rId10"/>
    <p:sldId id="449" r:id="rId11"/>
    <p:sldId id="433" r:id="rId12"/>
    <p:sldId id="450" r:id="rId13"/>
    <p:sldId id="443" r:id="rId14"/>
    <p:sldId id="401" r:id="rId15"/>
    <p:sldId id="441" r:id="rId16"/>
    <p:sldId id="444" r:id="rId17"/>
    <p:sldId id="432" r:id="rId18"/>
    <p:sldId id="439" r:id="rId19"/>
    <p:sldId id="438" r:id="rId20"/>
    <p:sldId id="440" r:id="rId21"/>
    <p:sldId id="452" r:id="rId22"/>
    <p:sldId id="420"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354" autoAdjust="0"/>
    <p:restoredTop sz="75680" autoAdjust="0"/>
  </p:normalViewPr>
  <p:slideViewPr>
    <p:cSldViewPr snapToGrid="0">
      <p:cViewPr>
        <p:scale>
          <a:sx n="82" d="100"/>
          <a:sy n="82" d="100"/>
        </p:scale>
        <p:origin x="245"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9D9CAB-DC9C-4912-9331-B9F4823A227A}" type="datetimeFigureOut">
              <a:rPr lang="zh-CN" altLang="en-US" smtClean="0"/>
              <a:t>2025/2/24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CE17B9-3885-4DD3-8538-856F6E08ECCA}" type="slidenum">
              <a:rPr lang="zh-CN" altLang="en-US" smtClean="0"/>
              <a:t>‹#›</a:t>
            </a:fld>
            <a:endParaRPr lang="zh-CN" altLang="en-US"/>
          </a:p>
        </p:txBody>
      </p:sp>
    </p:spTree>
    <p:extLst>
      <p:ext uri="{BB962C8B-B14F-4D97-AF65-F5344CB8AC3E}">
        <p14:creationId xmlns:p14="http://schemas.microsoft.com/office/powerpoint/2010/main" val="338888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so.csdn.net/so/search?q=%E5%8D%B7%E7%A7%AF&amp;spm=1001.2101.3001.7020"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so.csdn.net/so/search?q=%E5%8D%B7%E7%A7%AF&amp;spm=1001.2101.3001.7020"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dirty="0"/>
              <a:t>尊敬的各位专家教授，上午号，我是答辩人程贤哲，我的导师是张明教授，今天作的开题报告名字是</a:t>
            </a:r>
          </a:p>
        </p:txBody>
      </p:sp>
      <p:sp>
        <p:nvSpPr>
          <p:cNvPr id="4" name="灯片编号占位符 3"/>
          <p:cNvSpPr>
            <a:spLocks noGrp="1"/>
          </p:cNvSpPr>
          <p:nvPr>
            <p:ph type="sldNum" sz="quarter" idx="5"/>
          </p:nvPr>
        </p:nvSpPr>
        <p:spPr/>
        <p:txBody>
          <a:bodyPr/>
          <a:lstStyle/>
          <a:p>
            <a:fld id="{D5CE17B9-3885-4DD3-8538-856F6E08ECCA}" type="slidenum">
              <a:rPr lang="zh-CN" altLang="en-US" smtClean="0"/>
              <a:t>1</a:t>
            </a:fld>
            <a:endParaRPr lang="zh-CN" altLang="en-US"/>
          </a:p>
        </p:txBody>
      </p:sp>
    </p:spTree>
    <p:extLst>
      <p:ext uri="{BB962C8B-B14F-4D97-AF65-F5344CB8AC3E}">
        <p14:creationId xmlns:p14="http://schemas.microsoft.com/office/powerpoint/2010/main" val="1921627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从以下四个方面汇报，</a:t>
            </a:r>
            <a:r>
              <a:rPr lang="en-US" altLang="zh-CN" dirty="0"/>
              <a:t>1</a:t>
            </a:r>
            <a:r>
              <a:rPr lang="zh-CN" altLang="en-US" dirty="0"/>
              <a:t>，</a:t>
            </a:r>
            <a:r>
              <a:rPr lang="en-US" altLang="zh-CN" dirty="0"/>
              <a:t>2</a:t>
            </a:r>
            <a:endParaRPr lang="zh-CN" altLang="en-US" dirty="0"/>
          </a:p>
        </p:txBody>
      </p:sp>
      <p:sp>
        <p:nvSpPr>
          <p:cNvPr id="4" name="灯片编号占位符 3"/>
          <p:cNvSpPr>
            <a:spLocks noGrp="1"/>
          </p:cNvSpPr>
          <p:nvPr>
            <p:ph type="sldNum" sz="quarter" idx="5"/>
          </p:nvPr>
        </p:nvSpPr>
        <p:spPr/>
        <p:txBody>
          <a:bodyPr/>
          <a:lstStyle/>
          <a:p>
            <a:fld id="{D5CE17B9-3885-4DD3-8538-856F6E08ECCA}" type="slidenum">
              <a:rPr lang="zh-CN" altLang="en-US" smtClean="0"/>
              <a:t>2</a:t>
            </a:fld>
            <a:endParaRPr lang="zh-CN" altLang="en-US"/>
          </a:p>
        </p:txBody>
      </p:sp>
    </p:spTree>
    <p:extLst>
      <p:ext uri="{BB962C8B-B14F-4D97-AF65-F5344CB8AC3E}">
        <p14:creationId xmlns:p14="http://schemas.microsoft.com/office/powerpoint/2010/main" val="778176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5C3E-C6B3-5DCC-F175-0935732372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9EAB22-9D01-9089-AD7D-471E51D897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5DC8D0-9638-8969-56A8-1FBDDC9E425B}"/>
              </a:ext>
            </a:extLst>
          </p:cNvPr>
          <p:cNvSpPr>
            <a:spLocks noGrp="1"/>
          </p:cNvSpPr>
          <p:nvPr>
            <p:ph type="body" idx="1"/>
          </p:nvPr>
        </p:nvSpPr>
        <p:spPr/>
        <p:txBody>
          <a:bodyPr/>
          <a:lstStyle/>
          <a:p>
            <a:pPr marL="0" algn="l" rtl="0" eaLnBrk="1" latinLnBrk="0" hangingPunct="1"/>
            <a:r>
              <a:rPr lang="zh-CN" altLang="en-US" sz="1800" b="1" kern="1200" dirty="0">
                <a:solidFill>
                  <a:srgbClr val="000000"/>
                </a:solidFill>
                <a:effectLst/>
                <a:latin typeface="等线" panose="02010600030101010101" pitchFamily="2" charset="-122"/>
                <a:ea typeface="等线" panose="02010600030101010101" pitchFamily="2" charset="-122"/>
                <a:cs typeface="+mn-cs"/>
              </a:rPr>
              <a:t>首先是论文的选题理论依据，论文题为基于自注意力机制的脑电解码及硬件系统设计，课题来源于</a:t>
            </a:r>
            <a:r>
              <a:rPr lang="zh-CN" altLang="zh-CN" sz="1800" b="1" dirty="0">
                <a:latin typeface="Adobe 楷体 Std R" panose="02020400000000000000" pitchFamily="18" charset="-122"/>
                <a:ea typeface="Adobe 楷体 Std R" panose="02020400000000000000" pitchFamily="18" charset="-122"/>
              </a:rPr>
              <a:t>侵入式</a:t>
            </a:r>
            <a:r>
              <a:rPr lang="en-US" altLang="zh-CN" sz="1800" b="1" dirty="0">
                <a:latin typeface="Adobe 楷体 Std R" panose="02020400000000000000" pitchFamily="18" charset="-122"/>
                <a:ea typeface="Adobe 楷体 Std R" panose="02020400000000000000" pitchFamily="18" charset="-122"/>
              </a:rPr>
              <a:t>/</a:t>
            </a:r>
            <a:r>
              <a:rPr lang="zh-CN" altLang="zh-CN" sz="1800" b="1" dirty="0">
                <a:latin typeface="Adobe 楷体 Std R" panose="02020400000000000000" pitchFamily="18" charset="-122"/>
                <a:ea typeface="Adobe 楷体 Std R" panose="02020400000000000000" pitchFamily="18" charset="-122"/>
              </a:rPr>
              <a:t>非侵入式双向闭环脑机接口关键技术及系统</a:t>
            </a:r>
            <a:r>
              <a:rPr lang="zh-CN" altLang="en-US" sz="1800" b="1" dirty="0">
                <a:latin typeface="Adobe 楷体 Std R" panose="02020400000000000000" pitchFamily="18" charset="-122"/>
                <a:ea typeface="Adobe 楷体 Std R" panose="02020400000000000000" pitchFamily="18" charset="-122"/>
              </a:rPr>
              <a:t>项目</a:t>
            </a:r>
            <a:endParaRPr lang="en-US" altLang="zh-CN" sz="1800" b="1" kern="1200" dirty="0">
              <a:solidFill>
                <a:srgbClr val="000000"/>
              </a:solidFill>
              <a:effectLst/>
              <a:latin typeface="等线" panose="02010600030101010101" pitchFamily="2" charset="-122"/>
              <a:ea typeface="等线" panose="02010600030101010101" pitchFamily="2" charset="-122"/>
              <a:cs typeface="+mn-cs"/>
            </a:endParaRPr>
          </a:p>
          <a:p>
            <a:pPr marL="0" algn="l" rtl="0" eaLnBrk="1" latinLnBrk="0" hangingPunct="1"/>
            <a:endParaRPr lang="en-US" altLang="zh-CN" sz="1800" b="1" kern="1200" dirty="0">
              <a:solidFill>
                <a:srgbClr val="000000"/>
              </a:solidFill>
              <a:effectLst/>
              <a:latin typeface="等线" panose="02010600030101010101" pitchFamily="2" charset="-122"/>
              <a:ea typeface="等线" panose="02010600030101010101" pitchFamily="2" charset="-122"/>
              <a:cs typeface="+mn-cs"/>
            </a:endParaRPr>
          </a:p>
          <a:p>
            <a:pPr marL="0" algn="l" rtl="0" eaLnBrk="1" latinLnBrk="0" hangingPunct="1"/>
            <a:r>
              <a:rPr lang="zh-CN" altLang="en-US" sz="1800" b="1" kern="1200" dirty="0">
                <a:solidFill>
                  <a:srgbClr val="000000"/>
                </a:solidFill>
                <a:effectLst/>
                <a:latin typeface="等线" panose="02010600030101010101" pitchFamily="2" charset="-122"/>
                <a:ea typeface="等线" panose="02010600030101010101" pitchFamily="2" charset="-122"/>
                <a:cs typeface="+mn-cs"/>
              </a:rPr>
              <a:t>选题依据有以下三个方面</a:t>
            </a:r>
            <a:endParaRPr lang="en-US" altLang="zh-CN" sz="1800" b="1" kern="1200" dirty="0">
              <a:solidFill>
                <a:srgbClr val="000000"/>
              </a:solidFill>
              <a:effectLst/>
              <a:latin typeface="等线" panose="02010600030101010101" pitchFamily="2" charset="-122"/>
              <a:ea typeface="等线" panose="02010600030101010101" pitchFamily="2" charset="-122"/>
              <a:cs typeface="+mn-cs"/>
            </a:endParaRPr>
          </a:p>
          <a:p>
            <a:pPr marL="0" algn="l" rtl="0" eaLnBrk="1" latinLnBrk="0" hangingPunct="1"/>
            <a:r>
              <a:rPr lang="zh-CN" altLang="zh-CN" sz="1800" b="1" kern="1200" dirty="0">
                <a:solidFill>
                  <a:srgbClr val="000000"/>
                </a:solidFill>
                <a:effectLst/>
                <a:latin typeface="等线" panose="02010600030101010101" pitchFamily="2" charset="-122"/>
                <a:ea typeface="等线" panose="02010600030101010101" pitchFamily="2" charset="-122"/>
                <a:cs typeface="+mn-cs"/>
              </a:rPr>
              <a:t>一、 近几年神经网络技术迅猛发展，脑电解码领域，神经网络技术在各个细分领域几乎都取得了比传统方法更优秀的成绩</a:t>
            </a:r>
            <a:r>
              <a:rPr lang="zh-CN" altLang="en-US" sz="1800" b="1" kern="1200" dirty="0">
                <a:solidFill>
                  <a:srgbClr val="000000"/>
                </a:solidFill>
                <a:effectLst/>
                <a:latin typeface="等线" panose="02010600030101010101" pitchFamily="2" charset="-122"/>
                <a:ea typeface="等线" panose="02010600030101010101" pitchFamily="2" charset="-122"/>
                <a:cs typeface="+mn-cs"/>
              </a:rPr>
              <a:t>，这其中就有很多基于自注意力机制的方法</a:t>
            </a:r>
            <a:endParaRPr lang="zh-CN" altLang="zh-CN" b="1" dirty="0">
              <a:effectLst/>
            </a:endParaRPr>
          </a:p>
          <a:p>
            <a:pPr marL="0" algn="l" rtl="0" eaLnBrk="1" latinLnBrk="0" hangingPunct="1"/>
            <a:r>
              <a:rPr lang="zh-CN" altLang="zh-CN" sz="1800" b="1" kern="1200" dirty="0">
                <a:solidFill>
                  <a:srgbClr val="000000"/>
                </a:solidFill>
                <a:effectLst/>
                <a:latin typeface="等线" panose="02010600030101010101" pitchFamily="2" charset="-122"/>
                <a:ea typeface="等线" panose="02010600030101010101" pitchFamily="2" charset="-122"/>
                <a:cs typeface="+mn-cs"/>
              </a:rPr>
              <a:t>二、随着脑电解码技术走出实验室，应用于实际场景中时，小型化和便携性成为关键考量。例如，在机载或车载环境中的认知状态评估设备，往往需适应有限空间并支持移动的场景需求。</a:t>
            </a:r>
            <a:endParaRPr lang="zh-CN" altLang="zh-CN" b="1" dirty="0">
              <a:effectLst/>
            </a:endParaRPr>
          </a:p>
          <a:p>
            <a:pPr marL="0" algn="l" rtl="0" eaLnBrk="1" latinLnBrk="0" hangingPunct="1"/>
            <a:r>
              <a:rPr lang="zh-CN" altLang="zh-CN" sz="1800" b="1" kern="1200" dirty="0">
                <a:solidFill>
                  <a:srgbClr val="000000"/>
                </a:solidFill>
                <a:effectLst/>
                <a:latin typeface="等线" panose="02010600030101010101" pitchFamily="2" charset="-122"/>
                <a:ea typeface="等线" panose="02010600030101010101" pitchFamily="2" charset="-122"/>
                <a:cs typeface="+mn-cs"/>
              </a:rPr>
              <a:t>三、视觉领域、语音识别领域都有相应的神经网络模型有成功且成熟的应用部署方案，例如视觉领域的</a:t>
            </a:r>
            <a:r>
              <a:rPr lang="en-US" altLang="zh-CN" sz="1800" b="1" kern="1200" dirty="0">
                <a:solidFill>
                  <a:srgbClr val="000000"/>
                </a:solidFill>
                <a:effectLst/>
                <a:latin typeface="等线" panose="02010600030101010101" pitchFamily="2" charset="-122"/>
                <a:ea typeface="等线" panose="02010600030101010101" pitchFamily="2" charset="-122"/>
                <a:cs typeface="+mn-cs"/>
              </a:rPr>
              <a:t>yolov5</a:t>
            </a:r>
            <a:r>
              <a:rPr lang="zh-CN" altLang="zh-CN" sz="1800" b="1" kern="1200" dirty="0">
                <a:solidFill>
                  <a:srgbClr val="000000"/>
                </a:solidFill>
                <a:effectLst/>
                <a:latin typeface="等线" panose="02010600030101010101" pitchFamily="2" charset="-122"/>
                <a:ea typeface="等线" panose="02010600030101010101" pitchFamily="2" charset="-122"/>
                <a:cs typeface="+mn-cs"/>
              </a:rPr>
              <a:t>、语音识别领域的</a:t>
            </a:r>
            <a:r>
              <a:rPr lang="en-US" altLang="zh-CN" sz="1800" b="1" kern="1200" dirty="0">
                <a:solidFill>
                  <a:srgbClr val="000000"/>
                </a:solidFill>
                <a:effectLst/>
                <a:latin typeface="等线" panose="02010600030101010101" pitchFamily="2" charset="-122"/>
                <a:ea typeface="等线" panose="02010600030101010101" pitchFamily="2" charset="-122"/>
                <a:cs typeface="+mn-cs"/>
              </a:rPr>
              <a:t>Whisper</a:t>
            </a:r>
            <a:r>
              <a:rPr lang="zh-CN" altLang="zh-CN" sz="1800" b="1" kern="1200" dirty="0">
                <a:solidFill>
                  <a:srgbClr val="000000"/>
                </a:solidFill>
                <a:effectLst/>
                <a:latin typeface="等线" panose="02010600030101010101" pitchFamily="2" charset="-122"/>
                <a:ea typeface="等线" panose="02010600030101010101" pitchFamily="2" charset="-122"/>
                <a:cs typeface="+mn-cs"/>
              </a:rPr>
              <a:t>。这些模型</a:t>
            </a:r>
            <a:r>
              <a:rPr lang="zh-CN" altLang="en-US" sz="1800" b="1" kern="1200" dirty="0">
                <a:solidFill>
                  <a:srgbClr val="000000"/>
                </a:solidFill>
                <a:effectLst/>
                <a:latin typeface="等线" panose="02010600030101010101" pitchFamily="2" charset="-122"/>
                <a:ea typeface="等线" panose="02010600030101010101" pitchFamily="2" charset="-122"/>
                <a:cs typeface="+mn-cs"/>
              </a:rPr>
              <a:t>的部署使得它们</a:t>
            </a:r>
            <a:r>
              <a:rPr lang="zh-CN" altLang="zh-CN" sz="1800" b="1" kern="1200" dirty="0">
                <a:solidFill>
                  <a:srgbClr val="000000"/>
                </a:solidFill>
                <a:effectLst/>
                <a:latin typeface="等线" panose="02010600030101010101" pitchFamily="2" charset="-122"/>
                <a:ea typeface="等线" panose="02010600030101010101" pitchFamily="2" charset="-122"/>
                <a:cs typeface="+mn-cs"/>
              </a:rPr>
              <a:t>人工智能方法转化为具体应用和实质生产力，</a:t>
            </a:r>
            <a:r>
              <a:rPr lang="zh-CN" altLang="zh-CN" sz="1800" b="1" i="0" kern="1200" dirty="0">
                <a:solidFill>
                  <a:srgbClr val="2C2C36"/>
                </a:solidFill>
                <a:effectLst/>
                <a:latin typeface="-apple-system"/>
                <a:ea typeface="等线" panose="02010600030101010101" pitchFamily="2" charset="-122"/>
                <a:cs typeface="+mn-cs"/>
              </a:rPr>
              <a:t>然而，脑电领域在这方面的努力尚显不足。</a:t>
            </a:r>
            <a:endParaRPr lang="zh-CN" altLang="zh-CN" b="1" dirty="0">
              <a:effectLst/>
            </a:endParaRPr>
          </a:p>
          <a:p>
            <a:br>
              <a:rPr lang="en-US" altLang="zh-CN" dirty="0"/>
            </a:br>
            <a:r>
              <a:rPr lang="zh-CN" altLang="en-US" b="1" dirty="0"/>
              <a:t>因此，进行基于脑电解码的硬件系统研究与设计，在理论上可以弥补对于小型硬件平台上实现神经网络脑电解码方法研究的不足，对神经网络脑电解码方法从硬件实现的角度进行研究，也有助于从一个贴合实际的角度探究脑电解码方法的在线问题，</a:t>
            </a:r>
            <a:r>
              <a:rPr lang="zh-CN" altLang="zh-CN" sz="1800" b="1" kern="100" dirty="0">
                <a:effectLst/>
                <a:ea typeface="楷体" panose="02010609060101010101" pitchFamily="49" charset="-122"/>
                <a:cs typeface="Times New Roman" panose="02020603050405020304" pitchFamily="18" charset="0"/>
              </a:rPr>
              <a:t>有益于脑机接口走向具体应用场景</a:t>
            </a:r>
            <a:r>
              <a:rPr lang="zh-CN" altLang="en-US" sz="1800" b="1" kern="100" dirty="0">
                <a:effectLst/>
                <a:ea typeface="楷体" panose="02010609060101010101" pitchFamily="49" charset="-122"/>
                <a:cs typeface="Times New Roman" panose="02020603050405020304" pitchFamily="18" charset="0"/>
              </a:rPr>
              <a:t>。</a:t>
            </a:r>
            <a:endParaRPr lang="zh-CN" altLang="en-US" b="1" dirty="0"/>
          </a:p>
        </p:txBody>
      </p:sp>
      <p:sp>
        <p:nvSpPr>
          <p:cNvPr id="4" name="灯片编号占位符 3">
            <a:extLst>
              <a:ext uri="{FF2B5EF4-FFF2-40B4-BE49-F238E27FC236}">
                <a16:creationId xmlns:a16="http://schemas.microsoft.com/office/drawing/2014/main" id="{17275E3D-9627-65DD-C392-BB48EC3B1D95}"/>
              </a:ext>
            </a:extLst>
          </p:cNvPr>
          <p:cNvSpPr>
            <a:spLocks noGrp="1"/>
          </p:cNvSpPr>
          <p:nvPr>
            <p:ph type="sldNum" sz="quarter" idx="5"/>
          </p:nvPr>
        </p:nvSpPr>
        <p:spPr/>
        <p:txBody>
          <a:bodyPr/>
          <a:lstStyle/>
          <a:p>
            <a:fld id="{D5CE17B9-3885-4DD3-8538-856F6E08ECCA}" type="slidenum">
              <a:rPr lang="zh-CN" altLang="en-US" smtClean="0"/>
              <a:t>3</a:t>
            </a:fld>
            <a:endParaRPr lang="zh-CN" altLang="en-US"/>
          </a:p>
        </p:txBody>
      </p:sp>
    </p:spTree>
    <p:extLst>
      <p:ext uri="{BB962C8B-B14F-4D97-AF65-F5344CB8AC3E}">
        <p14:creationId xmlns:p14="http://schemas.microsoft.com/office/powerpoint/2010/main" val="207064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DC97-5C81-4214-1D43-333E7FA43D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1C0204-DA46-F577-2253-611C3C556F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FCFA02-770D-F49A-D12A-64B1B0697066}"/>
              </a:ext>
            </a:extLst>
          </p:cNvPr>
          <p:cNvSpPr>
            <a:spLocks noGrp="1"/>
          </p:cNvSpPr>
          <p:nvPr>
            <p:ph type="body" idx="1"/>
          </p:nvPr>
        </p:nvSpPr>
        <p:spPr/>
        <p:txBody>
          <a:bodyPr/>
          <a:lstStyle/>
          <a:p>
            <a:r>
              <a:rPr lang="zh-CN" altLang="en-US" dirty="0"/>
              <a:t>自注意力源自于自然语言模型。但却在很短的时间内在视觉、等方面取得了丰富得进展。脑电领域，自注意力机制在运动想象，情绪识别等方面都取得非常不错得成果。</a:t>
            </a:r>
            <a:endParaRPr lang="zh-CN" altLang="en-US" b="1" dirty="0"/>
          </a:p>
        </p:txBody>
      </p:sp>
      <p:sp>
        <p:nvSpPr>
          <p:cNvPr id="4" name="灯片编号占位符 3">
            <a:extLst>
              <a:ext uri="{FF2B5EF4-FFF2-40B4-BE49-F238E27FC236}">
                <a16:creationId xmlns:a16="http://schemas.microsoft.com/office/drawing/2014/main" id="{F9566346-54EB-FCE5-52C5-21962BDF54F9}"/>
              </a:ext>
            </a:extLst>
          </p:cNvPr>
          <p:cNvSpPr>
            <a:spLocks noGrp="1"/>
          </p:cNvSpPr>
          <p:nvPr>
            <p:ph type="sldNum" sz="quarter" idx="5"/>
          </p:nvPr>
        </p:nvSpPr>
        <p:spPr/>
        <p:txBody>
          <a:bodyPr/>
          <a:lstStyle/>
          <a:p>
            <a:fld id="{D5CE17B9-3885-4DD3-8538-856F6E08ECCA}" type="slidenum">
              <a:rPr lang="zh-CN" altLang="en-US" smtClean="0"/>
              <a:t>4</a:t>
            </a:fld>
            <a:endParaRPr lang="zh-CN" altLang="en-US"/>
          </a:p>
        </p:txBody>
      </p:sp>
    </p:spTree>
    <p:extLst>
      <p:ext uri="{BB962C8B-B14F-4D97-AF65-F5344CB8AC3E}">
        <p14:creationId xmlns:p14="http://schemas.microsoft.com/office/powerpoint/2010/main" val="3031260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8E97F-713A-F4CC-DCC5-A0099FBE2D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442435-26D4-89E9-C487-D03BF21694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96F684-5328-DDA7-8209-02C52B404183}"/>
              </a:ext>
            </a:extLst>
          </p:cNvPr>
          <p:cNvSpPr>
            <a:spLocks noGrp="1"/>
          </p:cNvSpPr>
          <p:nvPr>
            <p:ph type="body" idx="1"/>
          </p:nvPr>
        </p:nvSpPr>
        <p:spPr/>
        <p:txBody>
          <a:bodyPr/>
          <a:lstStyle/>
          <a:p>
            <a:r>
              <a:rPr lang="zh-CN" altLang="en-US" b="1" dirty="0"/>
              <a:t>自注意力机制中的</a:t>
            </a:r>
            <a:r>
              <a:rPr lang="en-US" altLang="zh-CN" b="1" dirty="0"/>
              <a:t>Q</a:t>
            </a:r>
            <a:r>
              <a:rPr lang="zh-CN" altLang="en-US" b="1" dirty="0"/>
              <a:t>矩阵和矩阵点乘的过程内在地蕴含了不同向量间地内在关系，</a:t>
            </a:r>
            <a:r>
              <a:rPr lang="zh-CN" altLang="en-US" b="1" i="0" dirty="0">
                <a:solidFill>
                  <a:srgbClr val="2C2C36"/>
                </a:solidFill>
                <a:effectLst/>
                <a:latin typeface="-apple-system"/>
              </a:rPr>
              <a:t>这样的结构使得自注意力机制可以获得全局的信息相互关系，从而增强了其自动提取特征的能力。</a:t>
            </a:r>
            <a:endParaRPr lang="zh-CN" altLang="en-US" b="1" dirty="0"/>
          </a:p>
        </p:txBody>
      </p:sp>
      <p:sp>
        <p:nvSpPr>
          <p:cNvPr id="4" name="灯片编号占位符 3">
            <a:extLst>
              <a:ext uri="{FF2B5EF4-FFF2-40B4-BE49-F238E27FC236}">
                <a16:creationId xmlns:a16="http://schemas.microsoft.com/office/drawing/2014/main" id="{30AF9B39-F2CD-7A33-726B-F6A8C6A15B2E}"/>
              </a:ext>
            </a:extLst>
          </p:cNvPr>
          <p:cNvSpPr>
            <a:spLocks noGrp="1"/>
          </p:cNvSpPr>
          <p:nvPr>
            <p:ph type="sldNum" sz="quarter" idx="5"/>
          </p:nvPr>
        </p:nvSpPr>
        <p:spPr/>
        <p:txBody>
          <a:bodyPr/>
          <a:lstStyle/>
          <a:p>
            <a:fld id="{D5CE17B9-3885-4DD3-8538-856F6E08ECCA}" type="slidenum">
              <a:rPr lang="zh-CN" altLang="en-US" smtClean="0"/>
              <a:t>5</a:t>
            </a:fld>
            <a:endParaRPr lang="zh-CN" altLang="en-US"/>
          </a:p>
        </p:txBody>
      </p:sp>
    </p:spTree>
    <p:extLst>
      <p:ext uri="{BB962C8B-B14F-4D97-AF65-F5344CB8AC3E}">
        <p14:creationId xmlns:p14="http://schemas.microsoft.com/office/powerpoint/2010/main" val="425136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B7FE-93A9-7DBA-49AC-F1E51C17DE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16B8D2-51AF-0D44-71BC-DF4BBFE4B3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4C8559-93DB-3FEA-5451-0B120B85533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C2C36"/>
                </a:solidFill>
                <a:effectLst/>
                <a:latin typeface="-apple-system"/>
              </a:rPr>
              <a:t>尽管我们在脑电解码的网络中所见到的自注意力模块大多数还保持了它们原本的样子，但自注意力机制并不是一成不变的。同为时间序列任务，图中的两个语音识别领域中的模型通过将卷积模块引入自注意力模块内部，创造了一种独特的混合架构。这种设计旨在充分发挥</a:t>
            </a:r>
            <a:r>
              <a:rPr lang="en-US" altLang="zh-CN" b="0" i="0" dirty="0">
                <a:solidFill>
                  <a:srgbClr val="2C2C36"/>
                </a:solidFill>
                <a:effectLst/>
                <a:latin typeface="-apple-system"/>
              </a:rPr>
              <a:t>Transformer</a:t>
            </a:r>
            <a:r>
              <a:rPr lang="zh-CN" altLang="en-US" b="0" i="0" dirty="0">
                <a:solidFill>
                  <a:srgbClr val="2C2C36"/>
                </a:solidFill>
                <a:effectLst/>
                <a:latin typeface="-apple-system"/>
              </a:rPr>
              <a:t>对远程全局上下文建模的优势，同时弥补其在提取细粒度局部特征模式上的不足。具体而言，自注意力机制继续负责学习全局交互，确保模型能够理解序列中不同位置之间的复杂联系；与此同时，卷积层则专注于捕获基于相对偏移的局部相关性，从而增强了对时间序列数据中短程依赖性的理解。这为脑电任务中关于如何进一步改进自注意力机制提供了一些启发。</a:t>
            </a:r>
            <a:endParaRPr lang="en-US" altLang="zh-CN" b="0" i="0" dirty="0">
              <a:solidFill>
                <a:srgbClr val="2C2C36"/>
              </a:solidFill>
              <a:effectLst/>
              <a:latin typeface="-apple-system"/>
            </a:endParaRPr>
          </a:p>
          <a:p>
            <a:r>
              <a:rPr lang="zh-CN" altLang="en-US" dirty="0"/>
              <a:t>。</a:t>
            </a:r>
          </a:p>
        </p:txBody>
      </p:sp>
      <p:sp>
        <p:nvSpPr>
          <p:cNvPr id="4" name="灯片编号占位符 3">
            <a:extLst>
              <a:ext uri="{FF2B5EF4-FFF2-40B4-BE49-F238E27FC236}">
                <a16:creationId xmlns:a16="http://schemas.microsoft.com/office/drawing/2014/main" id="{3E15BA2B-57A4-D696-049B-7EB96CBCD4CD}"/>
              </a:ext>
            </a:extLst>
          </p:cNvPr>
          <p:cNvSpPr>
            <a:spLocks noGrp="1"/>
          </p:cNvSpPr>
          <p:nvPr>
            <p:ph type="sldNum" sz="quarter" idx="5"/>
          </p:nvPr>
        </p:nvSpPr>
        <p:spPr/>
        <p:txBody>
          <a:bodyPr/>
          <a:lstStyle/>
          <a:p>
            <a:fld id="{D5CE17B9-3885-4DD3-8538-856F6E08ECCA}" type="slidenum">
              <a:rPr lang="zh-CN" altLang="en-US" smtClean="0"/>
              <a:t>6</a:t>
            </a:fld>
            <a:endParaRPr lang="zh-CN" altLang="en-US"/>
          </a:p>
        </p:txBody>
      </p:sp>
    </p:spTree>
    <p:extLst>
      <p:ext uri="{BB962C8B-B14F-4D97-AF65-F5344CB8AC3E}">
        <p14:creationId xmlns:p14="http://schemas.microsoft.com/office/powerpoint/2010/main" val="3853997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D332A-7CB4-8CD7-6127-2121CBB01B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4CEEA8-CB5B-F6AD-2E72-51CE5BA597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C83874-551B-643C-73E3-FDED1E664FCF}"/>
              </a:ext>
            </a:extLst>
          </p:cNvPr>
          <p:cNvSpPr>
            <a:spLocks noGrp="1"/>
          </p:cNvSpPr>
          <p:nvPr>
            <p:ph type="body" idx="1"/>
          </p:nvPr>
        </p:nvSpPr>
        <p:spPr/>
        <p:txBody>
          <a:bodyPr/>
          <a:lstStyle/>
          <a:p>
            <a:r>
              <a:rPr lang="zh-CN" altLang="en-US" dirty="0"/>
              <a:t>脑电解码方法的硬件实现方面，从上图这张表格上一些具体案例可以看出，目前大部分脑电解码的硬件实现是基于</a:t>
            </a:r>
            <a:r>
              <a:rPr lang="en-US" altLang="zh-CN" dirty="0"/>
              <a:t>FPGA</a:t>
            </a:r>
            <a:r>
              <a:rPr lang="zh-CN" altLang="en-US" dirty="0"/>
              <a:t>平台的，同时</a:t>
            </a:r>
            <a:r>
              <a:rPr lang="en-US" altLang="zh-CN" dirty="0"/>
              <a:t>FPGA</a:t>
            </a:r>
            <a:r>
              <a:rPr lang="zh-CN" altLang="en-US" dirty="0"/>
              <a:t>平台的实现方法能够在维持准确度的情况下答复加快算法的推理速度。</a:t>
            </a:r>
          </a:p>
        </p:txBody>
      </p:sp>
      <p:sp>
        <p:nvSpPr>
          <p:cNvPr id="4" name="灯片编号占位符 3">
            <a:extLst>
              <a:ext uri="{FF2B5EF4-FFF2-40B4-BE49-F238E27FC236}">
                <a16:creationId xmlns:a16="http://schemas.microsoft.com/office/drawing/2014/main" id="{CC3FB78E-188F-0A92-0B59-2C47E6C49B26}"/>
              </a:ext>
            </a:extLst>
          </p:cNvPr>
          <p:cNvSpPr>
            <a:spLocks noGrp="1"/>
          </p:cNvSpPr>
          <p:nvPr>
            <p:ph type="sldNum" sz="quarter" idx="5"/>
          </p:nvPr>
        </p:nvSpPr>
        <p:spPr/>
        <p:txBody>
          <a:bodyPr/>
          <a:lstStyle/>
          <a:p>
            <a:fld id="{D5CE17B9-3885-4DD3-8538-856F6E08ECCA}" type="slidenum">
              <a:rPr lang="zh-CN" altLang="en-US" smtClean="0"/>
              <a:t>7</a:t>
            </a:fld>
            <a:endParaRPr lang="zh-CN" altLang="en-US"/>
          </a:p>
        </p:txBody>
      </p:sp>
    </p:spTree>
    <p:extLst>
      <p:ext uri="{BB962C8B-B14F-4D97-AF65-F5344CB8AC3E}">
        <p14:creationId xmlns:p14="http://schemas.microsoft.com/office/powerpoint/2010/main" val="572566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5AB70-71A9-AE24-7142-3868BB36C6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85030D-D3E5-C77C-5EC5-57103B6D30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DACC8D-7E0A-8DAF-CC2D-F2D1337A69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B42AD5-A7BB-D036-488C-8009E69FC567}"/>
              </a:ext>
            </a:extLst>
          </p:cNvPr>
          <p:cNvSpPr>
            <a:spLocks noGrp="1"/>
          </p:cNvSpPr>
          <p:nvPr>
            <p:ph type="sldNum" sz="quarter" idx="5"/>
          </p:nvPr>
        </p:nvSpPr>
        <p:spPr/>
        <p:txBody>
          <a:bodyPr/>
          <a:lstStyle/>
          <a:p>
            <a:fld id="{D5CE17B9-3885-4DD3-8538-856F6E08ECCA}" type="slidenum">
              <a:rPr lang="zh-CN" altLang="en-US" smtClean="0"/>
              <a:t>8</a:t>
            </a:fld>
            <a:endParaRPr lang="zh-CN" altLang="en-US"/>
          </a:p>
        </p:txBody>
      </p:sp>
    </p:spTree>
    <p:extLst>
      <p:ext uri="{BB962C8B-B14F-4D97-AF65-F5344CB8AC3E}">
        <p14:creationId xmlns:p14="http://schemas.microsoft.com/office/powerpoint/2010/main" val="4054666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6E82C-2B5B-D810-F8FF-A519AD36B4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1E0DA9-1744-6632-B4B4-47BACDA66A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2B6A9A-D5A5-DB54-DF24-355BE9966ACE}"/>
              </a:ext>
            </a:extLst>
          </p:cNvPr>
          <p:cNvSpPr>
            <a:spLocks noGrp="1"/>
          </p:cNvSpPr>
          <p:nvPr>
            <p:ph type="body" idx="1"/>
          </p:nvPr>
        </p:nvSpPr>
        <p:spPr/>
        <p:txBody>
          <a:bodyPr/>
          <a:lstStyle/>
          <a:p>
            <a:endParaRPr lang="zh-CN" altLang="en-US" sz="2800" dirty="0"/>
          </a:p>
        </p:txBody>
      </p:sp>
      <p:sp>
        <p:nvSpPr>
          <p:cNvPr id="4" name="灯片编号占位符 3">
            <a:extLst>
              <a:ext uri="{FF2B5EF4-FFF2-40B4-BE49-F238E27FC236}">
                <a16:creationId xmlns:a16="http://schemas.microsoft.com/office/drawing/2014/main" id="{A6D10F7F-0EB9-5DBD-940F-37010567C9E4}"/>
              </a:ext>
            </a:extLst>
          </p:cNvPr>
          <p:cNvSpPr>
            <a:spLocks noGrp="1"/>
          </p:cNvSpPr>
          <p:nvPr>
            <p:ph type="sldNum" sz="quarter" idx="5"/>
          </p:nvPr>
        </p:nvSpPr>
        <p:spPr/>
        <p:txBody>
          <a:bodyPr/>
          <a:lstStyle/>
          <a:p>
            <a:fld id="{D5CE17B9-3885-4DD3-8538-856F6E08ECCA}" type="slidenum">
              <a:rPr lang="zh-CN" altLang="en-US" smtClean="0"/>
              <a:t>9</a:t>
            </a:fld>
            <a:endParaRPr lang="zh-CN" altLang="en-US"/>
          </a:p>
        </p:txBody>
      </p:sp>
    </p:spTree>
    <p:extLst>
      <p:ext uri="{BB962C8B-B14F-4D97-AF65-F5344CB8AC3E}">
        <p14:creationId xmlns:p14="http://schemas.microsoft.com/office/powerpoint/2010/main" val="4289469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7AD5A-3158-D9DA-497C-F7C99398A5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2D8BB7-57E2-AA75-80EE-FB82E756C5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2817FC-06D7-08F4-7328-AB80AE61E1C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在先前的验证性实验中，与常规的注意力机制中</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 </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 </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是线性变换的来的不同，这里采用了步幅为</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1</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，内核长度为</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5</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的一维因果卷积，使得生成的</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 </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 </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可以更好地了解局部的上下文信息（如图</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14</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所示）。使用</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MIBCI</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Ⅳ</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a</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的运动想象四分类数据集，将未修改的</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EEG conformer</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模型和改进后的</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EEG conformer</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模型进行对比后发现总体的正确率有略微提升。提示针对</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transformer</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局部特征提取能力增强的改进有一定可行性。后续可围绕这一部分进行更多研究与尝试。</a:t>
            </a:r>
            <a:r>
              <a:rPr lang="zh-CN" altLang="en-US" sz="1800" dirty="0">
                <a:effectLst/>
                <a:latin typeface="Times New Roman" panose="02020603050405020304" pitchFamily="18" charset="0"/>
                <a:ea typeface="楷体" panose="02010609060101010101" pitchFamily="49" charset="-122"/>
                <a:cs typeface="宋体" panose="02010600030101010101" pitchFamily="2" charset="-122"/>
              </a:rPr>
              <a:t>除此之外，也设想借助</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transformer</a:t>
            </a:r>
            <a:r>
              <a:rPr lang="zh-CN" altLang="en-US" sz="1800" dirty="0">
                <a:effectLst/>
                <a:latin typeface="Times New Roman" panose="02020603050405020304" pitchFamily="18" charset="0"/>
                <a:ea typeface="楷体" panose="02010609060101010101" pitchFamily="49" charset="-122"/>
                <a:cs typeface="宋体" panose="02010600030101010101" pitchFamily="2" charset="-122"/>
              </a:rPr>
              <a:t>更强的特征提取和分类能力研究该模型跨多个分类域的二进制运动想象（</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MI</a:t>
            </a:r>
            <a:r>
              <a:rPr lang="zh-CN" altLang="en-US" sz="1800" dirty="0">
                <a:effectLst/>
                <a:latin typeface="Times New Roman" panose="02020603050405020304" pitchFamily="18" charset="0"/>
                <a:ea typeface="楷体" panose="02010609060101010101" pitchFamily="49" charset="-122"/>
                <a:cs typeface="宋体" panose="02010600030101010101" pitchFamily="2" charset="-122"/>
              </a:rPr>
              <a:t>）分类任务甚至是其他心理任务的性能的潜力。</a:t>
            </a:r>
            <a:endParaRPr lang="zh-CN" altLang="zh-CN" sz="1800" dirty="0">
              <a:effectLst/>
              <a:latin typeface="Times New Roman" panose="02020603050405020304" pitchFamily="18" charset="0"/>
              <a:ea typeface="楷体" panose="02010609060101010101" pitchFamily="49" charset="-122"/>
              <a:cs typeface="宋体" panose="02010600030101010101" pitchFamily="2" charset="-122"/>
            </a:endParaRPr>
          </a:p>
          <a:p>
            <a:endParaRPr lang="zh-CN" altLang="en-US" dirty="0"/>
          </a:p>
        </p:txBody>
      </p:sp>
      <p:sp>
        <p:nvSpPr>
          <p:cNvPr id="4" name="灯片编号占位符 3">
            <a:extLst>
              <a:ext uri="{FF2B5EF4-FFF2-40B4-BE49-F238E27FC236}">
                <a16:creationId xmlns:a16="http://schemas.microsoft.com/office/drawing/2014/main" id="{572CCF3D-CF3F-1E2E-32ED-D97A982BEC23}"/>
              </a:ext>
            </a:extLst>
          </p:cNvPr>
          <p:cNvSpPr>
            <a:spLocks noGrp="1"/>
          </p:cNvSpPr>
          <p:nvPr>
            <p:ph type="sldNum" sz="quarter" idx="5"/>
          </p:nvPr>
        </p:nvSpPr>
        <p:spPr/>
        <p:txBody>
          <a:bodyPr/>
          <a:lstStyle/>
          <a:p>
            <a:fld id="{D5CE17B9-3885-4DD3-8538-856F6E08ECCA}" type="slidenum">
              <a:rPr lang="zh-CN" altLang="en-US" smtClean="0"/>
              <a:t>10</a:t>
            </a:fld>
            <a:endParaRPr lang="zh-CN" altLang="en-US"/>
          </a:p>
        </p:txBody>
      </p:sp>
    </p:spTree>
    <p:extLst>
      <p:ext uri="{BB962C8B-B14F-4D97-AF65-F5344CB8AC3E}">
        <p14:creationId xmlns:p14="http://schemas.microsoft.com/office/powerpoint/2010/main" val="2528874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1C974-1E08-B034-5761-6B7778B348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5A9BA1-A3F5-419C-DE80-30F81FB9F5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89EA00-8DE6-64D8-AEB0-87DAF79EC514}"/>
              </a:ext>
            </a:extLst>
          </p:cNvPr>
          <p:cNvSpPr>
            <a:spLocks noGrp="1"/>
          </p:cNvSpPr>
          <p:nvPr>
            <p:ph type="body" idx="1"/>
          </p:nvPr>
        </p:nvSpPr>
        <p:spPr/>
        <p:txBody>
          <a:bodyPr/>
          <a:lstStyle/>
          <a:p>
            <a:pPr marL="0" indent="265176" algn="l" rtl="0" eaLnBrk="1" latinLnBrk="0" hangingPunct="1">
              <a:lnSpc>
                <a:spcPct val="115000"/>
              </a:lnSpc>
            </a:pPr>
            <a:r>
              <a:rPr lang="en-US" altLang="zh-CN" sz="1800" b="1" kern="100" dirty="0">
                <a:solidFill>
                  <a:srgbClr val="000000"/>
                </a:solidFill>
                <a:effectLst/>
                <a:latin typeface="楷体" panose="02010609060101010101" pitchFamily="49" charset="-122"/>
                <a:ea typeface="宋体" panose="02010600030101010101" pitchFamily="2" charset="-122"/>
                <a:cs typeface="+mn-cs"/>
              </a:rPr>
              <a:t>1</a:t>
            </a:r>
            <a:r>
              <a:rPr lang="zh-CN" altLang="zh-CN" sz="1800" b="1" kern="100" dirty="0">
                <a:solidFill>
                  <a:srgbClr val="000000"/>
                </a:solidFill>
                <a:effectLst/>
                <a:latin typeface="楷体" panose="02010609060101010101" pitchFamily="49" charset="-122"/>
                <a:ea typeface="宋体" panose="02010600030101010101" pitchFamily="2" charset="-122"/>
                <a:cs typeface="+mn-cs"/>
              </a:rPr>
              <a:t>）准确性</a:t>
            </a:r>
            <a:endParaRPr lang="zh-CN" altLang="zh-CN" dirty="0">
              <a:effectLst/>
            </a:endParaRPr>
          </a:p>
          <a:p>
            <a:pPr marL="0" indent="265176" algn="l" rtl="0" eaLnBrk="1" latinLnBrk="0" hangingPunct="1">
              <a:lnSpc>
                <a:spcPct val="115000"/>
              </a:lnSpc>
            </a:pP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系统需要确保采集到的脑电信号具有高精度，以支持准确的认知状态评估。这包括选择高精度的模数转换芯片</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ADS1299</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以及选择可以支持神经网络正常推理的处理器选型。</a:t>
            </a:r>
            <a:endParaRPr lang="zh-CN" altLang="zh-CN" dirty="0">
              <a:effectLst/>
            </a:endParaRPr>
          </a:p>
          <a:p>
            <a:pPr marL="0" indent="265176" algn="l" rtl="0" eaLnBrk="1" latinLnBrk="0" hangingPunct="1">
              <a:lnSpc>
                <a:spcPct val="115000"/>
              </a:lnSpc>
            </a:pPr>
            <a:r>
              <a:rPr lang="en-US" altLang="zh-CN" sz="1800" b="1" kern="100" dirty="0">
                <a:solidFill>
                  <a:srgbClr val="000000"/>
                </a:solidFill>
                <a:effectLst/>
                <a:latin typeface="楷体" panose="02010609060101010101" pitchFamily="49" charset="-122"/>
                <a:ea typeface="宋体" panose="02010600030101010101" pitchFamily="2" charset="-122"/>
                <a:cs typeface="+mn-cs"/>
              </a:rPr>
              <a:t>2</a:t>
            </a:r>
            <a:r>
              <a:rPr lang="zh-CN" altLang="zh-CN" sz="1800" b="1" kern="100" dirty="0">
                <a:solidFill>
                  <a:srgbClr val="000000"/>
                </a:solidFill>
                <a:effectLst/>
                <a:latin typeface="楷体" panose="02010609060101010101" pitchFamily="49" charset="-122"/>
                <a:ea typeface="宋体" panose="02010600030101010101" pitchFamily="2" charset="-122"/>
                <a:cs typeface="+mn-cs"/>
              </a:rPr>
              <a:t>）实时性</a:t>
            </a:r>
            <a:endParaRPr lang="zh-CN" altLang="zh-CN" dirty="0">
              <a:effectLst/>
            </a:endParaRPr>
          </a:p>
          <a:p>
            <a:pPr marL="0" indent="265176" algn="l" rtl="0" eaLnBrk="1" latinLnBrk="0" hangingPunct="1">
              <a:lnSpc>
                <a:spcPct val="115000"/>
              </a:lnSpc>
            </a:pP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该系统中，实时性可能的短板在于采集板和算法部署板的板间通信，这里采用</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USART</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串口进行二者的连接，</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USART</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串口波特率设为</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115200</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ADS1299</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的采样率是</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62.5~250Hz</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，采样</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8</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通道</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EEG</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进行输入，每个采样点经过</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24</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位</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ADC</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，波特率为</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115200</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的</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USART</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串口可以支持该脑电信号数据的实时传输。</a:t>
            </a:r>
            <a:endParaRPr lang="zh-CN" altLang="zh-CN" dirty="0">
              <a:effectLst/>
            </a:endParaRPr>
          </a:p>
          <a:p>
            <a:pPr marL="0" indent="265176" algn="l" rtl="0" eaLnBrk="1" latinLnBrk="0" hangingPunct="1">
              <a:lnSpc>
                <a:spcPct val="115000"/>
              </a:lnSpc>
            </a:pPr>
            <a:r>
              <a:rPr lang="en-US" altLang="zh-CN" sz="1800" b="1" kern="100" dirty="0">
                <a:solidFill>
                  <a:srgbClr val="000000"/>
                </a:solidFill>
                <a:effectLst/>
                <a:latin typeface="楷体" panose="02010609060101010101" pitchFamily="49" charset="-122"/>
                <a:ea typeface="宋体" panose="02010600030101010101" pitchFamily="2" charset="-122"/>
                <a:cs typeface="+mn-cs"/>
              </a:rPr>
              <a:t>3</a:t>
            </a:r>
            <a:r>
              <a:rPr lang="zh-CN" altLang="zh-CN" sz="1800" b="1" kern="100" dirty="0">
                <a:solidFill>
                  <a:srgbClr val="000000"/>
                </a:solidFill>
                <a:effectLst/>
                <a:latin typeface="楷体" panose="02010609060101010101" pitchFamily="49" charset="-122"/>
                <a:ea typeface="宋体" panose="02010600030101010101" pitchFamily="2" charset="-122"/>
                <a:cs typeface="+mn-cs"/>
              </a:rPr>
              <a:t>）便携性</a:t>
            </a:r>
            <a:endParaRPr lang="zh-CN" altLang="zh-CN" dirty="0">
              <a:effectLst/>
            </a:endParaRPr>
          </a:p>
          <a:p>
            <a:pPr marL="0" indent="265176" algn="l" rtl="0" eaLnBrk="1" latinLnBrk="0" hangingPunct="1">
              <a:lnSpc>
                <a:spcPct val="115000"/>
              </a:lnSpc>
            </a:pP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系统设计应考虑便携性和小型化，确保设备可以方便地携带和使用。这包括脑电采集板的主控芯片选择低功耗、小型化的</a:t>
            </a:r>
            <a:r>
              <a:rPr lang="en-US" altLang="zh-CN" sz="1800" kern="100" dirty="0">
                <a:solidFill>
                  <a:srgbClr val="000000"/>
                </a:solidFill>
                <a:effectLst/>
                <a:latin typeface="Times New Roman" panose="02020603050405020304" pitchFamily="18" charset="0"/>
                <a:ea typeface="楷体" panose="02010609060101010101" pitchFamily="49" charset="-122"/>
                <a:cs typeface="+mn-cs"/>
              </a:rPr>
              <a:t>ESP32</a:t>
            </a:r>
            <a:r>
              <a:rPr lang="zh-CN" altLang="zh-CN" sz="1800" kern="100" dirty="0">
                <a:solidFill>
                  <a:srgbClr val="000000"/>
                </a:solidFill>
                <a:effectLst/>
                <a:latin typeface="Times New Roman" panose="02020603050405020304" pitchFamily="18" charset="0"/>
                <a:ea typeface="楷体" panose="02010609060101010101" pitchFamily="49" charset="-122"/>
                <a:cs typeface="+mn-cs"/>
              </a:rPr>
              <a:t>芯片。</a:t>
            </a:r>
            <a:endParaRPr lang="zh-CN" altLang="zh-CN" dirty="0">
              <a:effectLst/>
            </a:endParaRPr>
          </a:p>
          <a:p>
            <a:pPr marL="0" indent="265176" algn="l" rtl="0" eaLnBrk="1" latinLnBrk="0" hangingPunct="1">
              <a:lnSpc>
                <a:spcPct val="115000"/>
              </a:lnSpc>
            </a:pPr>
            <a:r>
              <a:rPr lang="en-US" altLang="zh-CN" sz="1800" b="1" kern="100" dirty="0">
                <a:solidFill>
                  <a:srgbClr val="000000"/>
                </a:solidFill>
                <a:effectLst/>
                <a:latin typeface="楷体" panose="02010609060101010101" pitchFamily="49" charset="-122"/>
                <a:ea typeface="宋体" panose="02010600030101010101" pitchFamily="2" charset="-122"/>
                <a:cs typeface="+mn-cs"/>
              </a:rPr>
              <a:t>4</a:t>
            </a:r>
            <a:r>
              <a:rPr lang="zh-CN" altLang="zh-CN" sz="1800" b="1" kern="100" dirty="0">
                <a:solidFill>
                  <a:srgbClr val="000000"/>
                </a:solidFill>
                <a:effectLst/>
                <a:latin typeface="楷体" panose="02010609060101010101" pitchFamily="49" charset="-122"/>
                <a:ea typeface="宋体" panose="02010600030101010101" pitchFamily="2" charset="-122"/>
                <a:cs typeface="+mn-cs"/>
              </a:rPr>
              <a:t>）易用性</a:t>
            </a:r>
            <a:endParaRPr lang="zh-CN" altLang="zh-CN" dirty="0">
              <a:effectLst/>
            </a:endParaRPr>
          </a:p>
          <a:p>
            <a:pPr marL="0" algn="l" rtl="0" eaLnBrk="1" latinLnBrk="0" hangingPunct="1"/>
            <a:r>
              <a:rPr lang="en-US" altLang="zh-CN" sz="1800" kern="100" dirty="0">
                <a:solidFill>
                  <a:srgbClr val="000000"/>
                </a:solidFill>
                <a:effectLst/>
                <a:latin typeface="等线" panose="02010600030101010101" pitchFamily="2" charset="-122"/>
                <a:ea typeface="楷体" panose="02010609060101010101" pitchFamily="49" charset="-122"/>
                <a:cs typeface="Times New Roman" panose="02020603050405020304" pitchFamily="18" charset="0"/>
              </a:rPr>
              <a:t>     </a:t>
            </a:r>
            <a:r>
              <a:rPr lang="zh-CN" altLang="zh-CN" sz="1800" kern="100" dirty="0">
                <a:solidFill>
                  <a:srgbClr val="000000"/>
                </a:solidFill>
                <a:effectLst/>
                <a:latin typeface="等线" panose="02010600030101010101" pitchFamily="2" charset="-122"/>
                <a:ea typeface="楷体" panose="02010609060101010101" pitchFamily="49" charset="-122"/>
                <a:cs typeface="Times New Roman" panose="02020603050405020304" pitchFamily="18" charset="0"/>
              </a:rPr>
              <a:t>系统应具备友好的用户界面和简单的操作流程，使用户能够轻松地进行设置和使用。这包括设计直观的显示屏界面和简洁的操作步骤。</a:t>
            </a:r>
            <a:endParaRPr lang="zh-CN" altLang="zh-CN" dirty="0">
              <a:effectLst/>
            </a:endParaRPr>
          </a:p>
          <a:p>
            <a:endParaRPr lang="zh-CN" altLang="en-US" dirty="0"/>
          </a:p>
        </p:txBody>
      </p:sp>
      <p:sp>
        <p:nvSpPr>
          <p:cNvPr id="4" name="灯片编号占位符 3">
            <a:extLst>
              <a:ext uri="{FF2B5EF4-FFF2-40B4-BE49-F238E27FC236}">
                <a16:creationId xmlns:a16="http://schemas.microsoft.com/office/drawing/2014/main" id="{3D855F18-E68F-CE4A-2483-82E4BE5FC163}"/>
              </a:ext>
            </a:extLst>
          </p:cNvPr>
          <p:cNvSpPr>
            <a:spLocks noGrp="1"/>
          </p:cNvSpPr>
          <p:nvPr>
            <p:ph type="sldNum" sz="quarter" idx="5"/>
          </p:nvPr>
        </p:nvSpPr>
        <p:spPr/>
        <p:txBody>
          <a:bodyPr/>
          <a:lstStyle/>
          <a:p>
            <a:fld id="{D5CE17B9-3885-4DD3-8538-856F6E08ECCA}" type="slidenum">
              <a:rPr lang="zh-CN" altLang="en-US" smtClean="0"/>
              <a:t>11</a:t>
            </a:fld>
            <a:endParaRPr lang="zh-CN" altLang="en-US"/>
          </a:p>
        </p:txBody>
      </p:sp>
    </p:spTree>
    <p:extLst>
      <p:ext uri="{BB962C8B-B14F-4D97-AF65-F5344CB8AC3E}">
        <p14:creationId xmlns:p14="http://schemas.microsoft.com/office/powerpoint/2010/main" val="2629967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35C3B-38DB-0258-C46E-5FBEF03097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1CD252-6945-D36B-81D4-BA9F337185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7482DD-4187-E974-4E4D-644AF7F193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楷体" panose="02010609060101010101" pitchFamily="49" charset="-122"/>
                <a:cs typeface="Times New Roman" panose="02020603050405020304" pitchFamily="18" charset="0"/>
              </a:rPr>
              <a:t>算法的部署过程是一个软硬件协同优化的过程，算法需要进行模型优化，同时也需要依托硬件加速提高计算效率。模型优化包括网络结构调整和模型参数量化。在网络结构上，网络可以使用剪枝和蒸馏等方式实现模型参数量的减少。而在算法硬件加速中更为常见的是模型参数量化。这一方法仅涉及数据的表示，平时计算机上运行的网络参数一般是</a:t>
            </a:r>
            <a:r>
              <a:rPr lang="en-US" altLang="zh-CN" sz="1200" kern="100" dirty="0">
                <a:effectLst/>
                <a:latin typeface="楷体" panose="02010609060101010101" pitchFamily="49" charset="-122"/>
                <a:cs typeface="Times New Roman" panose="02020603050405020304" pitchFamily="18" charset="0"/>
              </a:rPr>
              <a:t>16</a:t>
            </a:r>
            <a:r>
              <a:rPr lang="zh-CN" altLang="en-US" sz="1200" kern="100" dirty="0">
                <a:effectLst/>
                <a:latin typeface="楷体" panose="02010609060101010101" pitchFamily="49" charset="-122"/>
                <a:cs typeface="Times New Roman" panose="02020603050405020304" pitchFamily="18" charset="0"/>
              </a:rPr>
              <a:t>或</a:t>
            </a:r>
            <a:r>
              <a:rPr lang="en-US" altLang="zh-CN" sz="1200" kern="100" dirty="0">
                <a:effectLst/>
                <a:latin typeface="楷体" panose="02010609060101010101" pitchFamily="49" charset="-122"/>
                <a:cs typeface="Times New Roman" panose="02020603050405020304" pitchFamily="18" charset="0"/>
              </a:rPr>
              <a:t>32</a:t>
            </a:r>
            <a:r>
              <a:rPr lang="zh-CN" altLang="en-US" sz="1200" kern="100" dirty="0">
                <a:effectLst/>
                <a:latin typeface="楷体" panose="02010609060101010101" pitchFamily="49" charset="-122"/>
                <a:cs typeface="Times New Roman" panose="02020603050405020304" pitchFamily="18" charset="0"/>
              </a:rPr>
              <a:t>位浮点数，但研究表明将其量化位</a:t>
            </a:r>
            <a:r>
              <a:rPr lang="en-US" altLang="zh-CN" sz="1200" kern="100" dirty="0">
                <a:effectLst/>
                <a:latin typeface="楷体" panose="02010609060101010101" pitchFamily="49" charset="-122"/>
                <a:cs typeface="Times New Roman" panose="02020603050405020304" pitchFamily="18" charset="0"/>
              </a:rPr>
              <a:t>8</a:t>
            </a:r>
            <a:r>
              <a:rPr lang="zh-CN" altLang="en-US" sz="1200" kern="100" dirty="0">
                <a:effectLst/>
                <a:latin typeface="楷体" panose="02010609060101010101" pitchFamily="49" charset="-122"/>
                <a:cs typeface="Times New Roman" panose="02020603050405020304" pitchFamily="18" charset="0"/>
              </a:rPr>
              <a:t>位的定点数不会对模型精度早成明显的降低。这使得参数量化在硬件资源受限的环境下尤为重要。</a:t>
            </a:r>
            <a:endParaRPr lang="zh-CN" altLang="en-US" dirty="0"/>
          </a:p>
        </p:txBody>
      </p:sp>
      <p:sp>
        <p:nvSpPr>
          <p:cNvPr id="4" name="灯片编号占位符 3">
            <a:extLst>
              <a:ext uri="{FF2B5EF4-FFF2-40B4-BE49-F238E27FC236}">
                <a16:creationId xmlns:a16="http://schemas.microsoft.com/office/drawing/2014/main" id="{B8E7C802-B55F-5A17-B72F-8655316C37F5}"/>
              </a:ext>
            </a:extLst>
          </p:cNvPr>
          <p:cNvSpPr>
            <a:spLocks noGrp="1"/>
          </p:cNvSpPr>
          <p:nvPr>
            <p:ph type="sldNum" sz="quarter" idx="5"/>
          </p:nvPr>
        </p:nvSpPr>
        <p:spPr/>
        <p:txBody>
          <a:bodyPr/>
          <a:lstStyle/>
          <a:p>
            <a:fld id="{D5CE17B9-3885-4DD3-8538-856F6E08ECCA}" type="slidenum">
              <a:rPr lang="zh-CN" altLang="en-US" smtClean="0"/>
              <a:t>12</a:t>
            </a:fld>
            <a:endParaRPr lang="zh-CN" altLang="en-US"/>
          </a:p>
        </p:txBody>
      </p:sp>
    </p:spTree>
    <p:extLst>
      <p:ext uri="{BB962C8B-B14F-4D97-AF65-F5344CB8AC3E}">
        <p14:creationId xmlns:p14="http://schemas.microsoft.com/office/powerpoint/2010/main" val="3602783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B7E9-2715-EC07-52A4-3E7E8EA2C7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28D6A5-7562-39AA-93AF-76BD7DC8A2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402E5A-9ED6-96BF-95E9-E923DFFB0713}"/>
              </a:ext>
            </a:extLst>
          </p:cNvPr>
          <p:cNvSpPr>
            <a:spLocks noGrp="1"/>
          </p:cNvSpPr>
          <p:nvPr>
            <p:ph type="body" idx="1"/>
          </p:nvPr>
        </p:nvSpPr>
        <p:spPr/>
        <p:txBody>
          <a:bodyPr/>
          <a:lstStyle/>
          <a:p>
            <a:pPr marL="342900" indent="-342900">
              <a:buFont typeface="Arial" panose="020B0604020202020204" pitchFamily="34" charset="0"/>
              <a:buChar char="•"/>
            </a:pPr>
            <a:r>
              <a:rPr lang="zh-CN" altLang="en-US" dirty="0"/>
              <a:t>参数量化可以进一步分为两种方法，顶点近似和范围近似。其中</a:t>
            </a:r>
            <a:r>
              <a:rPr lang="zh-CN" altLang="en-US" sz="1200" dirty="0">
                <a:latin typeface="微软雅黑" panose="020B0503020204020204" pitchFamily="34" charset="-122"/>
                <a:ea typeface="微软雅黑" panose="020B0503020204020204" pitchFamily="34" charset="-122"/>
              </a:rPr>
              <a:t>定点近似</a:t>
            </a:r>
            <a:r>
              <a:rPr lang="zh-CN" altLang="en-US" sz="1200" b="0" i="0" dirty="0">
                <a:solidFill>
                  <a:srgbClr val="333333"/>
                </a:solidFill>
                <a:effectLst/>
                <a:latin typeface="微软雅黑" panose="020B0503020204020204" pitchFamily="34" charset="-122"/>
                <a:ea typeface="微软雅黑" panose="020B0503020204020204" pitchFamily="34" charset="-122"/>
              </a:rPr>
              <a:t>直接缩小浮点表示中的指数和小数部分的位宽</a:t>
            </a:r>
            <a:endParaRPr lang="en-US" altLang="zh-CN" sz="1200" b="0" i="0" dirty="0">
              <a:solidFill>
                <a:srgbClr val="333333"/>
              </a:solidFill>
              <a:effectLst/>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dirty="0">
                <a:solidFill>
                  <a:srgbClr val="333333"/>
                </a:solidFill>
                <a:latin typeface="微软雅黑" panose="020B0503020204020204" pitchFamily="34" charset="-122"/>
                <a:ea typeface="微软雅黑" panose="020B0503020204020204" pitchFamily="34" charset="-122"/>
              </a:rPr>
              <a:t>实现简单但存在精度损失。</a:t>
            </a:r>
            <a:endParaRPr lang="en-US" altLang="zh-CN" sz="1200" dirty="0">
              <a:solidFill>
                <a:srgbClr val="3333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dirty="0">
                <a:solidFill>
                  <a:srgbClr val="333333"/>
                </a:solidFill>
                <a:latin typeface="微软雅黑" panose="020B0503020204020204" pitchFamily="34" charset="-122"/>
                <a:ea typeface="微软雅黑" panose="020B0503020204020204" pitchFamily="34" charset="-122"/>
              </a:rPr>
              <a:t>范围近似则是在统计量化数据的分布后进行整体的缩放和偏移，这样虽然略复杂，但精度高，而且可以实现反量化。</a:t>
            </a:r>
            <a:endParaRPr lang="zh-CN" altLang="en-US"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D24073F7-0F40-4533-25E2-02D885B8EF1F}"/>
              </a:ext>
            </a:extLst>
          </p:cNvPr>
          <p:cNvSpPr>
            <a:spLocks noGrp="1"/>
          </p:cNvSpPr>
          <p:nvPr>
            <p:ph type="sldNum" sz="quarter" idx="5"/>
          </p:nvPr>
        </p:nvSpPr>
        <p:spPr/>
        <p:txBody>
          <a:bodyPr/>
          <a:lstStyle/>
          <a:p>
            <a:fld id="{D5CE17B9-3885-4DD3-8538-856F6E08ECCA}" type="slidenum">
              <a:rPr lang="zh-CN" altLang="en-US" smtClean="0"/>
              <a:t>13</a:t>
            </a:fld>
            <a:endParaRPr lang="zh-CN" altLang="en-US"/>
          </a:p>
        </p:txBody>
      </p:sp>
    </p:spTree>
    <p:extLst>
      <p:ext uri="{BB962C8B-B14F-4D97-AF65-F5344CB8AC3E}">
        <p14:creationId xmlns:p14="http://schemas.microsoft.com/office/powerpoint/2010/main" val="2561155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a:t>
            </a:r>
            <a:r>
              <a:rPr lang="zh-CN" altLang="en-US" dirty="0"/>
              <a:t>，</a:t>
            </a:r>
            <a:r>
              <a:rPr lang="en-US" altLang="zh-CN" dirty="0"/>
              <a:t>Z</a:t>
            </a:r>
            <a:r>
              <a:rPr lang="zh-CN" altLang="en-US" dirty="0"/>
              <a:t>的含义可以通过右图理解。</a:t>
            </a:r>
            <a:endParaRPr lang="en-US" altLang="zh-CN" dirty="0"/>
          </a:p>
          <a:p>
            <a:r>
              <a:rPr lang="en-US" altLang="zh-CN" dirty="0"/>
              <a:t>S</a:t>
            </a:r>
            <a:r>
              <a:rPr lang="zh-CN" altLang="en-US" dirty="0"/>
              <a:t>是浮点数范围（</a:t>
            </a:r>
            <a:r>
              <a:rPr lang="en-US" altLang="zh-CN" dirty="0" err="1"/>
              <a:t>rmax-rmin</a:t>
            </a:r>
            <a:r>
              <a:rPr lang="zh-CN" altLang="en-US" dirty="0"/>
              <a:t>）比上量化后整型范围（</a:t>
            </a:r>
            <a:r>
              <a:rPr lang="en-US" altLang="zh-CN" dirty="0" err="1"/>
              <a:t>qmax-qmin</a:t>
            </a:r>
            <a:r>
              <a:rPr lang="zh-CN" altLang="en-US" dirty="0"/>
              <a:t>），也就是量化的缩放比例</a:t>
            </a:r>
            <a:endParaRPr lang="en-US" altLang="zh-CN" dirty="0"/>
          </a:p>
          <a:p>
            <a:r>
              <a:rPr lang="en-US" altLang="zh-CN" dirty="0"/>
              <a:t>Z</a:t>
            </a:r>
            <a:r>
              <a:rPr lang="zh-CN" altLang="en-US" dirty="0"/>
              <a:t>是</a:t>
            </a:r>
            <a:r>
              <a:rPr lang="en-US" altLang="zh-CN" dirty="0"/>
              <a:t>zero </a:t>
            </a:r>
            <a:r>
              <a:rPr lang="en-US" altLang="zh-CN" dirty="0" err="1"/>
              <a:t>poiont</a:t>
            </a:r>
            <a:r>
              <a:rPr lang="zh-CN" altLang="en-US" dirty="0"/>
              <a:t>，是浮点数中</a:t>
            </a:r>
            <a:r>
              <a:rPr lang="en-US" altLang="zh-CN" dirty="0"/>
              <a:t>0</a:t>
            </a:r>
            <a:r>
              <a:rPr lang="zh-CN" altLang="en-US" dirty="0"/>
              <a:t>量化后的值，反映了量化后数据的偏移量。</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F2328"/>
                </a:solidFill>
                <a:effectLst/>
                <a:latin typeface="微软雅黑" panose="020B0503020204020204" pitchFamily="34" charset="-122"/>
                <a:ea typeface="微软雅黑" panose="020B0503020204020204" pitchFamily="34" charset="-122"/>
              </a:rPr>
              <a:t>一般来说，线性量化后数据</a:t>
            </a:r>
            <a:r>
              <a:rPr lang="en-US" altLang="zh-CN" b="0" i="0" dirty="0">
                <a:solidFill>
                  <a:srgbClr val="1F2328"/>
                </a:solidFill>
                <a:effectLst/>
                <a:latin typeface="微软雅黑" panose="020B0503020204020204" pitchFamily="34" charset="-122"/>
                <a:ea typeface="微软雅黑" panose="020B0503020204020204" pitchFamily="34" charset="-122"/>
              </a:rPr>
              <a:t>0</a:t>
            </a:r>
            <a:r>
              <a:rPr lang="zh-CN" altLang="en-US" b="0" i="0" dirty="0">
                <a:solidFill>
                  <a:srgbClr val="1F2328"/>
                </a:solidFill>
                <a:effectLst/>
                <a:latin typeface="微软雅黑" panose="020B0503020204020204" pitchFamily="34" charset="-122"/>
                <a:ea typeface="微软雅黑" panose="020B0503020204020204" pitchFamily="34" charset="-122"/>
              </a:rPr>
              <a:t>点发生变化，但参数得当时，分布不会发生太大改变</a:t>
            </a:r>
            <a:r>
              <a:rPr lang="zh-CN" altLang="en-US" dirty="0">
                <a:solidFill>
                  <a:srgbClr val="1F2328"/>
                </a:solidFill>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endParaRPr lang="en-US" altLang="zh-CN" dirty="0"/>
          </a:p>
        </p:txBody>
      </p:sp>
      <p:sp>
        <p:nvSpPr>
          <p:cNvPr id="4" name="灯片编号占位符 3"/>
          <p:cNvSpPr>
            <a:spLocks noGrp="1"/>
          </p:cNvSpPr>
          <p:nvPr>
            <p:ph type="sldNum" sz="quarter" idx="5"/>
          </p:nvPr>
        </p:nvSpPr>
        <p:spPr/>
        <p:txBody>
          <a:bodyPr/>
          <a:lstStyle/>
          <a:p>
            <a:fld id="{D5CE17B9-3885-4DD3-8538-856F6E08ECCA}" type="slidenum">
              <a:rPr lang="zh-CN" altLang="en-US" smtClean="0"/>
              <a:t>14</a:t>
            </a:fld>
            <a:endParaRPr lang="zh-CN" altLang="en-US"/>
          </a:p>
        </p:txBody>
      </p:sp>
    </p:spTree>
    <p:extLst>
      <p:ext uri="{BB962C8B-B14F-4D97-AF65-F5344CB8AC3E}">
        <p14:creationId xmlns:p14="http://schemas.microsoft.com/office/powerpoint/2010/main" val="630130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1EC0-35B5-908C-8FDA-660AB756AB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F5EC6F-F63A-8B5A-D606-829CE26316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DEFD08-11F1-38B5-ED5F-9C7CC05A38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楷体" panose="02010609060101010101" pitchFamily="49" charset="-122"/>
                <a:cs typeface="Times New Roman" panose="02020603050405020304" pitchFamily="18" charset="0"/>
              </a:rPr>
              <a:t>有了算法和硬件平台，接下来考虑的就是网络的部署和加速。</a:t>
            </a:r>
            <a:r>
              <a:rPr lang="en-US" altLang="zh-CN" sz="1200" kern="100" dirty="0">
                <a:effectLst/>
                <a:latin typeface="楷体" panose="02010609060101010101" pitchFamily="49" charset="-122"/>
                <a:cs typeface="Times New Roman" panose="02020603050405020304" pitchFamily="18" charset="0"/>
              </a:rPr>
              <a:t>RKNPU</a:t>
            </a:r>
            <a:r>
              <a:rPr lang="zh-CN" altLang="en-US" sz="1200" kern="100" dirty="0">
                <a:effectLst/>
                <a:latin typeface="楷体" panose="02010609060101010101" pitchFamily="49" charset="-122"/>
                <a:cs typeface="Times New Roman" panose="02020603050405020304" pitchFamily="18" charset="0"/>
              </a:rPr>
              <a:t>完整开发流程如上图所示，</a:t>
            </a:r>
            <a:br>
              <a:rPr lang="zh-CN" altLang="en-US" dirty="0"/>
            </a:br>
            <a:r>
              <a:rPr lang="zh-CN" altLang="en-US" b="0" i="0" dirty="0">
                <a:solidFill>
                  <a:srgbClr val="333333"/>
                </a:solidFill>
                <a:effectLst/>
                <a:latin typeface="微软雅黑" panose="020B0503020204020204" pitchFamily="34" charset="-122"/>
                <a:ea typeface="微软雅黑" panose="020B0503020204020204" pitchFamily="34" charset="-122"/>
              </a:rPr>
              <a:t>在模型训练阶段，用户根据需求和实际情况选择合适的框架（如</a:t>
            </a:r>
            <a:r>
              <a:rPr lang="en-US" altLang="zh-CN" b="0" i="0" dirty="0">
                <a:solidFill>
                  <a:srgbClr val="333333"/>
                </a:solidFill>
                <a:effectLst/>
                <a:latin typeface="微软雅黑" panose="020B0503020204020204" pitchFamily="34" charset="-122"/>
                <a:ea typeface="微软雅黑" panose="020B0503020204020204" pitchFamily="34" charset="-122"/>
              </a:rPr>
              <a:t>Caffe</a:t>
            </a:r>
            <a:r>
              <a:rPr lang="zh-CN" altLang="en-US" b="0" i="0" dirty="0">
                <a:solidFill>
                  <a:srgbClr val="333333"/>
                </a:solidFill>
                <a:effectLst/>
                <a:latin typeface="微软雅黑" panose="020B0503020204020204" pitchFamily="34" charset="-122"/>
                <a:ea typeface="微软雅黑" panose="020B0503020204020204" pitchFamily="34" charset="-122"/>
              </a:rPr>
              <a:t>、</a:t>
            </a:r>
            <a:r>
              <a:rPr lang="en-US" altLang="zh-CN" b="0" i="0" dirty="0">
                <a:solidFill>
                  <a:srgbClr val="333333"/>
                </a:solidFill>
                <a:effectLst/>
                <a:latin typeface="微软雅黑" panose="020B0503020204020204" pitchFamily="34" charset="-122"/>
                <a:ea typeface="微软雅黑" panose="020B0503020204020204" pitchFamily="34" charset="-122"/>
              </a:rPr>
              <a:t>TensorFlow</a:t>
            </a:r>
            <a:r>
              <a:rPr lang="zh-CN" altLang="en-US" b="0" i="0" dirty="0">
                <a:solidFill>
                  <a:srgbClr val="333333"/>
                </a:solidFill>
                <a:effectLst/>
                <a:latin typeface="微软雅黑" panose="020B0503020204020204" pitchFamily="34" charset="-122"/>
                <a:ea typeface="微软雅黑" panose="020B0503020204020204" pitchFamily="34" charset="-122"/>
              </a:rPr>
              <a:t>等）进行训练得到符合需求的模型。也可直接使用已经训练好的模型。</a:t>
            </a:r>
            <a:br>
              <a:rPr lang="zh-CN" altLang="en-US" dirty="0"/>
            </a:br>
            <a:r>
              <a:rPr lang="zh-CN" altLang="en-US" b="0" i="0" dirty="0">
                <a:solidFill>
                  <a:srgbClr val="333333"/>
                </a:solidFill>
                <a:effectLst/>
                <a:latin typeface="微软雅黑" panose="020B0503020204020204" pitchFamily="34" charset="-122"/>
                <a:ea typeface="微软雅黑" panose="020B0503020204020204" pitchFamily="34" charset="-122"/>
              </a:rPr>
              <a:t>模型转换</a:t>
            </a:r>
            <a:br>
              <a:rPr lang="zh-CN" altLang="en-US" dirty="0"/>
            </a:br>
            <a:r>
              <a:rPr lang="zh-CN" altLang="en-US" b="0" i="0" dirty="0">
                <a:solidFill>
                  <a:srgbClr val="333333"/>
                </a:solidFill>
                <a:effectLst/>
                <a:latin typeface="微软雅黑" panose="020B0503020204020204" pitchFamily="34" charset="-122"/>
                <a:ea typeface="微软雅黑" panose="020B0503020204020204" pitchFamily="34" charset="-122"/>
              </a:rPr>
              <a:t>此阶段为通过</a:t>
            </a:r>
            <a:r>
              <a:rPr lang="en-US" altLang="zh-CN" b="0" i="0" dirty="0">
                <a:solidFill>
                  <a:srgbClr val="333333"/>
                </a:solidFill>
                <a:effectLst/>
                <a:latin typeface="微软雅黑" panose="020B0503020204020204" pitchFamily="34" charset="-122"/>
                <a:ea typeface="微软雅黑" panose="020B0503020204020204" pitchFamily="34" charset="-122"/>
              </a:rPr>
              <a:t>RKNN Toolkit</a:t>
            </a:r>
            <a:r>
              <a:rPr lang="zh-CN" altLang="en-US" b="0" i="0" dirty="0">
                <a:solidFill>
                  <a:srgbClr val="333333"/>
                </a:solidFill>
                <a:effectLst/>
                <a:latin typeface="微软雅黑" panose="020B0503020204020204" pitchFamily="34" charset="-122"/>
                <a:ea typeface="微软雅黑" panose="020B0503020204020204" pitchFamily="34" charset="-122"/>
              </a:rPr>
              <a:t>把模型训练中得到的模型转换为</a:t>
            </a:r>
            <a:r>
              <a:rPr lang="en-US" altLang="zh-CN" b="0" i="0" dirty="0">
                <a:solidFill>
                  <a:srgbClr val="333333"/>
                </a:solidFill>
                <a:effectLst/>
                <a:latin typeface="微软雅黑" panose="020B0503020204020204" pitchFamily="34" charset="-122"/>
                <a:ea typeface="微软雅黑" panose="020B0503020204020204" pitchFamily="34" charset="-122"/>
              </a:rPr>
              <a:t>NPU</a:t>
            </a:r>
            <a:r>
              <a:rPr lang="zh-CN" altLang="en-US" b="0" i="0" dirty="0">
                <a:solidFill>
                  <a:srgbClr val="333333"/>
                </a:solidFill>
                <a:effectLst/>
                <a:latin typeface="微软雅黑" panose="020B0503020204020204" pitchFamily="34" charset="-122"/>
                <a:ea typeface="微软雅黑" panose="020B0503020204020204" pitchFamily="34" charset="-122"/>
              </a:rPr>
              <a:t>可用的模型。</a:t>
            </a:r>
            <a:br>
              <a:rPr lang="zh-CN" altLang="en-US" dirty="0"/>
            </a:br>
            <a:r>
              <a:rPr lang="zh-CN" altLang="en-US" b="0" i="0" dirty="0">
                <a:solidFill>
                  <a:srgbClr val="333333"/>
                </a:solidFill>
                <a:effectLst/>
                <a:latin typeface="微软雅黑" panose="020B0503020204020204" pitchFamily="34" charset="-122"/>
                <a:ea typeface="微软雅黑" panose="020B0503020204020204" pitchFamily="34" charset="-122"/>
              </a:rPr>
              <a:t>程序开发</a:t>
            </a:r>
            <a:br>
              <a:rPr lang="zh-CN" altLang="en-US" dirty="0"/>
            </a:br>
            <a:r>
              <a:rPr lang="zh-CN" altLang="en-US" b="0" i="0" dirty="0">
                <a:solidFill>
                  <a:srgbClr val="333333"/>
                </a:solidFill>
                <a:effectLst/>
                <a:latin typeface="微软雅黑" panose="020B0503020204020204" pitchFamily="34" charset="-122"/>
                <a:ea typeface="微软雅黑" panose="020B0503020204020204" pitchFamily="34" charset="-122"/>
              </a:rPr>
              <a:t>最后阶段为基于</a:t>
            </a:r>
            <a:r>
              <a:rPr lang="en-US" altLang="zh-CN" b="0" i="0" dirty="0">
                <a:solidFill>
                  <a:srgbClr val="333333"/>
                </a:solidFill>
                <a:effectLst/>
                <a:latin typeface="微软雅黑" panose="020B0503020204020204" pitchFamily="34" charset="-122"/>
                <a:ea typeface="微软雅黑" panose="020B0503020204020204" pitchFamily="34" charset="-122"/>
              </a:rPr>
              <a:t>RKNN API</a:t>
            </a:r>
            <a:r>
              <a:rPr lang="zh-CN" altLang="en-US" b="0" i="0" dirty="0">
                <a:solidFill>
                  <a:srgbClr val="333333"/>
                </a:solidFill>
                <a:effectLst/>
                <a:latin typeface="微软雅黑" panose="020B0503020204020204" pitchFamily="34" charset="-122"/>
                <a:ea typeface="微软雅黑" panose="020B0503020204020204" pitchFamily="34" charset="-122"/>
              </a:rPr>
              <a:t>或</a:t>
            </a:r>
            <a:r>
              <a:rPr lang="en-US" altLang="zh-CN" b="0" i="0" dirty="0">
                <a:solidFill>
                  <a:srgbClr val="333333"/>
                </a:solidFill>
                <a:effectLst/>
                <a:latin typeface="微软雅黑" panose="020B0503020204020204" pitchFamily="34" charset="-122"/>
                <a:ea typeface="微软雅黑" panose="020B0503020204020204" pitchFamily="34" charset="-122"/>
              </a:rPr>
              <a:t>RKNN </a:t>
            </a:r>
            <a:r>
              <a:rPr lang="en-US" altLang="zh-CN" b="0" i="0" dirty="0" err="1">
                <a:solidFill>
                  <a:srgbClr val="333333"/>
                </a:solidFill>
                <a:effectLst/>
                <a:latin typeface="微软雅黑" panose="020B0503020204020204" pitchFamily="34" charset="-122"/>
                <a:ea typeface="微软雅黑" panose="020B0503020204020204" pitchFamily="34" charset="-122"/>
              </a:rPr>
              <a:t>Tookit</a:t>
            </a:r>
            <a:r>
              <a:rPr lang="zh-CN" altLang="en-US" b="0" i="0" dirty="0">
                <a:solidFill>
                  <a:srgbClr val="333333"/>
                </a:solidFill>
                <a:effectLst/>
                <a:latin typeface="微软雅黑" panose="020B0503020204020204" pitchFamily="34" charset="-122"/>
                <a:ea typeface="微软雅黑" panose="020B0503020204020204" pitchFamily="34" charset="-122"/>
              </a:rPr>
              <a:t>的</a:t>
            </a:r>
            <a:r>
              <a:rPr lang="en-US" altLang="zh-CN" b="0" i="0" dirty="0">
                <a:solidFill>
                  <a:srgbClr val="333333"/>
                </a:solidFill>
                <a:effectLst/>
                <a:latin typeface="微软雅黑" panose="020B0503020204020204" pitchFamily="34" charset="-122"/>
                <a:ea typeface="微软雅黑" panose="020B0503020204020204" pitchFamily="34" charset="-122"/>
              </a:rPr>
              <a:t>Python API</a:t>
            </a:r>
            <a:r>
              <a:rPr lang="zh-CN" altLang="en-US" b="0" i="0" dirty="0">
                <a:solidFill>
                  <a:srgbClr val="333333"/>
                </a:solidFill>
                <a:effectLst/>
                <a:latin typeface="微软雅黑" panose="020B0503020204020204" pitchFamily="34" charset="-122"/>
                <a:ea typeface="微软雅黑" panose="020B0503020204020204" pitchFamily="34" charset="-122"/>
              </a:rPr>
              <a:t>开发程序实现业务逻辑。</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err="1">
                <a:solidFill>
                  <a:srgbClr val="333333"/>
                </a:solidFill>
                <a:effectLst/>
                <a:latin typeface="微软雅黑" panose="020B0503020204020204" pitchFamily="34" charset="-122"/>
                <a:ea typeface="微软雅黑" panose="020B0503020204020204" pitchFamily="34" charset="-122"/>
              </a:rPr>
              <a:t>Rknn</a:t>
            </a:r>
            <a:r>
              <a:rPr lang="zh-CN" altLang="en-US" b="0" i="0" dirty="0">
                <a:solidFill>
                  <a:srgbClr val="333333"/>
                </a:solidFill>
                <a:effectLst/>
                <a:latin typeface="微软雅黑" panose="020B0503020204020204" pitchFamily="34" charset="-122"/>
                <a:ea typeface="微软雅黑" panose="020B0503020204020204" pitchFamily="34" charset="-122"/>
              </a:rPr>
              <a:t>对网络的优化受限于</a:t>
            </a:r>
            <a:r>
              <a:rPr lang="en-US" altLang="zh-CN" b="0" i="0" dirty="0">
                <a:solidFill>
                  <a:srgbClr val="333333"/>
                </a:solidFill>
                <a:effectLst/>
                <a:latin typeface="微软雅黑" panose="020B0503020204020204" pitchFamily="34" charset="-122"/>
                <a:ea typeface="微软雅黑" panose="020B0503020204020204" pitchFamily="34" charset="-122"/>
              </a:rPr>
              <a:t>NPU</a:t>
            </a:r>
            <a:r>
              <a:rPr lang="zh-CN" altLang="en-US" b="0" i="0" dirty="0">
                <a:solidFill>
                  <a:srgbClr val="333333"/>
                </a:solidFill>
                <a:effectLst/>
                <a:latin typeface="微软雅黑" panose="020B0503020204020204" pitchFamily="34" charset="-122"/>
                <a:ea typeface="微软雅黑" panose="020B0503020204020204" pitchFamily="34" charset="-122"/>
              </a:rPr>
              <a:t>所支持的算子。模型中有</a:t>
            </a:r>
            <a:r>
              <a:rPr lang="en-US" altLang="zh-CN" b="0" i="0" dirty="0">
                <a:solidFill>
                  <a:srgbClr val="333333"/>
                </a:solidFill>
                <a:effectLst/>
                <a:latin typeface="微软雅黑" panose="020B0503020204020204" pitchFamily="34" charset="-122"/>
                <a:ea typeface="微软雅黑" panose="020B0503020204020204" pitchFamily="34" charset="-122"/>
              </a:rPr>
              <a:t>NPU</a:t>
            </a:r>
            <a:r>
              <a:rPr lang="zh-CN" altLang="en-US" b="0" i="0" dirty="0">
                <a:solidFill>
                  <a:srgbClr val="333333"/>
                </a:solidFill>
                <a:effectLst/>
                <a:latin typeface="微软雅黑" panose="020B0503020204020204" pitchFamily="34" charset="-122"/>
                <a:ea typeface="微软雅黑" panose="020B0503020204020204" pitchFamily="34" charset="-122"/>
              </a:rPr>
              <a:t>不支持的算子，或是算子大小不符合要求均会导致性能的下降。</a:t>
            </a:r>
            <a:endParaRPr lang="zh-CN" altLang="en-US" dirty="0"/>
          </a:p>
        </p:txBody>
      </p:sp>
      <p:sp>
        <p:nvSpPr>
          <p:cNvPr id="4" name="灯片编号占位符 3">
            <a:extLst>
              <a:ext uri="{FF2B5EF4-FFF2-40B4-BE49-F238E27FC236}">
                <a16:creationId xmlns:a16="http://schemas.microsoft.com/office/drawing/2014/main" id="{8CA0BE03-1940-F67D-481E-FF42E36F8094}"/>
              </a:ext>
            </a:extLst>
          </p:cNvPr>
          <p:cNvSpPr>
            <a:spLocks noGrp="1"/>
          </p:cNvSpPr>
          <p:nvPr>
            <p:ph type="sldNum" sz="quarter" idx="5"/>
          </p:nvPr>
        </p:nvSpPr>
        <p:spPr/>
        <p:txBody>
          <a:bodyPr/>
          <a:lstStyle/>
          <a:p>
            <a:fld id="{D5CE17B9-3885-4DD3-8538-856F6E08ECCA}" type="slidenum">
              <a:rPr lang="zh-CN" altLang="en-US" smtClean="0"/>
              <a:t>15</a:t>
            </a:fld>
            <a:endParaRPr lang="zh-CN" altLang="en-US"/>
          </a:p>
        </p:txBody>
      </p:sp>
    </p:spTree>
    <p:extLst>
      <p:ext uri="{BB962C8B-B14F-4D97-AF65-F5344CB8AC3E}">
        <p14:creationId xmlns:p14="http://schemas.microsoft.com/office/powerpoint/2010/main" val="481579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1BA8A-4A43-7A45-5C6F-C0B4DB16AA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1DFE52-2365-ADB7-D149-35D7B1BACC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42D614-075D-1591-8894-C5E18A711A24}"/>
              </a:ext>
            </a:extLst>
          </p:cNvPr>
          <p:cNvSpPr>
            <a:spLocks noGrp="1"/>
          </p:cNvSpPr>
          <p:nvPr>
            <p:ph type="body" idx="1"/>
          </p:nvPr>
        </p:nvSpPr>
        <p:spPr/>
        <p:txBody>
          <a:bodyPr/>
          <a:lstStyle/>
          <a:p>
            <a:r>
              <a:rPr lang="zh-CN" altLang="en-US" dirty="0"/>
              <a:t>这是一个简单的系统框架图，数据流：</a:t>
            </a:r>
            <a:r>
              <a:rPr lang="en-US" altLang="zh-CN" dirty="0"/>
              <a:t>PS</a:t>
            </a:r>
            <a:r>
              <a:rPr lang="zh-CN" altLang="en-US" dirty="0"/>
              <a:t>到</a:t>
            </a:r>
            <a:r>
              <a:rPr lang="en-US" altLang="zh-CN" dirty="0"/>
              <a:t>PL</a:t>
            </a:r>
            <a:r>
              <a:rPr lang="zh-CN" altLang="en-US" dirty="0"/>
              <a:t>端的是输入的数据和输入的权重。</a:t>
            </a:r>
            <a:r>
              <a:rPr lang="en-US" altLang="zh-CN" dirty="0"/>
              <a:t>PL</a:t>
            </a:r>
            <a:r>
              <a:rPr lang="zh-CN" altLang="en-US" dirty="0"/>
              <a:t>像</a:t>
            </a:r>
            <a:r>
              <a:rPr lang="en-US" altLang="zh-CN" dirty="0"/>
              <a:t>PS</a:t>
            </a:r>
            <a:r>
              <a:rPr lang="zh-CN" altLang="en-US" dirty="0"/>
              <a:t>的是输出的数据。</a:t>
            </a:r>
            <a:endParaRPr lang="en-US" altLang="zh-CN" dirty="0"/>
          </a:p>
          <a:p>
            <a:r>
              <a:rPr lang="zh-CN" altLang="en-US" dirty="0"/>
              <a:t>并不是简单的并行化，将所有数据都并行化的想法。</a:t>
            </a:r>
            <a:endParaRPr lang="en-US" altLang="zh-CN" dirty="0"/>
          </a:p>
          <a:p>
            <a:pPr algn="l" fontAlgn="t">
              <a:buFont typeface="Arial" panose="020B0604020202020204" pitchFamily="34" charset="0"/>
              <a:buChar char="•"/>
            </a:pPr>
            <a:r>
              <a:rPr lang="zh-CN" altLang="en-US" b="1" i="0" dirty="0">
                <a:solidFill>
                  <a:srgbClr val="2C2C36"/>
                </a:solidFill>
                <a:effectLst/>
                <a:latin typeface="-apple-system"/>
              </a:rPr>
              <a:t>有限的片上存储</a:t>
            </a:r>
            <a:r>
              <a:rPr lang="zh-CN" altLang="en-US" b="0" i="0" dirty="0">
                <a:solidFill>
                  <a:srgbClr val="2C2C36"/>
                </a:solidFill>
                <a:effectLst/>
                <a:latin typeface="-apple-system"/>
              </a:rPr>
              <a:t>：</a:t>
            </a:r>
            <a:r>
              <a:rPr lang="en-US" altLang="zh-CN" b="0" i="0" dirty="0">
                <a:solidFill>
                  <a:srgbClr val="2C2C36"/>
                </a:solidFill>
                <a:effectLst/>
                <a:latin typeface="-apple-system"/>
              </a:rPr>
              <a:t>Zynq</a:t>
            </a:r>
            <a:r>
              <a:rPr lang="zh-CN" altLang="en-US" b="0" i="0" dirty="0">
                <a:solidFill>
                  <a:srgbClr val="2C2C36"/>
                </a:solidFill>
                <a:effectLst/>
                <a:latin typeface="-apple-system"/>
              </a:rPr>
              <a:t>的</a:t>
            </a:r>
            <a:r>
              <a:rPr lang="en-US" altLang="zh-CN" b="0" i="0" dirty="0">
                <a:solidFill>
                  <a:srgbClr val="2C2C36"/>
                </a:solidFill>
                <a:effectLst/>
                <a:latin typeface="-apple-system"/>
              </a:rPr>
              <a:t>PL</a:t>
            </a:r>
            <a:r>
              <a:rPr lang="zh-CN" altLang="en-US" b="0" i="0" dirty="0">
                <a:solidFill>
                  <a:srgbClr val="2C2C36"/>
                </a:solidFill>
                <a:effectLst/>
                <a:latin typeface="-apple-system"/>
              </a:rPr>
              <a:t>部分拥有有限的高速缓存（如</a:t>
            </a:r>
            <a:r>
              <a:rPr lang="en-US" altLang="zh-CN" b="0" i="0" dirty="0" err="1">
                <a:solidFill>
                  <a:srgbClr val="2C2C36"/>
                </a:solidFill>
                <a:effectLst/>
                <a:latin typeface="-apple-system"/>
              </a:rPr>
              <a:t>BlockRAM</a:t>
            </a:r>
            <a:r>
              <a:rPr lang="zh-CN" altLang="en-US" b="0" i="0" dirty="0">
                <a:solidFill>
                  <a:srgbClr val="2C2C36"/>
                </a:solidFill>
                <a:effectLst/>
                <a:latin typeface="-apple-system"/>
              </a:rPr>
              <a:t>）。如果完全并行化处理大量数据，会迅速耗尽这些宝贵的存储资源。因此，需要通过串行化某些操作来减少同时加载的数据量，确保关键数据能够驻留在快速存储器中。</a:t>
            </a:r>
          </a:p>
          <a:p>
            <a:pPr algn="l" fontAlgn="t">
              <a:buFont typeface="Arial" panose="020B0604020202020204" pitchFamily="34" charset="0"/>
              <a:buChar char="•"/>
            </a:pPr>
            <a:r>
              <a:rPr lang="zh-CN" altLang="en-US" b="1" i="0" dirty="0">
                <a:solidFill>
                  <a:srgbClr val="2C2C36"/>
                </a:solidFill>
                <a:effectLst/>
                <a:latin typeface="-apple-system"/>
              </a:rPr>
              <a:t>外部存储延迟</a:t>
            </a:r>
            <a:r>
              <a:rPr lang="zh-CN" altLang="en-US" b="0" i="0" dirty="0">
                <a:solidFill>
                  <a:srgbClr val="2C2C36"/>
                </a:solidFill>
                <a:effectLst/>
                <a:latin typeface="-apple-system"/>
              </a:rPr>
              <a:t>：当需要访问外部</a:t>
            </a:r>
            <a:r>
              <a:rPr lang="en-US" altLang="zh-CN" b="0" i="0" dirty="0">
                <a:solidFill>
                  <a:srgbClr val="2C2C36"/>
                </a:solidFill>
                <a:effectLst/>
                <a:latin typeface="-apple-system"/>
              </a:rPr>
              <a:t>DDR</a:t>
            </a:r>
            <a:r>
              <a:rPr lang="zh-CN" altLang="en-US" b="0" i="0" dirty="0">
                <a:solidFill>
                  <a:srgbClr val="2C2C36"/>
                </a:solidFill>
                <a:effectLst/>
                <a:latin typeface="-apple-system"/>
              </a:rPr>
              <a:t>内存时，存在显著的延迟问题。完全并行化的架构会导致频繁且大量的外部存储访问，从而成为性能瓶颈。采用串并行结合的方式可以优化数据流，使得一次只加载必要的数据块，减少了对外部存储的依赖。</a:t>
            </a:r>
          </a:p>
          <a:p>
            <a:pPr algn="l"/>
            <a:r>
              <a:rPr lang="en-US" altLang="zh-CN" b="1" i="0" dirty="0">
                <a:solidFill>
                  <a:srgbClr val="2C2C36"/>
                </a:solidFill>
                <a:effectLst/>
                <a:latin typeface="-apple-system"/>
              </a:rPr>
              <a:t>2. </a:t>
            </a:r>
            <a:r>
              <a:rPr lang="zh-CN" altLang="en-US" b="1" i="0" dirty="0">
                <a:solidFill>
                  <a:srgbClr val="2C2C36"/>
                </a:solidFill>
                <a:effectLst/>
                <a:latin typeface="-apple-system"/>
              </a:rPr>
              <a:t>数据传输速率</a:t>
            </a:r>
          </a:p>
          <a:p>
            <a:pPr algn="l" fontAlgn="t">
              <a:buFont typeface="Arial" panose="020B0604020202020204" pitchFamily="34" charset="0"/>
              <a:buChar char="•"/>
            </a:pPr>
            <a:r>
              <a:rPr lang="zh-CN" altLang="en-US" b="1" i="0" dirty="0">
                <a:solidFill>
                  <a:srgbClr val="2C2C36"/>
                </a:solidFill>
                <a:effectLst/>
                <a:latin typeface="-apple-system"/>
              </a:rPr>
              <a:t>带宽瓶颈</a:t>
            </a:r>
            <a:r>
              <a:rPr lang="zh-CN" altLang="en-US" b="0" i="0" dirty="0">
                <a:solidFill>
                  <a:srgbClr val="2C2C36"/>
                </a:solidFill>
                <a:effectLst/>
                <a:latin typeface="-apple-system"/>
              </a:rPr>
              <a:t>：即使使用高带宽接口（如</a:t>
            </a:r>
            <a:r>
              <a:rPr lang="en-US" altLang="zh-CN" b="0" i="0" dirty="0">
                <a:solidFill>
                  <a:srgbClr val="2C2C36"/>
                </a:solidFill>
                <a:effectLst/>
                <a:latin typeface="-apple-system"/>
              </a:rPr>
              <a:t>AXI</a:t>
            </a:r>
            <a:r>
              <a:rPr lang="zh-CN" altLang="en-US" b="0" i="0" dirty="0">
                <a:solidFill>
                  <a:srgbClr val="2C2C36"/>
                </a:solidFill>
                <a:effectLst/>
                <a:latin typeface="-apple-system"/>
              </a:rPr>
              <a:t>总线），从外部存储到</a:t>
            </a:r>
            <a:r>
              <a:rPr lang="en-US" altLang="zh-CN" b="0" i="0" dirty="0">
                <a:solidFill>
                  <a:srgbClr val="2C2C36"/>
                </a:solidFill>
                <a:effectLst/>
                <a:latin typeface="-apple-system"/>
              </a:rPr>
              <a:t>PL</a:t>
            </a:r>
            <a:r>
              <a:rPr lang="zh-CN" altLang="en-US" b="0" i="0" dirty="0">
                <a:solidFill>
                  <a:srgbClr val="2C2C36"/>
                </a:solidFill>
                <a:effectLst/>
                <a:latin typeface="-apple-system"/>
              </a:rPr>
              <a:t>的数据传输速率仍然受限于物理连接的速度。完全并行化意味着更高的带宽需求，可能导致实际传输速率跟不上计算单元的需求，造成闲置等待时间增加。</a:t>
            </a:r>
          </a:p>
          <a:p>
            <a:endParaRPr lang="en-US" altLang="zh-CN" dirty="0"/>
          </a:p>
          <a:p>
            <a:endParaRPr lang="en-US" altLang="zh-CN" dirty="0"/>
          </a:p>
          <a:p>
            <a:r>
              <a:rPr lang="zh-CN" altLang="en-US" dirty="0"/>
              <a:t>重点关注三种不同类型的存储器，首先是</a:t>
            </a:r>
            <a:r>
              <a:rPr lang="en-US" altLang="zh-CN" dirty="0"/>
              <a:t>DDR</a:t>
            </a:r>
            <a:r>
              <a:rPr lang="zh-CN" altLang="en-US" dirty="0"/>
              <a:t>外部存储器和</a:t>
            </a:r>
            <a:r>
              <a:rPr lang="en-US" altLang="zh-CN" dirty="0" err="1"/>
              <a:t>BlockRam</a:t>
            </a:r>
            <a:r>
              <a:rPr lang="zh-CN" altLang="en-US" dirty="0"/>
              <a:t>板上存储，两个芯片之间的数据传输速度一般是低于芯片内部的数据传输速度的，这里体现了性能瓶颈之一：数据传输的延迟。但是板上存储是有限的，所以我们不得不在</a:t>
            </a:r>
            <a:r>
              <a:rPr lang="en-US" altLang="zh-CN" dirty="0"/>
              <a:t>DDR</a:t>
            </a:r>
            <a:r>
              <a:rPr lang="zh-CN" altLang="en-US" dirty="0"/>
              <a:t>里存放大部分的数据，然后将数据分片，一片一片的从</a:t>
            </a:r>
            <a:r>
              <a:rPr lang="en-US" altLang="zh-CN" dirty="0"/>
              <a:t>PS</a:t>
            </a:r>
            <a:r>
              <a:rPr lang="zh-CN" altLang="en-US" dirty="0"/>
              <a:t>传入</a:t>
            </a:r>
            <a:r>
              <a:rPr lang="en-US" altLang="zh-CN" dirty="0"/>
              <a:t>PL</a:t>
            </a:r>
            <a:r>
              <a:rPr lang="zh-CN" altLang="en-US" dirty="0"/>
              <a:t>，这是性能瓶颈之二，存储资源限制。</a:t>
            </a:r>
            <a:endParaRPr lang="en-US" altLang="zh-CN" dirty="0"/>
          </a:p>
          <a:p>
            <a:r>
              <a:rPr lang="en-US" altLang="zh-CN" dirty="0"/>
              <a:t>PL</a:t>
            </a:r>
            <a:r>
              <a:rPr lang="zh-CN" altLang="en-US" dirty="0"/>
              <a:t>上有寄存器机存储单元，这些存储单元每一个的存储能力非常有限，所以需要提高计算的并行性尽可能地利用上这些寄存器存储单元。</a:t>
            </a:r>
            <a:endParaRPr lang="en-US" altLang="zh-CN" dirty="0"/>
          </a:p>
          <a:p>
            <a:endParaRPr lang="en-US" altLang="zh-CN" dirty="0"/>
          </a:p>
        </p:txBody>
      </p:sp>
      <p:sp>
        <p:nvSpPr>
          <p:cNvPr id="4" name="灯片编号占位符 3">
            <a:extLst>
              <a:ext uri="{FF2B5EF4-FFF2-40B4-BE49-F238E27FC236}">
                <a16:creationId xmlns:a16="http://schemas.microsoft.com/office/drawing/2014/main" id="{CC2EA6D9-A6AD-7482-C0FD-7E5942C490CE}"/>
              </a:ext>
            </a:extLst>
          </p:cNvPr>
          <p:cNvSpPr>
            <a:spLocks noGrp="1"/>
          </p:cNvSpPr>
          <p:nvPr>
            <p:ph type="sldNum" sz="quarter" idx="5"/>
          </p:nvPr>
        </p:nvSpPr>
        <p:spPr/>
        <p:txBody>
          <a:bodyPr/>
          <a:lstStyle/>
          <a:p>
            <a:fld id="{D5CE17B9-3885-4DD3-8538-856F6E08ECCA}" type="slidenum">
              <a:rPr lang="zh-CN" altLang="en-US" smtClean="0"/>
              <a:t>16</a:t>
            </a:fld>
            <a:endParaRPr lang="zh-CN" altLang="en-US"/>
          </a:p>
        </p:txBody>
      </p:sp>
    </p:spTree>
    <p:extLst>
      <p:ext uri="{BB962C8B-B14F-4D97-AF65-F5344CB8AC3E}">
        <p14:creationId xmlns:p14="http://schemas.microsoft.com/office/powerpoint/2010/main" val="2838096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D1A8-1599-5990-BE08-91540ECDCE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4B9F8B-7029-540E-3D0B-9EEC8C22A4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AD8786-A842-845F-4D78-20D99EDDA3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我们回到最初的模型来解释这一点，右边是</a:t>
            </a:r>
            <a:r>
              <a:rPr lang="en-US" altLang="zh-CN" dirty="0"/>
              <a:t>transformer</a:t>
            </a:r>
            <a:r>
              <a:rPr lang="zh-CN" altLang="en-US" dirty="0"/>
              <a:t>的模型，只看其核心的注意力部分。从训练过程模型中的数据角度看，</a:t>
            </a:r>
            <a:r>
              <a:rPr lang="en-US" altLang="zh-CN" dirty="0"/>
              <a:t>Q</a:t>
            </a:r>
            <a:r>
              <a:rPr lang="zh-CN" altLang="en-US" dirty="0"/>
              <a:t>，</a:t>
            </a:r>
            <a:r>
              <a:rPr lang="en-US" altLang="zh-CN" dirty="0"/>
              <a:t>K</a:t>
            </a:r>
            <a:r>
              <a:rPr lang="zh-CN" altLang="en-US" dirty="0"/>
              <a:t>，</a:t>
            </a:r>
            <a:r>
              <a:rPr lang="en-US" altLang="zh-CN" dirty="0"/>
              <a:t>V</a:t>
            </a:r>
            <a:r>
              <a:rPr lang="zh-CN" altLang="en-US" dirty="0"/>
              <a:t>是同一个矩阵</a:t>
            </a:r>
            <a:r>
              <a:rPr lang="en-US" altLang="zh-CN" dirty="0"/>
              <a:t>X</a:t>
            </a:r>
            <a:r>
              <a:rPr lang="zh-CN" altLang="en-US" dirty="0"/>
              <a:t>经过不同线性层的输出。在语言模型中，</a:t>
            </a:r>
            <a:r>
              <a:rPr lang="en-US" altLang="zh-CN" dirty="0"/>
              <a:t>X</a:t>
            </a:r>
            <a:r>
              <a:rPr lang="zh-CN" altLang="en-US" dirty="0"/>
              <a:t>是一个矩阵，一个横向的向量组和，每一行是一个词的编码结果。线性层前后的</a:t>
            </a:r>
            <a:r>
              <a:rPr lang="en-US" altLang="zh-CN" dirty="0"/>
              <a:t>X</a:t>
            </a:r>
            <a:r>
              <a:rPr lang="zh-CN" altLang="en-US" dirty="0"/>
              <a:t>和</a:t>
            </a:r>
            <a:r>
              <a:rPr lang="en-US" altLang="zh-CN" dirty="0"/>
              <a:t>Q</a:t>
            </a:r>
            <a:r>
              <a:rPr lang="zh-CN" altLang="en-US" dirty="0"/>
              <a:t>、</a:t>
            </a:r>
            <a:r>
              <a:rPr lang="en-US" altLang="zh-CN" dirty="0"/>
              <a:t>K</a:t>
            </a:r>
            <a:r>
              <a:rPr lang="zh-CN" altLang="en-US" dirty="0"/>
              <a:t>、</a:t>
            </a:r>
            <a:r>
              <a:rPr lang="en-US" altLang="zh-CN" dirty="0"/>
              <a:t>V</a:t>
            </a:r>
            <a:r>
              <a:rPr lang="zh-CN" altLang="en-US" dirty="0"/>
              <a:t>每一个行向量与词汇的对应关系不会改变，也没有混杂不同向量之间的信息。令</a:t>
            </a:r>
            <a:r>
              <a:rPr lang="en-US" altLang="zh-CN" dirty="0"/>
              <a:t>Transformer</a:t>
            </a:r>
            <a:r>
              <a:rPr lang="zh-CN" altLang="en-US" dirty="0"/>
              <a:t>引以为傲的全局注意力发生在</a:t>
            </a:r>
            <a:r>
              <a:rPr lang="en-US" altLang="zh-CN" dirty="0"/>
              <a:t>Q*K</a:t>
            </a:r>
            <a:r>
              <a:rPr lang="zh-CN" altLang="en-US" dirty="0"/>
              <a:t>的过程中，</a:t>
            </a:r>
            <a:r>
              <a:rPr lang="en-US" altLang="zh-CN" dirty="0"/>
              <a:t>4</a:t>
            </a:r>
            <a:r>
              <a:rPr lang="zh-CN" altLang="en-US" dirty="0"/>
              <a:t>个对应不同词汇的行向量的两两点积构成了</a:t>
            </a:r>
            <a:r>
              <a:rPr lang="en-US" altLang="zh-CN" dirty="0"/>
              <a:t>4*4</a:t>
            </a:r>
            <a:r>
              <a:rPr lang="zh-CN" altLang="en-US" dirty="0"/>
              <a:t>的注意力矩阵，这个矩阵中第</a:t>
            </a:r>
            <a:r>
              <a:rPr lang="en-US" altLang="zh-CN" dirty="0"/>
              <a:t>n</a:t>
            </a:r>
            <a:r>
              <a:rPr lang="zh-CN" altLang="en-US" dirty="0"/>
              <a:t>行第</a:t>
            </a:r>
            <a:r>
              <a:rPr lang="en-US" altLang="zh-CN" dirty="0"/>
              <a:t>m</a:t>
            </a:r>
            <a:r>
              <a:rPr lang="zh-CN" altLang="en-US" dirty="0"/>
              <a:t>列的元素代表了</a:t>
            </a:r>
            <a:r>
              <a:rPr lang="en-US" altLang="zh-CN" dirty="0"/>
              <a:t>Q</a:t>
            </a:r>
            <a:r>
              <a:rPr lang="zh-CN" altLang="en-US" dirty="0"/>
              <a:t>的第</a:t>
            </a:r>
            <a:r>
              <a:rPr lang="en-US" altLang="zh-CN" dirty="0"/>
              <a:t>n</a:t>
            </a:r>
            <a:r>
              <a:rPr lang="zh-CN" altLang="en-US" dirty="0"/>
              <a:t>行向量和</a:t>
            </a:r>
            <a:r>
              <a:rPr lang="en-US" altLang="zh-CN" dirty="0"/>
              <a:t>K</a:t>
            </a:r>
            <a:r>
              <a:rPr lang="zh-CN" altLang="en-US" dirty="0"/>
              <a:t>的第</a:t>
            </a:r>
            <a:r>
              <a:rPr lang="en-US" altLang="zh-CN" dirty="0"/>
              <a:t>m</a:t>
            </a:r>
            <a:r>
              <a:rPr lang="zh-CN" altLang="en-US" dirty="0"/>
              <a:t>行向量的相似程度，经过这一步骤得到的结果</a:t>
            </a:r>
            <a:r>
              <a:rPr lang="en-US" altLang="zh-CN" dirty="0"/>
              <a:t>Z</a:t>
            </a:r>
            <a:r>
              <a:rPr lang="zh-CN" altLang="en-US" dirty="0"/>
              <a:t>的每一行向量内在地蕴含了不同向量间地内在关系。值得注意的是，从训练过程中模型发生变化的参数来看，自注意力模块这个三明治结构的中间核心区域并没有任何可训练的参数。也就是说，</a:t>
            </a:r>
            <a:r>
              <a:rPr lang="zh-CN" altLang="en-US" b="0" i="0" dirty="0">
                <a:solidFill>
                  <a:srgbClr val="2C2C36"/>
                </a:solidFill>
                <a:effectLst/>
                <a:latin typeface="-apple-system"/>
              </a:rPr>
              <a:t>自注意力模块的核心步骤本身不包含可训练参数，但它依赖于前后线性层来提取和组合有效的特征，从而使模型能够在训练过程中不断优化其对输入数据的理解和处理能力。这样的结构使得自注意力机制可以获得全局的信息关系，从而增强了其自动提取特征的能力。同时一些研究表明其多头结构设计</a:t>
            </a:r>
            <a:r>
              <a:rPr lang="zh-CN" altLang="en-US" b="0" i="0" dirty="0">
                <a:solidFill>
                  <a:srgbClr val="1D2129"/>
                </a:solidFill>
                <a:effectLst/>
                <a:latin typeface="Lato" panose="020F0502020204030203" pitchFamily="34" charset="0"/>
              </a:rPr>
              <a:t>。此功能有助于显着降低噪声和其他伪影的影响，从而产生更可靠的 </a:t>
            </a:r>
            <a:r>
              <a:rPr lang="en-US" altLang="zh-CN" b="0" i="0" dirty="0" err="1">
                <a:solidFill>
                  <a:srgbClr val="1D2129"/>
                </a:solidFill>
                <a:effectLst/>
                <a:latin typeface="Lato" panose="020F0502020204030203" pitchFamily="34" charset="0"/>
              </a:rPr>
              <a:t>bci</a:t>
            </a:r>
            <a:r>
              <a:rPr lang="en-US" altLang="zh-CN" b="0" i="0" dirty="0">
                <a:solidFill>
                  <a:srgbClr val="1D2129"/>
                </a:solidFill>
                <a:effectLst/>
                <a:latin typeface="Lato" panose="020F0502020204030203" pitchFamily="34" charset="0"/>
              </a:rPr>
              <a:t> </a:t>
            </a:r>
            <a:r>
              <a:rPr lang="zh-CN" altLang="en-US" b="0" i="0" dirty="0">
                <a:solidFill>
                  <a:srgbClr val="1D2129"/>
                </a:solidFill>
                <a:effectLst/>
                <a:latin typeface="Lato" panose="020F0502020204030203" pitchFamily="34" charset="0"/>
              </a:rPr>
              <a:t>输出 。</a:t>
            </a:r>
            <a:endParaRPr lang="en-US" altLang="zh-CN" dirty="0"/>
          </a:p>
          <a:p>
            <a:endParaRPr lang="zh-CN" altLang="en-US" dirty="0"/>
          </a:p>
        </p:txBody>
      </p:sp>
      <p:sp>
        <p:nvSpPr>
          <p:cNvPr id="4" name="灯片编号占位符 3">
            <a:extLst>
              <a:ext uri="{FF2B5EF4-FFF2-40B4-BE49-F238E27FC236}">
                <a16:creationId xmlns:a16="http://schemas.microsoft.com/office/drawing/2014/main" id="{0B5C0545-2006-58D5-4963-A595D6342F2B}"/>
              </a:ext>
            </a:extLst>
          </p:cNvPr>
          <p:cNvSpPr>
            <a:spLocks noGrp="1"/>
          </p:cNvSpPr>
          <p:nvPr>
            <p:ph type="sldNum" sz="quarter" idx="5"/>
          </p:nvPr>
        </p:nvSpPr>
        <p:spPr/>
        <p:txBody>
          <a:bodyPr/>
          <a:lstStyle/>
          <a:p>
            <a:fld id="{D5CE17B9-3885-4DD3-8538-856F6E08ECCA}" type="slidenum">
              <a:rPr lang="zh-CN" altLang="en-US" smtClean="0"/>
              <a:t>17</a:t>
            </a:fld>
            <a:endParaRPr lang="zh-CN" altLang="en-US"/>
          </a:p>
        </p:txBody>
      </p:sp>
    </p:spTree>
    <p:extLst>
      <p:ext uri="{BB962C8B-B14F-4D97-AF65-F5344CB8AC3E}">
        <p14:creationId xmlns:p14="http://schemas.microsoft.com/office/powerpoint/2010/main" val="1549961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E195-8D25-17C3-A4D4-59306773CF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BCF06F-65CB-F84E-48A5-DC2D13785A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D6F649-1E10-2AB1-9EDB-36E0B5FBF8B8}"/>
              </a:ext>
            </a:extLst>
          </p:cNvPr>
          <p:cNvSpPr>
            <a:spLocks noGrp="1"/>
          </p:cNvSpPr>
          <p:nvPr>
            <p:ph type="body" idx="1"/>
          </p:nvPr>
        </p:nvSpPr>
        <p:spPr/>
        <p:txBody>
          <a:bodyPr/>
          <a:lstStyle/>
          <a:p>
            <a:r>
              <a:rPr lang="en-US" altLang="zh-CN" b="0" i="0" dirty="0">
                <a:solidFill>
                  <a:srgbClr val="2C2C36"/>
                </a:solidFill>
                <a:effectLst/>
                <a:latin typeface="-apple-system"/>
              </a:rPr>
              <a:t>EEG conformer</a:t>
            </a:r>
            <a:r>
              <a:rPr lang="zh-CN" altLang="en-US" b="0" i="0" dirty="0">
                <a:solidFill>
                  <a:srgbClr val="2C2C36"/>
                </a:solidFill>
                <a:effectLst/>
                <a:latin typeface="-apple-system"/>
              </a:rPr>
              <a:t>是一个比较简单且成功的例子。该模型用于脑电分类任务。可以看到模型分为三个部分。卷积部分借鉴了</a:t>
            </a:r>
            <a:r>
              <a:rPr lang="en-US" altLang="zh-CN" b="0" i="0" dirty="0" err="1">
                <a:solidFill>
                  <a:srgbClr val="2C2C36"/>
                </a:solidFill>
                <a:effectLst/>
                <a:latin typeface="-apple-system"/>
              </a:rPr>
              <a:t>EEGnet</a:t>
            </a:r>
            <a:r>
              <a:rPr lang="zh-CN" altLang="en-US" b="0" i="0" dirty="0">
                <a:solidFill>
                  <a:srgbClr val="2C2C36"/>
                </a:solidFill>
                <a:effectLst/>
                <a:latin typeface="-apple-system"/>
              </a:rPr>
              <a:t>的经典做法，先后在时间和电极通道上进行一维卷积。得到的具有时间先后顺序的向量组和送入自注意力模块中，与原始</a:t>
            </a:r>
            <a:r>
              <a:rPr lang="en-US" altLang="zh-CN" b="0" i="0" dirty="0">
                <a:solidFill>
                  <a:srgbClr val="2C2C36"/>
                </a:solidFill>
                <a:effectLst/>
                <a:latin typeface="-apple-system"/>
              </a:rPr>
              <a:t>Transformer</a:t>
            </a:r>
            <a:r>
              <a:rPr lang="zh-CN" altLang="en-US" b="0" i="0" dirty="0">
                <a:solidFill>
                  <a:srgbClr val="2C2C36"/>
                </a:solidFill>
                <a:effectLst/>
                <a:latin typeface="-apple-system"/>
              </a:rPr>
              <a:t>相同，自注意力模块负责进一步学习全局时间依赖关系。最后以全连接的方式得到分类结果。</a:t>
            </a:r>
            <a:endParaRPr lang="en-US" altLang="zh-CN" b="0" i="0" dirty="0">
              <a:solidFill>
                <a:srgbClr val="2C2C36"/>
              </a:solidFill>
              <a:effectLst/>
              <a:latin typeface="-apple-system"/>
            </a:endParaRPr>
          </a:p>
          <a:p>
            <a:endParaRPr lang="en-US" altLang="zh-CN" b="0" i="0" dirty="0">
              <a:solidFill>
                <a:srgbClr val="2C2C36"/>
              </a:solidFill>
              <a:effectLst/>
              <a:latin typeface="-apple-system"/>
            </a:endParaRPr>
          </a:p>
          <a:p>
            <a:r>
              <a:rPr lang="zh-CN" altLang="en-US" b="0" i="0" dirty="0">
                <a:solidFill>
                  <a:srgbClr val="2C2C36"/>
                </a:solidFill>
                <a:effectLst/>
                <a:latin typeface="-apple-system"/>
              </a:rPr>
              <a:t>可以看到两点，一是在许多分类任务中，基于</a:t>
            </a:r>
            <a:r>
              <a:rPr lang="en-US" altLang="zh-CN" b="0" i="0" dirty="0">
                <a:solidFill>
                  <a:srgbClr val="2C2C36"/>
                </a:solidFill>
                <a:effectLst/>
                <a:latin typeface="-apple-system"/>
              </a:rPr>
              <a:t>Transformer</a:t>
            </a:r>
            <a:r>
              <a:rPr lang="zh-CN" altLang="en-US" b="0" i="0" dirty="0">
                <a:solidFill>
                  <a:srgbClr val="2C2C36"/>
                </a:solidFill>
                <a:effectLst/>
                <a:latin typeface="-apple-system"/>
              </a:rPr>
              <a:t>的架构常常省略了解码部分的分支结构，转而在编码器的输出后面接上便于分类的模块。这种方式不仅简化了模型，而且提高了效率。</a:t>
            </a:r>
            <a:endParaRPr lang="en-US" altLang="zh-CN" b="0" i="0" dirty="0">
              <a:solidFill>
                <a:srgbClr val="2C2C36"/>
              </a:solidFill>
              <a:effectLst/>
              <a:latin typeface="-apple-system"/>
            </a:endParaRPr>
          </a:p>
          <a:p>
            <a:r>
              <a:rPr lang="zh-CN" altLang="en-US" b="0" i="0" dirty="0">
                <a:solidFill>
                  <a:srgbClr val="2C2C36"/>
                </a:solidFill>
                <a:effectLst/>
                <a:latin typeface="-apple-system"/>
              </a:rPr>
              <a:t>二是，这里的自注意力模块和</a:t>
            </a:r>
            <a:r>
              <a:rPr lang="en-US" altLang="zh-CN" b="0" i="0" dirty="0">
                <a:solidFill>
                  <a:srgbClr val="2C2C36"/>
                </a:solidFill>
                <a:effectLst/>
                <a:latin typeface="-apple-system"/>
              </a:rPr>
              <a:t>transformer</a:t>
            </a:r>
            <a:r>
              <a:rPr lang="zh-CN" altLang="en-US" b="0" i="0" dirty="0">
                <a:solidFill>
                  <a:srgbClr val="2C2C36"/>
                </a:solidFill>
                <a:effectLst/>
                <a:latin typeface="-apple-system"/>
              </a:rPr>
              <a:t>中的没有任何不同，说明即使是脑电领域，经过卷积模块初步处理后，自注意力机制能够有效地捕捉到类别相关的重要特征。</a:t>
            </a:r>
            <a:endParaRPr lang="en-US" altLang="zh-CN" b="0" i="0" dirty="0">
              <a:solidFill>
                <a:srgbClr val="2C2C36"/>
              </a:solidFill>
              <a:effectLst/>
              <a:latin typeface="-apple-system"/>
            </a:endParaRPr>
          </a:p>
        </p:txBody>
      </p:sp>
      <p:sp>
        <p:nvSpPr>
          <p:cNvPr id="4" name="灯片编号占位符 3">
            <a:extLst>
              <a:ext uri="{FF2B5EF4-FFF2-40B4-BE49-F238E27FC236}">
                <a16:creationId xmlns:a16="http://schemas.microsoft.com/office/drawing/2014/main" id="{8BD38698-70C4-CDFA-F247-386213EF0FF9}"/>
              </a:ext>
            </a:extLst>
          </p:cNvPr>
          <p:cNvSpPr>
            <a:spLocks noGrp="1"/>
          </p:cNvSpPr>
          <p:nvPr>
            <p:ph type="sldNum" sz="quarter" idx="5"/>
          </p:nvPr>
        </p:nvSpPr>
        <p:spPr/>
        <p:txBody>
          <a:bodyPr/>
          <a:lstStyle/>
          <a:p>
            <a:fld id="{D5CE17B9-3885-4DD3-8538-856F6E08ECCA}" type="slidenum">
              <a:rPr lang="zh-CN" altLang="en-US" smtClean="0"/>
              <a:t>18</a:t>
            </a:fld>
            <a:endParaRPr lang="zh-CN" altLang="en-US"/>
          </a:p>
        </p:txBody>
      </p:sp>
    </p:spTree>
    <p:extLst>
      <p:ext uri="{BB962C8B-B14F-4D97-AF65-F5344CB8AC3E}">
        <p14:creationId xmlns:p14="http://schemas.microsoft.com/office/powerpoint/2010/main" val="38761995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CC2BF-7807-E087-FCE7-80EF1F778A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256AE8-BC10-38E7-85AE-0177C2205D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15287F-B46E-40AE-5576-DE30590C16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pple-system"/>
              </a:rPr>
              <a:t>传统的</a:t>
            </a:r>
            <a:r>
              <a:rPr lang="en-US" altLang="zh-CN" b="0" i="0" dirty="0">
                <a:solidFill>
                  <a:srgbClr val="333333"/>
                </a:solidFill>
                <a:effectLst/>
                <a:latin typeface="-apple-system"/>
              </a:rPr>
              <a:t>Transformer</a:t>
            </a:r>
            <a:r>
              <a:rPr lang="zh-CN" altLang="en-US" b="0" i="0" dirty="0">
                <a:solidFill>
                  <a:srgbClr val="333333"/>
                </a:solidFill>
                <a:effectLst/>
                <a:latin typeface="-apple-system"/>
              </a:rPr>
              <a:t>中，我们是对每个点单独进行</a:t>
            </a:r>
            <a:r>
              <a:rPr lang="en-US" altLang="zh-CN" b="0" i="0" dirty="0">
                <a:solidFill>
                  <a:srgbClr val="333333"/>
                </a:solidFill>
                <a:effectLst/>
                <a:latin typeface="-apple-system"/>
              </a:rPr>
              <a:t>Q,K,V</a:t>
            </a:r>
            <a:r>
              <a:rPr lang="zh-CN" altLang="en-US" b="0" i="0" dirty="0">
                <a:solidFill>
                  <a:srgbClr val="333333"/>
                </a:solidFill>
                <a:effectLst/>
                <a:latin typeface="-apple-system"/>
              </a:rPr>
              <a:t>的投影计算的。</a:t>
            </a:r>
            <a:r>
              <a:rPr lang="zh-CN" altLang="en-US" b="0" i="0" dirty="0">
                <a:solidFill>
                  <a:srgbClr val="2C2C36"/>
                </a:solidFill>
                <a:effectLst/>
                <a:latin typeface="-apple-system"/>
              </a:rPr>
              <a:t>这导致的一个问题是，比如图</a:t>
            </a:r>
            <a:r>
              <a:rPr lang="en-US" altLang="zh-CN" b="0" i="0" dirty="0">
                <a:solidFill>
                  <a:srgbClr val="2C2C36"/>
                </a:solidFill>
                <a:effectLst/>
                <a:latin typeface="-apple-system"/>
              </a:rPr>
              <a:t>(a)</a:t>
            </a:r>
            <a:r>
              <a:rPr lang="zh-CN" altLang="en-US" b="0" i="0" dirty="0">
                <a:solidFill>
                  <a:srgbClr val="2C2C36"/>
                </a:solidFill>
                <a:effectLst/>
                <a:latin typeface="-apple-system"/>
              </a:rPr>
              <a:t>中的两个红点，他们尽管在时间序列上的特征不同（一个是陡增一个是缓趋势），但是由于绝对数值一样，所以算出来的两个</a:t>
            </a:r>
            <a:r>
              <a:rPr lang="en-US" altLang="zh-CN" b="0" i="0" dirty="0">
                <a:solidFill>
                  <a:srgbClr val="2C2C36"/>
                </a:solidFill>
                <a:effectLst/>
                <a:latin typeface="-apple-system"/>
              </a:rPr>
              <a:t>attention</a:t>
            </a:r>
            <a:r>
              <a:rPr lang="zh-CN" altLang="en-US" b="0" i="0" dirty="0">
                <a:solidFill>
                  <a:srgbClr val="2C2C36"/>
                </a:solidFill>
                <a:effectLst/>
                <a:latin typeface="-apple-system"/>
              </a:rPr>
              <a:t>是很接近的而</a:t>
            </a:r>
            <a:r>
              <a:rPr lang="en-US" altLang="zh-CN" b="0" i="0" dirty="0">
                <a:solidFill>
                  <a:srgbClr val="2C2C36"/>
                </a:solidFill>
                <a:effectLst/>
                <a:latin typeface="-apple-system"/>
              </a:rPr>
              <a:t>(c</a:t>
            </a:r>
            <a:r>
              <a:rPr lang="zh-CN" altLang="en-US" b="0" i="0" dirty="0">
                <a:solidFill>
                  <a:srgbClr val="2C2C36"/>
                </a:solidFill>
                <a:effectLst/>
                <a:latin typeface="-apple-system"/>
              </a:rPr>
              <a:t>）中框起来的两块区域，他们的局部特征是很类似的，但是由于他们的绝对数值不一样，所以算出来的两个</a:t>
            </a:r>
            <a:r>
              <a:rPr lang="en-US" altLang="zh-CN" b="0" i="0" dirty="0">
                <a:solidFill>
                  <a:srgbClr val="2C2C36"/>
                </a:solidFill>
                <a:effectLst/>
                <a:latin typeface="-apple-system"/>
              </a:rPr>
              <a:t>attention</a:t>
            </a:r>
            <a:r>
              <a:rPr lang="zh-CN" altLang="en-US" b="0" i="0" dirty="0">
                <a:solidFill>
                  <a:srgbClr val="2C2C36"/>
                </a:solidFill>
                <a:effectLst/>
                <a:latin typeface="-apple-system"/>
              </a:rPr>
              <a:t>不大（但理论上应该是比较大的）。简而言之，在传统注意力机制中，</a:t>
            </a:r>
            <a:r>
              <a:rPr lang="en-US" altLang="zh-CN" b="0" i="0" dirty="0">
                <a:solidFill>
                  <a:srgbClr val="2C2C36"/>
                </a:solidFill>
                <a:effectLst/>
                <a:latin typeface="-apple-system"/>
              </a:rPr>
              <a:t>QK</a:t>
            </a:r>
            <a:r>
              <a:rPr lang="zh-CN" altLang="en-US" b="0" i="0" dirty="0">
                <a:solidFill>
                  <a:srgbClr val="2C2C36"/>
                </a:solidFill>
                <a:effectLst/>
                <a:latin typeface="-apple-system"/>
              </a:rPr>
              <a:t>的相似性基于他们的逐点值计算，而没有充分利用上下文，而这种与局部上下文无关的</a:t>
            </a:r>
            <a:r>
              <a:rPr lang="en-US" altLang="zh-CN" b="0" i="0" dirty="0">
                <a:solidFill>
                  <a:srgbClr val="2C2C36"/>
                </a:solidFill>
                <a:effectLst/>
                <a:latin typeface="-apple-system"/>
              </a:rPr>
              <a:t>QK</a:t>
            </a:r>
            <a:r>
              <a:rPr lang="zh-CN" altLang="en-US" b="0" i="0" dirty="0">
                <a:solidFill>
                  <a:srgbClr val="2C2C36"/>
                </a:solidFill>
                <a:effectLst/>
                <a:latin typeface="-apple-system"/>
              </a:rPr>
              <a:t>匹配可能会在观察值是异常点，变化点，还是模式的一部分方面混淆注意力模块，带来潜在的优化问题。</a:t>
            </a:r>
            <a:r>
              <a:rPr lang="zh-CN" altLang="en-US" b="0" i="0" dirty="0">
                <a:solidFill>
                  <a:srgbClr val="4D4D4D"/>
                </a:solidFill>
                <a:effectLst/>
                <a:latin typeface="-apple-system"/>
              </a:rPr>
              <a:t>为了让</a:t>
            </a:r>
            <a:r>
              <a:rPr lang="en-US" altLang="zh-CN" b="0" i="0" dirty="0">
                <a:solidFill>
                  <a:srgbClr val="4D4D4D"/>
                </a:solidFill>
                <a:effectLst/>
                <a:latin typeface="-apple-system"/>
              </a:rPr>
              <a:t>Transformer</a:t>
            </a:r>
            <a:r>
              <a:rPr lang="zh-CN" altLang="en-US" b="0" i="0" dirty="0">
                <a:solidFill>
                  <a:srgbClr val="4D4D4D"/>
                </a:solidFill>
                <a:effectLst/>
                <a:latin typeface="-apple-system"/>
              </a:rPr>
              <a:t>的</a:t>
            </a:r>
            <a:r>
              <a:rPr lang="en-US" altLang="zh-CN" b="0" i="0" dirty="0">
                <a:solidFill>
                  <a:srgbClr val="4D4D4D"/>
                </a:solidFill>
                <a:effectLst/>
                <a:latin typeface="-apple-system"/>
              </a:rPr>
              <a:t>Q,K</a:t>
            </a:r>
            <a:r>
              <a:rPr lang="zh-CN" altLang="en-US" b="0" i="0" dirty="0">
                <a:solidFill>
                  <a:srgbClr val="4D4D4D"/>
                </a:solidFill>
                <a:effectLst/>
                <a:latin typeface="-apple-system"/>
              </a:rPr>
              <a:t>可以看到一定时间序列的局部特征，这里引入了</a:t>
            </a:r>
            <a:r>
              <a:rPr lang="zh-CN" altLang="en-US" b="0" i="0" u="none" strike="noStrike" dirty="0">
                <a:solidFill>
                  <a:srgbClr val="FC5531"/>
                </a:solidFill>
                <a:effectLst/>
                <a:latin typeface="-apple-system"/>
                <a:hlinkClick r:id="rId3"/>
              </a:rPr>
              <a:t>卷积</a:t>
            </a:r>
            <a:r>
              <a:rPr lang="zh-CN" altLang="en-US" b="0" i="0" dirty="0">
                <a:solidFill>
                  <a:srgbClr val="4D4D4D"/>
                </a:solidFill>
                <a:effectLst/>
                <a:latin typeface="-apple-system"/>
              </a:rPr>
              <a:t>自注意力。</a:t>
            </a:r>
            <a:r>
              <a:rPr lang="zh-CN" altLang="en-US" b="0" i="0" dirty="0">
                <a:solidFill>
                  <a:srgbClr val="333333"/>
                </a:solidFill>
                <a:effectLst/>
                <a:latin typeface="-apple-system"/>
              </a:rPr>
              <a:t>这里使用</a:t>
            </a:r>
            <a:r>
              <a:rPr lang="en-US" altLang="zh-CN" b="0" i="0" dirty="0">
                <a:solidFill>
                  <a:srgbClr val="333333"/>
                </a:solidFill>
                <a:effectLst/>
                <a:latin typeface="-apple-system"/>
              </a:rPr>
              <a:t>stride</a:t>
            </a:r>
            <a:r>
              <a:rPr lang="zh-CN" altLang="en-US" b="0" i="0" dirty="0">
                <a:solidFill>
                  <a:srgbClr val="333333"/>
                </a:solidFill>
                <a:effectLst/>
                <a:latin typeface="-apple-system"/>
              </a:rPr>
              <a:t>为</a:t>
            </a:r>
            <a:r>
              <a:rPr lang="en-US" altLang="zh-CN" b="0" i="0" dirty="0">
                <a:solidFill>
                  <a:srgbClr val="333333"/>
                </a:solidFill>
                <a:effectLst/>
                <a:latin typeface="-apple-system"/>
              </a:rPr>
              <a:t>1</a:t>
            </a:r>
            <a:r>
              <a:rPr lang="zh-CN" altLang="en-US" b="0" i="0" dirty="0">
                <a:solidFill>
                  <a:srgbClr val="333333"/>
                </a:solidFill>
                <a:effectLst/>
                <a:latin typeface="-apple-system"/>
              </a:rPr>
              <a:t>，</a:t>
            </a:r>
            <a:r>
              <a:rPr lang="en-US" altLang="zh-CN" b="0" i="0" dirty="0">
                <a:solidFill>
                  <a:srgbClr val="333333"/>
                </a:solidFill>
                <a:effectLst/>
                <a:latin typeface="-apple-system"/>
              </a:rPr>
              <a:t>kernel</a:t>
            </a:r>
            <a:r>
              <a:rPr lang="zh-CN" altLang="en-US" b="0" i="0" dirty="0">
                <a:solidFill>
                  <a:srgbClr val="333333"/>
                </a:solidFill>
                <a:effectLst/>
                <a:latin typeface="-apple-system"/>
              </a:rPr>
              <a:t>大小为</a:t>
            </a:r>
            <a:r>
              <a:rPr lang="en-US" altLang="zh-CN" b="0" i="0" dirty="0">
                <a:solidFill>
                  <a:srgbClr val="333333"/>
                </a:solidFill>
                <a:effectLst/>
                <a:latin typeface="-apple-system"/>
              </a:rPr>
              <a:t>k</a:t>
            </a:r>
            <a:r>
              <a:rPr lang="zh-CN" altLang="en-US" b="0" i="0" dirty="0">
                <a:solidFill>
                  <a:srgbClr val="333333"/>
                </a:solidFill>
                <a:effectLst/>
                <a:latin typeface="-apple-system"/>
              </a:rPr>
              <a:t>的因果卷积来计算</a:t>
            </a:r>
            <a:r>
              <a:rPr lang="en-US" altLang="zh-CN" b="0" i="0" dirty="0">
                <a:solidFill>
                  <a:srgbClr val="333333"/>
                </a:solidFill>
                <a:effectLst/>
                <a:latin typeface="-apple-system"/>
              </a:rPr>
              <a:t>Q</a:t>
            </a:r>
            <a:r>
              <a:rPr lang="zh-CN" altLang="en-US" b="0" i="0" dirty="0">
                <a:solidFill>
                  <a:srgbClr val="333333"/>
                </a:solidFill>
                <a:effectLst/>
                <a:latin typeface="-apple-system"/>
              </a:rPr>
              <a:t>和</a:t>
            </a:r>
            <a:r>
              <a:rPr lang="en-US" altLang="zh-CN" b="0" i="0" dirty="0">
                <a:solidFill>
                  <a:srgbClr val="333333"/>
                </a:solidFill>
                <a:effectLst/>
                <a:latin typeface="-apple-system"/>
              </a:rPr>
              <a:t>K</a:t>
            </a:r>
            <a:r>
              <a:rPr lang="zh-CN" altLang="en-US" b="0" i="0" dirty="0">
                <a:solidFill>
                  <a:srgbClr val="333333"/>
                </a:solidFill>
                <a:effectLst/>
                <a:latin typeface="-apple-system"/>
              </a:rPr>
              <a:t>。通过因果卷积，</a:t>
            </a:r>
            <a:r>
              <a:rPr lang="en-US" altLang="zh-CN" b="0" i="0" dirty="0">
                <a:solidFill>
                  <a:srgbClr val="333333"/>
                </a:solidFill>
                <a:effectLst/>
                <a:latin typeface="-apple-system"/>
              </a:rPr>
              <a:t>Q</a:t>
            </a:r>
            <a:r>
              <a:rPr lang="zh-CN" altLang="en-US" b="0" i="0" dirty="0">
                <a:solidFill>
                  <a:srgbClr val="333333"/>
                </a:solidFill>
                <a:effectLst/>
                <a:latin typeface="-apple-system"/>
              </a:rPr>
              <a:t>和</a:t>
            </a:r>
            <a:r>
              <a:rPr lang="en-US" altLang="zh-CN" b="0" i="0" dirty="0">
                <a:solidFill>
                  <a:srgbClr val="333333"/>
                </a:solidFill>
                <a:effectLst/>
                <a:latin typeface="-apple-system"/>
              </a:rPr>
              <a:t>K</a:t>
            </a:r>
            <a:r>
              <a:rPr lang="zh-CN" altLang="en-US" b="0" i="0" dirty="0">
                <a:solidFill>
                  <a:srgbClr val="333333"/>
                </a:solidFill>
                <a:effectLst/>
                <a:latin typeface="-apple-system"/>
              </a:rPr>
              <a:t>可以更好地知晓当前时刻的局部时间序列信息。</a:t>
            </a:r>
            <a:r>
              <a:rPr lang="en-US" altLang="zh-CN" b="1" dirty="0"/>
              <a:t>	</a:t>
            </a:r>
            <a:r>
              <a:rPr lang="zh-CN" altLang="en-US" b="1" dirty="0"/>
              <a:t>上面</a:t>
            </a:r>
            <a:r>
              <a:rPr lang="en-US" altLang="zh-CN" b="1" dirty="0"/>
              <a:t>4</a:t>
            </a:r>
            <a:r>
              <a:rPr lang="zh-CN" altLang="en-US" b="1" dirty="0"/>
              <a:t>个网络都是</a:t>
            </a:r>
            <a:r>
              <a:rPr lang="en-US" altLang="zh-CN" b="1" dirty="0"/>
              <a:t>transformer</a:t>
            </a:r>
            <a:r>
              <a:rPr lang="zh-CN" altLang="en-US" b="1" dirty="0"/>
              <a:t>在时间序列处理问题上的变体应用，其共性之处在于都是</a:t>
            </a:r>
            <a:r>
              <a:rPr lang="en-US" altLang="zh-CN" b="1" dirty="0"/>
              <a:t>transformer</a:t>
            </a:r>
            <a:r>
              <a:rPr lang="zh-CN" altLang="en-US" b="1" dirty="0"/>
              <a:t>和卷积网络的融合，差别在于两者融合的方式。</a:t>
            </a:r>
            <a:r>
              <a:rPr lang="en-US" altLang="zh-CN" b="1" dirty="0" err="1"/>
              <a:t>EEGnet</a:t>
            </a:r>
            <a:r>
              <a:rPr lang="zh-CN" altLang="en-US" b="1" dirty="0"/>
              <a:t>将卷积放在自注意力机制之外，作特征提取的前序步骤，</a:t>
            </a:r>
            <a:r>
              <a:rPr lang="en-US" altLang="zh-CN" b="1" dirty="0"/>
              <a:t>conformer</a:t>
            </a:r>
            <a:r>
              <a:rPr lang="zh-CN" altLang="en-US" b="1" dirty="0"/>
              <a:t>和</a:t>
            </a:r>
            <a:r>
              <a:rPr lang="en-US" altLang="zh-CN" b="1" dirty="0" err="1"/>
              <a:t>Squeezeformer</a:t>
            </a:r>
            <a:r>
              <a:rPr lang="zh-CN" altLang="en-US" b="1" dirty="0"/>
              <a:t>则是将卷积放在了自注意力模块内部的不同位置，</a:t>
            </a:r>
            <a:r>
              <a:rPr lang="zh-CN" altLang="en-US" b="0" i="0" dirty="0">
                <a:solidFill>
                  <a:srgbClr val="2C2C36"/>
                </a:solidFill>
                <a:effectLst/>
                <a:latin typeface="-apple-system"/>
              </a:rPr>
              <a:t>目的是捕获基于相对偏移的局部相关性。最后这篇文章也是为了利用局部上下文的特征，但其将一维因果卷积添加到了</a:t>
            </a:r>
            <a:r>
              <a:rPr lang="en-US" altLang="zh-CN" b="0" i="0" dirty="0">
                <a:solidFill>
                  <a:srgbClr val="2C2C36"/>
                </a:solidFill>
                <a:effectLst/>
                <a:latin typeface="-apple-system"/>
              </a:rPr>
              <a:t>Q</a:t>
            </a:r>
            <a:r>
              <a:rPr lang="zh-CN" altLang="en-US" b="0" i="0" dirty="0">
                <a:solidFill>
                  <a:srgbClr val="2C2C36"/>
                </a:solidFill>
                <a:effectLst/>
                <a:latin typeface="-apple-system"/>
              </a:rPr>
              <a:t>，</a:t>
            </a:r>
            <a:r>
              <a:rPr lang="en-US" altLang="zh-CN" b="0" i="0" dirty="0">
                <a:solidFill>
                  <a:srgbClr val="2C2C36"/>
                </a:solidFill>
                <a:effectLst/>
                <a:latin typeface="-apple-system"/>
              </a:rPr>
              <a:t>K</a:t>
            </a:r>
            <a:r>
              <a:rPr lang="zh-CN" altLang="en-US" b="0" i="0" dirty="0">
                <a:solidFill>
                  <a:srgbClr val="2C2C36"/>
                </a:solidFill>
                <a:effectLst/>
                <a:latin typeface="-apple-system"/>
              </a:rPr>
              <a:t>矩阵点乘之前，从而很好地弥补了自注意力模块在局部特征提取方面地不足。</a:t>
            </a:r>
          </a:p>
          <a:p>
            <a:endParaRPr lang="zh-CN" altLang="en-US" dirty="0"/>
          </a:p>
        </p:txBody>
      </p:sp>
      <p:sp>
        <p:nvSpPr>
          <p:cNvPr id="4" name="灯片编号占位符 3">
            <a:extLst>
              <a:ext uri="{FF2B5EF4-FFF2-40B4-BE49-F238E27FC236}">
                <a16:creationId xmlns:a16="http://schemas.microsoft.com/office/drawing/2014/main" id="{0ECE4FD8-A4DE-4DAA-BC76-42C13630AE8E}"/>
              </a:ext>
            </a:extLst>
          </p:cNvPr>
          <p:cNvSpPr>
            <a:spLocks noGrp="1"/>
          </p:cNvSpPr>
          <p:nvPr>
            <p:ph type="sldNum" sz="quarter" idx="5"/>
          </p:nvPr>
        </p:nvSpPr>
        <p:spPr/>
        <p:txBody>
          <a:bodyPr/>
          <a:lstStyle/>
          <a:p>
            <a:fld id="{D5CE17B9-3885-4DD3-8538-856F6E08ECCA}" type="slidenum">
              <a:rPr lang="zh-CN" altLang="en-US" smtClean="0"/>
              <a:t>19</a:t>
            </a:fld>
            <a:endParaRPr lang="zh-CN" altLang="en-US"/>
          </a:p>
        </p:txBody>
      </p:sp>
    </p:spTree>
    <p:extLst>
      <p:ext uri="{BB962C8B-B14F-4D97-AF65-F5344CB8AC3E}">
        <p14:creationId xmlns:p14="http://schemas.microsoft.com/office/powerpoint/2010/main" val="4229365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CEDB-9BED-B907-76D5-7347AAF944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E5CD2B-14DA-8434-B763-6D1603D120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C443B5-464E-6CCF-8D4A-809207A2C0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pple-system"/>
              </a:rPr>
              <a:t>传统的</a:t>
            </a:r>
            <a:r>
              <a:rPr lang="en-US" altLang="zh-CN" b="0" i="0" dirty="0">
                <a:solidFill>
                  <a:srgbClr val="333333"/>
                </a:solidFill>
                <a:effectLst/>
                <a:latin typeface="-apple-system"/>
              </a:rPr>
              <a:t>Transformer</a:t>
            </a:r>
            <a:r>
              <a:rPr lang="zh-CN" altLang="en-US" b="0" i="0" dirty="0">
                <a:solidFill>
                  <a:srgbClr val="333333"/>
                </a:solidFill>
                <a:effectLst/>
                <a:latin typeface="-apple-system"/>
              </a:rPr>
              <a:t>中，我们是对每个点单独进行</a:t>
            </a:r>
            <a:r>
              <a:rPr lang="en-US" altLang="zh-CN" b="0" i="0" dirty="0">
                <a:solidFill>
                  <a:srgbClr val="333333"/>
                </a:solidFill>
                <a:effectLst/>
                <a:latin typeface="-apple-system"/>
              </a:rPr>
              <a:t>Q,K,V</a:t>
            </a:r>
            <a:r>
              <a:rPr lang="zh-CN" altLang="en-US" b="0" i="0" dirty="0">
                <a:solidFill>
                  <a:srgbClr val="333333"/>
                </a:solidFill>
                <a:effectLst/>
                <a:latin typeface="-apple-system"/>
              </a:rPr>
              <a:t>的投影计算的。</a:t>
            </a:r>
            <a:r>
              <a:rPr lang="zh-CN" altLang="en-US" b="0" i="0" dirty="0">
                <a:solidFill>
                  <a:srgbClr val="2C2C36"/>
                </a:solidFill>
                <a:effectLst/>
                <a:latin typeface="-apple-system"/>
              </a:rPr>
              <a:t>这导致的一个问题是，比如图</a:t>
            </a:r>
            <a:r>
              <a:rPr lang="en-US" altLang="zh-CN" b="0" i="0" dirty="0">
                <a:solidFill>
                  <a:srgbClr val="2C2C36"/>
                </a:solidFill>
                <a:effectLst/>
                <a:latin typeface="-apple-system"/>
              </a:rPr>
              <a:t>(a)</a:t>
            </a:r>
            <a:r>
              <a:rPr lang="zh-CN" altLang="en-US" b="0" i="0" dirty="0">
                <a:solidFill>
                  <a:srgbClr val="2C2C36"/>
                </a:solidFill>
                <a:effectLst/>
                <a:latin typeface="-apple-system"/>
              </a:rPr>
              <a:t>中的两个红点，他们尽管在时间序列上的特征不同（一个是陡增一个是缓趋势），但是由于绝对数值一样，所以算出来的两个</a:t>
            </a:r>
            <a:r>
              <a:rPr lang="en-US" altLang="zh-CN" b="0" i="0" dirty="0">
                <a:solidFill>
                  <a:srgbClr val="2C2C36"/>
                </a:solidFill>
                <a:effectLst/>
                <a:latin typeface="-apple-system"/>
              </a:rPr>
              <a:t>attention</a:t>
            </a:r>
            <a:r>
              <a:rPr lang="zh-CN" altLang="en-US" b="0" i="0" dirty="0">
                <a:solidFill>
                  <a:srgbClr val="2C2C36"/>
                </a:solidFill>
                <a:effectLst/>
                <a:latin typeface="-apple-system"/>
              </a:rPr>
              <a:t>是很接近的而</a:t>
            </a:r>
            <a:r>
              <a:rPr lang="en-US" altLang="zh-CN" b="0" i="0" dirty="0">
                <a:solidFill>
                  <a:srgbClr val="2C2C36"/>
                </a:solidFill>
                <a:effectLst/>
                <a:latin typeface="-apple-system"/>
              </a:rPr>
              <a:t>(c</a:t>
            </a:r>
            <a:r>
              <a:rPr lang="zh-CN" altLang="en-US" b="0" i="0" dirty="0">
                <a:solidFill>
                  <a:srgbClr val="2C2C36"/>
                </a:solidFill>
                <a:effectLst/>
                <a:latin typeface="-apple-system"/>
              </a:rPr>
              <a:t>）中框起来的两块区域，他们的局部特征是很类似的，但是由于他们的绝对数值不一样，所以算出来的两个</a:t>
            </a:r>
            <a:r>
              <a:rPr lang="en-US" altLang="zh-CN" b="0" i="0" dirty="0">
                <a:solidFill>
                  <a:srgbClr val="2C2C36"/>
                </a:solidFill>
                <a:effectLst/>
                <a:latin typeface="-apple-system"/>
              </a:rPr>
              <a:t>attention</a:t>
            </a:r>
            <a:r>
              <a:rPr lang="zh-CN" altLang="en-US" b="0" i="0" dirty="0">
                <a:solidFill>
                  <a:srgbClr val="2C2C36"/>
                </a:solidFill>
                <a:effectLst/>
                <a:latin typeface="-apple-system"/>
              </a:rPr>
              <a:t>不大（但理论上应该是比较大的）。简而言之，在传统注意力机制中，</a:t>
            </a:r>
            <a:r>
              <a:rPr lang="en-US" altLang="zh-CN" b="0" i="0" dirty="0">
                <a:solidFill>
                  <a:srgbClr val="2C2C36"/>
                </a:solidFill>
                <a:effectLst/>
                <a:latin typeface="-apple-system"/>
              </a:rPr>
              <a:t>QK</a:t>
            </a:r>
            <a:r>
              <a:rPr lang="zh-CN" altLang="en-US" b="0" i="0" dirty="0">
                <a:solidFill>
                  <a:srgbClr val="2C2C36"/>
                </a:solidFill>
                <a:effectLst/>
                <a:latin typeface="-apple-system"/>
              </a:rPr>
              <a:t>的相似性基于他们的逐点值计算，而没有充分利用上下文，而这种与局部上下文无关的</a:t>
            </a:r>
            <a:r>
              <a:rPr lang="en-US" altLang="zh-CN" b="0" i="0" dirty="0">
                <a:solidFill>
                  <a:srgbClr val="2C2C36"/>
                </a:solidFill>
                <a:effectLst/>
                <a:latin typeface="-apple-system"/>
              </a:rPr>
              <a:t>QK</a:t>
            </a:r>
            <a:r>
              <a:rPr lang="zh-CN" altLang="en-US" b="0" i="0" dirty="0">
                <a:solidFill>
                  <a:srgbClr val="2C2C36"/>
                </a:solidFill>
                <a:effectLst/>
                <a:latin typeface="-apple-system"/>
              </a:rPr>
              <a:t>匹配可能会在观察值是异常点，变化点，还是模式的一部分方面混淆注意力模块，带来潜在的优化问题。</a:t>
            </a:r>
            <a:r>
              <a:rPr lang="zh-CN" altLang="en-US" b="0" i="0" dirty="0">
                <a:solidFill>
                  <a:srgbClr val="4D4D4D"/>
                </a:solidFill>
                <a:effectLst/>
                <a:latin typeface="-apple-system"/>
              </a:rPr>
              <a:t>为了让</a:t>
            </a:r>
            <a:r>
              <a:rPr lang="en-US" altLang="zh-CN" b="0" i="0" dirty="0">
                <a:solidFill>
                  <a:srgbClr val="4D4D4D"/>
                </a:solidFill>
                <a:effectLst/>
                <a:latin typeface="-apple-system"/>
              </a:rPr>
              <a:t>Transformer</a:t>
            </a:r>
            <a:r>
              <a:rPr lang="zh-CN" altLang="en-US" b="0" i="0" dirty="0">
                <a:solidFill>
                  <a:srgbClr val="4D4D4D"/>
                </a:solidFill>
                <a:effectLst/>
                <a:latin typeface="-apple-system"/>
              </a:rPr>
              <a:t>的</a:t>
            </a:r>
            <a:r>
              <a:rPr lang="en-US" altLang="zh-CN" b="0" i="0" dirty="0">
                <a:solidFill>
                  <a:srgbClr val="4D4D4D"/>
                </a:solidFill>
                <a:effectLst/>
                <a:latin typeface="-apple-system"/>
              </a:rPr>
              <a:t>Q,K</a:t>
            </a:r>
            <a:r>
              <a:rPr lang="zh-CN" altLang="en-US" b="0" i="0" dirty="0">
                <a:solidFill>
                  <a:srgbClr val="4D4D4D"/>
                </a:solidFill>
                <a:effectLst/>
                <a:latin typeface="-apple-system"/>
              </a:rPr>
              <a:t>可以看到一定时间序列的局部特征，这里引入了</a:t>
            </a:r>
            <a:r>
              <a:rPr lang="zh-CN" altLang="en-US" b="0" i="0" u="none" strike="noStrike" dirty="0">
                <a:solidFill>
                  <a:srgbClr val="FC5531"/>
                </a:solidFill>
                <a:effectLst/>
                <a:latin typeface="-apple-system"/>
                <a:hlinkClick r:id="rId3"/>
              </a:rPr>
              <a:t>卷积</a:t>
            </a:r>
            <a:r>
              <a:rPr lang="zh-CN" altLang="en-US" b="0" i="0" dirty="0">
                <a:solidFill>
                  <a:srgbClr val="4D4D4D"/>
                </a:solidFill>
                <a:effectLst/>
                <a:latin typeface="-apple-system"/>
              </a:rPr>
              <a:t>自注意力。</a:t>
            </a:r>
            <a:r>
              <a:rPr lang="zh-CN" altLang="en-US" b="0" i="0" dirty="0">
                <a:solidFill>
                  <a:srgbClr val="333333"/>
                </a:solidFill>
                <a:effectLst/>
                <a:latin typeface="-apple-system"/>
              </a:rPr>
              <a:t>这里使用</a:t>
            </a:r>
            <a:r>
              <a:rPr lang="en-US" altLang="zh-CN" b="0" i="0" dirty="0">
                <a:solidFill>
                  <a:srgbClr val="333333"/>
                </a:solidFill>
                <a:effectLst/>
                <a:latin typeface="-apple-system"/>
              </a:rPr>
              <a:t>stride</a:t>
            </a:r>
            <a:r>
              <a:rPr lang="zh-CN" altLang="en-US" b="0" i="0" dirty="0">
                <a:solidFill>
                  <a:srgbClr val="333333"/>
                </a:solidFill>
                <a:effectLst/>
                <a:latin typeface="-apple-system"/>
              </a:rPr>
              <a:t>为</a:t>
            </a:r>
            <a:r>
              <a:rPr lang="en-US" altLang="zh-CN" b="0" i="0" dirty="0">
                <a:solidFill>
                  <a:srgbClr val="333333"/>
                </a:solidFill>
                <a:effectLst/>
                <a:latin typeface="-apple-system"/>
              </a:rPr>
              <a:t>1</a:t>
            </a:r>
            <a:r>
              <a:rPr lang="zh-CN" altLang="en-US" b="0" i="0" dirty="0">
                <a:solidFill>
                  <a:srgbClr val="333333"/>
                </a:solidFill>
                <a:effectLst/>
                <a:latin typeface="-apple-system"/>
              </a:rPr>
              <a:t>，</a:t>
            </a:r>
            <a:r>
              <a:rPr lang="en-US" altLang="zh-CN" b="0" i="0" dirty="0">
                <a:solidFill>
                  <a:srgbClr val="333333"/>
                </a:solidFill>
                <a:effectLst/>
                <a:latin typeface="-apple-system"/>
              </a:rPr>
              <a:t>kernel</a:t>
            </a:r>
            <a:r>
              <a:rPr lang="zh-CN" altLang="en-US" b="0" i="0" dirty="0">
                <a:solidFill>
                  <a:srgbClr val="333333"/>
                </a:solidFill>
                <a:effectLst/>
                <a:latin typeface="-apple-system"/>
              </a:rPr>
              <a:t>大小为</a:t>
            </a:r>
            <a:r>
              <a:rPr lang="en-US" altLang="zh-CN" b="0" i="0" dirty="0">
                <a:solidFill>
                  <a:srgbClr val="333333"/>
                </a:solidFill>
                <a:effectLst/>
                <a:latin typeface="-apple-system"/>
              </a:rPr>
              <a:t>k</a:t>
            </a:r>
            <a:r>
              <a:rPr lang="zh-CN" altLang="en-US" b="0" i="0" dirty="0">
                <a:solidFill>
                  <a:srgbClr val="333333"/>
                </a:solidFill>
                <a:effectLst/>
                <a:latin typeface="-apple-system"/>
              </a:rPr>
              <a:t>的因果卷积来计算</a:t>
            </a:r>
            <a:r>
              <a:rPr lang="en-US" altLang="zh-CN" b="0" i="0" dirty="0">
                <a:solidFill>
                  <a:srgbClr val="333333"/>
                </a:solidFill>
                <a:effectLst/>
                <a:latin typeface="-apple-system"/>
              </a:rPr>
              <a:t>Q</a:t>
            </a:r>
            <a:r>
              <a:rPr lang="zh-CN" altLang="en-US" b="0" i="0" dirty="0">
                <a:solidFill>
                  <a:srgbClr val="333333"/>
                </a:solidFill>
                <a:effectLst/>
                <a:latin typeface="-apple-system"/>
              </a:rPr>
              <a:t>和</a:t>
            </a:r>
            <a:r>
              <a:rPr lang="en-US" altLang="zh-CN" b="0" i="0" dirty="0">
                <a:solidFill>
                  <a:srgbClr val="333333"/>
                </a:solidFill>
                <a:effectLst/>
                <a:latin typeface="-apple-system"/>
              </a:rPr>
              <a:t>K</a:t>
            </a:r>
            <a:r>
              <a:rPr lang="zh-CN" altLang="en-US" b="0" i="0" dirty="0">
                <a:solidFill>
                  <a:srgbClr val="333333"/>
                </a:solidFill>
                <a:effectLst/>
                <a:latin typeface="-apple-system"/>
              </a:rPr>
              <a:t>。通过因果卷积，</a:t>
            </a:r>
            <a:r>
              <a:rPr lang="en-US" altLang="zh-CN" b="0" i="0" dirty="0">
                <a:solidFill>
                  <a:srgbClr val="333333"/>
                </a:solidFill>
                <a:effectLst/>
                <a:latin typeface="-apple-system"/>
              </a:rPr>
              <a:t>Q</a:t>
            </a:r>
            <a:r>
              <a:rPr lang="zh-CN" altLang="en-US" b="0" i="0" dirty="0">
                <a:solidFill>
                  <a:srgbClr val="333333"/>
                </a:solidFill>
                <a:effectLst/>
                <a:latin typeface="-apple-system"/>
              </a:rPr>
              <a:t>和</a:t>
            </a:r>
            <a:r>
              <a:rPr lang="en-US" altLang="zh-CN" b="0" i="0" dirty="0">
                <a:solidFill>
                  <a:srgbClr val="333333"/>
                </a:solidFill>
                <a:effectLst/>
                <a:latin typeface="-apple-system"/>
              </a:rPr>
              <a:t>K</a:t>
            </a:r>
            <a:r>
              <a:rPr lang="zh-CN" altLang="en-US" b="0" i="0" dirty="0">
                <a:solidFill>
                  <a:srgbClr val="333333"/>
                </a:solidFill>
                <a:effectLst/>
                <a:latin typeface="-apple-system"/>
              </a:rPr>
              <a:t>可以更好地知晓当前时刻的局部时间序列信息。</a:t>
            </a:r>
            <a:r>
              <a:rPr lang="en-US" altLang="zh-CN" b="1" dirty="0"/>
              <a:t>	</a:t>
            </a:r>
            <a:r>
              <a:rPr lang="zh-CN" altLang="en-US" b="1" dirty="0"/>
              <a:t>上面</a:t>
            </a:r>
            <a:r>
              <a:rPr lang="en-US" altLang="zh-CN" b="1" dirty="0"/>
              <a:t>4</a:t>
            </a:r>
            <a:r>
              <a:rPr lang="zh-CN" altLang="en-US" b="1" dirty="0"/>
              <a:t>个网络都是</a:t>
            </a:r>
            <a:r>
              <a:rPr lang="en-US" altLang="zh-CN" b="1" dirty="0"/>
              <a:t>transformer</a:t>
            </a:r>
            <a:r>
              <a:rPr lang="zh-CN" altLang="en-US" b="1" dirty="0"/>
              <a:t>在时间序列处理问题上的变体应用，其共性之处在于都是</a:t>
            </a:r>
            <a:r>
              <a:rPr lang="en-US" altLang="zh-CN" b="1" dirty="0"/>
              <a:t>transformer</a:t>
            </a:r>
            <a:r>
              <a:rPr lang="zh-CN" altLang="en-US" b="1" dirty="0"/>
              <a:t>和卷积网络的融合，差别在于两者融合的方式。</a:t>
            </a:r>
            <a:r>
              <a:rPr lang="en-US" altLang="zh-CN" b="1" dirty="0" err="1"/>
              <a:t>EEGnet</a:t>
            </a:r>
            <a:r>
              <a:rPr lang="zh-CN" altLang="en-US" b="1" dirty="0"/>
              <a:t>将卷积放在自注意力机制之外，作特征提取的前序步骤，</a:t>
            </a:r>
            <a:r>
              <a:rPr lang="en-US" altLang="zh-CN" b="1" dirty="0"/>
              <a:t>conformer</a:t>
            </a:r>
            <a:r>
              <a:rPr lang="zh-CN" altLang="en-US" b="1" dirty="0"/>
              <a:t>和</a:t>
            </a:r>
            <a:r>
              <a:rPr lang="en-US" altLang="zh-CN" b="1" dirty="0" err="1"/>
              <a:t>Squeezeformer</a:t>
            </a:r>
            <a:r>
              <a:rPr lang="zh-CN" altLang="en-US" b="1" dirty="0"/>
              <a:t>则是将卷积放在了自注意力模块内部的不同位置，</a:t>
            </a:r>
            <a:r>
              <a:rPr lang="zh-CN" altLang="en-US" b="0" i="0" dirty="0">
                <a:solidFill>
                  <a:srgbClr val="2C2C36"/>
                </a:solidFill>
                <a:effectLst/>
                <a:latin typeface="-apple-system"/>
              </a:rPr>
              <a:t>目的是捕获基于相对偏移的局部相关性。最后这篇文章也是为了利用局部上下文的特征，但其将一维因果卷积添加到了</a:t>
            </a:r>
            <a:r>
              <a:rPr lang="en-US" altLang="zh-CN" b="0" i="0" dirty="0">
                <a:solidFill>
                  <a:srgbClr val="2C2C36"/>
                </a:solidFill>
                <a:effectLst/>
                <a:latin typeface="-apple-system"/>
              </a:rPr>
              <a:t>Q</a:t>
            </a:r>
            <a:r>
              <a:rPr lang="zh-CN" altLang="en-US" b="0" i="0" dirty="0">
                <a:solidFill>
                  <a:srgbClr val="2C2C36"/>
                </a:solidFill>
                <a:effectLst/>
                <a:latin typeface="-apple-system"/>
              </a:rPr>
              <a:t>，</a:t>
            </a:r>
            <a:r>
              <a:rPr lang="en-US" altLang="zh-CN" b="0" i="0" dirty="0">
                <a:solidFill>
                  <a:srgbClr val="2C2C36"/>
                </a:solidFill>
                <a:effectLst/>
                <a:latin typeface="-apple-system"/>
              </a:rPr>
              <a:t>K</a:t>
            </a:r>
            <a:r>
              <a:rPr lang="zh-CN" altLang="en-US" b="0" i="0" dirty="0">
                <a:solidFill>
                  <a:srgbClr val="2C2C36"/>
                </a:solidFill>
                <a:effectLst/>
                <a:latin typeface="-apple-system"/>
              </a:rPr>
              <a:t>矩阵点乘之前，从而很好地弥补了自注意力模块在局部特征提取方面地不足。</a:t>
            </a:r>
          </a:p>
          <a:p>
            <a:endParaRPr lang="zh-CN" altLang="en-US" dirty="0"/>
          </a:p>
        </p:txBody>
      </p:sp>
      <p:sp>
        <p:nvSpPr>
          <p:cNvPr id="4" name="灯片编号占位符 3">
            <a:extLst>
              <a:ext uri="{FF2B5EF4-FFF2-40B4-BE49-F238E27FC236}">
                <a16:creationId xmlns:a16="http://schemas.microsoft.com/office/drawing/2014/main" id="{ABBFE3EB-C391-35A1-D787-0E9ADF7E5381}"/>
              </a:ext>
            </a:extLst>
          </p:cNvPr>
          <p:cNvSpPr>
            <a:spLocks noGrp="1"/>
          </p:cNvSpPr>
          <p:nvPr>
            <p:ph type="sldNum" sz="quarter" idx="5"/>
          </p:nvPr>
        </p:nvSpPr>
        <p:spPr/>
        <p:txBody>
          <a:bodyPr/>
          <a:lstStyle/>
          <a:p>
            <a:fld id="{D5CE17B9-3885-4DD3-8538-856F6E08ECCA}" type="slidenum">
              <a:rPr lang="zh-CN" altLang="en-US" smtClean="0"/>
              <a:t>20</a:t>
            </a:fld>
            <a:endParaRPr lang="zh-CN" altLang="en-US"/>
          </a:p>
        </p:txBody>
      </p:sp>
    </p:spTree>
    <p:extLst>
      <p:ext uri="{BB962C8B-B14F-4D97-AF65-F5344CB8AC3E}">
        <p14:creationId xmlns:p14="http://schemas.microsoft.com/office/powerpoint/2010/main" val="3296045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6046A8-25B4-8599-CD03-C3863C32671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2088AC5-A2E9-9569-D749-139ABB9C8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1CFF29B-4B86-CD58-CD17-3EE5C8C12AB1}"/>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5" name="页脚占位符 4">
            <a:extLst>
              <a:ext uri="{FF2B5EF4-FFF2-40B4-BE49-F238E27FC236}">
                <a16:creationId xmlns:a16="http://schemas.microsoft.com/office/drawing/2014/main" id="{8D496447-8592-4E34-C991-2C66629536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D4B61C-51F3-D1EF-0AE3-6B63F0BC513A}"/>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437484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6B1CBB-B147-444E-910C-6A5F73DF46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0A47CC7-F699-EA7E-B1F4-26BF344B6C4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8E00E9-AA8C-6EE2-3BA9-6686448B88A5}"/>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5" name="页脚占位符 4">
            <a:extLst>
              <a:ext uri="{FF2B5EF4-FFF2-40B4-BE49-F238E27FC236}">
                <a16:creationId xmlns:a16="http://schemas.microsoft.com/office/drawing/2014/main" id="{B5D41B42-9F12-957D-6447-5D728245FF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E143F6-C6D2-AFA1-9AF3-F1D94FA503F6}"/>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1484056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936156-3F50-15EC-D63E-371E9B2D89B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E7F0D7F-A57F-91BA-2E20-7F87BC617B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29D402E-E856-B89D-44A1-FA62E59AD5FB}"/>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5" name="页脚占位符 4">
            <a:extLst>
              <a:ext uri="{FF2B5EF4-FFF2-40B4-BE49-F238E27FC236}">
                <a16:creationId xmlns:a16="http://schemas.microsoft.com/office/drawing/2014/main" id="{8EE7FAE6-B38D-3759-F49D-F74EE86BC23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81869C-A8CC-DD49-FB43-E50A5662CC0C}"/>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538935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1BD8EA-5F6C-98B9-96A2-6E83E2781E3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9AA22A-449A-C1A0-B001-5FB1ED7CB8B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0E000E9-5F2F-F6BA-C6D2-85759339B8B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39FF033-4B32-943E-CB75-EB5A1CA741BF}"/>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6" name="页脚占位符 5">
            <a:extLst>
              <a:ext uri="{FF2B5EF4-FFF2-40B4-BE49-F238E27FC236}">
                <a16:creationId xmlns:a16="http://schemas.microsoft.com/office/drawing/2014/main" id="{6D4021EA-74B8-48A7-30BD-5DD5AB332B2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C522FEF-4E9E-7901-D0EB-F9F9DEAB897C}"/>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3954894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597744-A9BA-4B0A-C220-C91755C8E31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687165A-3A31-C7C7-D8EB-FD798061C1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DCD73B0-15D9-4EC8-919A-910A6622A6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A22817C-D379-B949-41EB-8BB449630A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123FFBC-1D6C-D137-679C-42A039C7D54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37833A-38AC-7770-9302-08FB2CC4145E}"/>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8" name="页脚占位符 7">
            <a:extLst>
              <a:ext uri="{FF2B5EF4-FFF2-40B4-BE49-F238E27FC236}">
                <a16:creationId xmlns:a16="http://schemas.microsoft.com/office/drawing/2014/main" id="{4A2A5301-6FC9-F0E3-D33D-4CB0233A13A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787303D-AC93-00AC-117B-6AEEF255C468}"/>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3288987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A5E2F5-542F-AE7D-CB30-0FA1972ADBA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EBEB6F-19FA-0848-9EAF-5D144F2D8485}"/>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4" name="页脚占位符 3">
            <a:extLst>
              <a:ext uri="{FF2B5EF4-FFF2-40B4-BE49-F238E27FC236}">
                <a16:creationId xmlns:a16="http://schemas.microsoft.com/office/drawing/2014/main" id="{35001C3E-77BA-CA05-5189-07C4589A0AB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020840F-45CC-72E4-1334-9D0C7E5B887C}"/>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2031863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307E62-7D04-382E-63F6-F8494C9C4253}"/>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3" name="页脚占位符 2">
            <a:extLst>
              <a:ext uri="{FF2B5EF4-FFF2-40B4-BE49-F238E27FC236}">
                <a16:creationId xmlns:a16="http://schemas.microsoft.com/office/drawing/2014/main" id="{AF799C4F-0B6E-16E1-0D95-6B48CDEB0EC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A207C74-CDC4-3706-AD2D-8C4B6787A1D9}"/>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3198720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B57C91-58DB-F33A-D458-91E44B34282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05FBCCF-679F-E1AE-B210-CD0E6AC349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EB6980A-E6E3-1561-6568-424B4B2B53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298D61-BC3B-B086-E15F-C48EE242CF58}"/>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6" name="页脚占位符 5">
            <a:extLst>
              <a:ext uri="{FF2B5EF4-FFF2-40B4-BE49-F238E27FC236}">
                <a16:creationId xmlns:a16="http://schemas.microsoft.com/office/drawing/2014/main" id="{0924A9B2-C309-3087-46BC-8032A41BA5F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4B1749E-5661-A375-0157-DE315CCC4002}"/>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141075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4733DE-C9F4-2091-158B-0F9313BBEA9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62C72DF-3691-CCAF-9867-FCE09860E2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43970C7-34C2-9401-D337-DBB50758A9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AF4824F-BFC5-FC2B-BC79-D8AE48DB3A10}"/>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6" name="页脚占位符 5">
            <a:extLst>
              <a:ext uri="{FF2B5EF4-FFF2-40B4-BE49-F238E27FC236}">
                <a16:creationId xmlns:a16="http://schemas.microsoft.com/office/drawing/2014/main" id="{16AB08FA-564A-4142-C75E-31155F12C2A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BCD6DC0-DEF6-1922-7903-97BB23B5B705}"/>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1133232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9E515-C671-E1AF-F9D3-B16919F53D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F4FA217-056A-21B3-EB56-2DA6D459A1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FE716E-8340-C194-1BEE-8F79EA3CD5E6}"/>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5" name="页脚占位符 4">
            <a:extLst>
              <a:ext uri="{FF2B5EF4-FFF2-40B4-BE49-F238E27FC236}">
                <a16:creationId xmlns:a16="http://schemas.microsoft.com/office/drawing/2014/main" id="{AE59B317-9BBC-AD5B-A29C-8510F0E983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9CA73F-7CA2-1460-1F63-EB04130B545C}"/>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242035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0258B3-3879-0A43-103A-AC751EC3E6F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C8A5264-C856-ED7D-5905-E1F916AF3D6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150C6D-BC22-F4C2-9E94-43FA9EC9750B}"/>
              </a:ext>
            </a:extLst>
          </p:cNvPr>
          <p:cNvSpPr>
            <a:spLocks noGrp="1"/>
          </p:cNvSpPr>
          <p:nvPr>
            <p:ph type="dt" sz="half" idx="10"/>
          </p:nvPr>
        </p:nvSpPr>
        <p:spPr/>
        <p:txBody>
          <a:bodyPr/>
          <a:lstStyle/>
          <a:p>
            <a:fld id="{C32574B8-0871-46E8-8100-953885AF461D}" type="datetimeFigureOut">
              <a:rPr lang="zh-CN" altLang="en-US" smtClean="0"/>
              <a:t>2025/2/24</a:t>
            </a:fld>
            <a:endParaRPr lang="zh-CN" altLang="en-US"/>
          </a:p>
        </p:txBody>
      </p:sp>
      <p:sp>
        <p:nvSpPr>
          <p:cNvPr id="5" name="页脚占位符 4">
            <a:extLst>
              <a:ext uri="{FF2B5EF4-FFF2-40B4-BE49-F238E27FC236}">
                <a16:creationId xmlns:a16="http://schemas.microsoft.com/office/drawing/2014/main" id="{83624E8E-DA24-1300-D881-3C2BBBF41C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A569A7-CE00-C201-C5D5-9DD3F97CA94E}"/>
              </a:ext>
            </a:extLst>
          </p:cNvPr>
          <p:cNvSpPr>
            <a:spLocks noGrp="1"/>
          </p:cNvSpPr>
          <p:nvPr>
            <p:ph type="sldNum" sz="quarter" idx="12"/>
          </p:nvPr>
        </p:nvSpPr>
        <p:spPr/>
        <p:txBody>
          <a:body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381321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8DF16317-6E04-48D3-A876-BF86CAA7DDD4}" type="datetime1">
              <a:rPr lang="zh-CN" altLang="en-US"/>
              <a:t>2025/2/24</a:t>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73A6D755-3138-4900-AEFB-49A98F856995}" type="slidenum">
              <a:rPr lang="zh-CN" altLang="en-US"/>
              <a:t>‹#›</a:t>
            </a:fld>
            <a:endParaRPr lang="zh-CN" altLang="en-US" sz="1800">
              <a:solidFill>
                <a:schemeClr val="tx1"/>
              </a:solidFill>
            </a:endParaRPr>
          </a:p>
        </p:txBody>
      </p:sp>
    </p:spTree>
    <p:extLst>
      <p:ext uri="{BB962C8B-B14F-4D97-AF65-F5344CB8AC3E}">
        <p14:creationId xmlns:p14="http://schemas.microsoft.com/office/powerpoint/2010/main" val="1673291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686D7F7-EF44-240B-6AAA-E61CEA3F3D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C15B717-B2BC-6EC3-4F72-9842776435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91D233-093A-62DA-78D0-1A65618E2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2574B8-0871-46E8-8100-953885AF461D}" type="datetimeFigureOut">
              <a:rPr lang="zh-CN" altLang="en-US" smtClean="0"/>
              <a:t>2025/2/24</a:t>
            </a:fld>
            <a:endParaRPr lang="zh-CN" altLang="en-US"/>
          </a:p>
        </p:txBody>
      </p:sp>
      <p:sp>
        <p:nvSpPr>
          <p:cNvPr id="5" name="页脚占位符 4">
            <a:extLst>
              <a:ext uri="{FF2B5EF4-FFF2-40B4-BE49-F238E27FC236}">
                <a16:creationId xmlns:a16="http://schemas.microsoft.com/office/drawing/2014/main" id="{F9A7ECD1-2F5E-9820-E3D6-95B725561D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3C903A3-5057-C8A9-0D4D-3BA77E22BC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2443EB-38BB-4EBF-A936-2080726454E7}" type="slidenum">
              <a:rPr lang="zh-CN" altLang="en-US" smtClean="0"/>
              <a:t>‹#›</a:t>
            </a:fld>
            <a:endParaRPr lang="zh-CN" altLang="en-US"/>
          </a:p>
        </p:txBody>
      </p:sp>
    </p:spTree>
    <p:extLst>
      <p:ext uri="{BB962C8B-B14F-4D97-AF65-F5344CB8AC3E}">
        <p14:creationId xmlns:p14="http://schemas.microsoft.com/office/powerpoint/2010/main" val="2134166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image" Target="../media/image4.png"/><Relationship Id="rId7"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emf"/><Relationship Id="rId5" Type="http://schemas.openxmlformats.org/officeDocument/2006/relationships/image" Target="../media/image5.wmf"/><Relationship Id="rId10" Type="http://schemas.openxmlformats.org/officeDocument/2006/relationships/image" Target="../media/image8.wmf"/><Relationship Id="rId4" Type="http://schemas.openxmlformats.org/officeDocument/2006/relationships/oleObject" Target="../embeddings/oleObject1.bin"/><Relationship Id="rId9"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4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robot9.me/ai-model-quantization-principles-practic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robot9.me/ai-model-quantization-principles-practice/"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矩形 30"/>
          <p:cNvSpPr>
            <a:spLocks noChangeArrowheads="1"/>
          </p:cNvSpPr>
          <p:nvPr/>
        </p:nvSpPr>
        <p:spPr bwMode="auto">
          <a:xfrm>
            <a:off x="4721472" y="4574640"/>
            <a:ext cx="243207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000"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导师：张   明   教授</a:t>
            </a:r>
            <a:endParaRPr lang="en-US" altLang="zh-CN" sz="2000"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00000"/>
              </a:lnSpc>
              <a:spcBef>
                <a:spcPct val="0"/>
              </a:spcBef>
              <a:buFont typeface="Arial" panose="020B0604020202020204" pitchFamily="34" charset="0"/>
              <a:buNone/>
            </a:pPr>
            <a:endParaRPr lang="en-US" altLang="zh-CN" sz="2000"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00000"/>
              </a:lnSpc>
              <a:spcBef>
                <a:spcPct val="0"/>
              </a:spcBef>
              <a:buFont typeface="Arial" panose="020B0604020202020204" pitchFamily="34" charset="0"/>
              <a:buNone/>
            </a:pPr>
            <a:r>
              <a:rPr lang="zh-CN" altLang="en-US" sz="2000"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答辩：程贤哲</a:t>
            </a:r>
          </a:p>
        </p:txBody>
      </p:sp>
      <p:sp>
        <p:nvSpPr>
          <p:cNvPr id="3078" name="矩形 27"/>
          <p:cNvSpPr>
            <a:spLocks noChangeArrowheads="1"/>
          </p:cNvSpPr>
          <p:nvPr/>
        </p:nvSpPr>
        <p:spPr bwMode="auto">
          <a:xfrm>
            <a:off x="621102" y="2229869"/>
            <a:ext cx="1050697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lnSpc>
                <a:spcPct val="100000"/>
              </a:lnSpc>
              <a:spcBef>
                <a:spcPct val="0"/>
              </a:spcBef>
              <a:buNone/>
            </a:pPr>
            <a:r>
              <a:rPr lang="zh-CN" altLang="en-US" sz="6000" b="1"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基于自注意力机制的脑电解码及硬件系统设计</a:t>
            </a:r>
            <a:endParaRPr lang="zh-CN" altLang="en-US" sz="1800" b="1" dirty="0">
              <a:solidFill>
                <a:schemeClr val="accent1">
                  <a:lumMod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B25039-A31E-9718-BBC7-45296CBCFDDC}"/>
              </a:ext>
            </a:extLst>
          </p:cNvPr>
          <p:cNvSpPr>
            <a:spLocks noGrp="1"/>
          </p:cNvSpPr>
          <p:nvPr>
            <p:ph type="dt" sz="half" idx="10"/>
          </p:nvPr>
        </p:nvSpPr>
        <p:spPr/>
        <p:txBody>
          <a:bodyPr/>
          <a:lstStyle/>
          <a:p>
            <a:pPr>
              <a:defRPr/>
            </a:pPr>
            <a:fld id="{7D57CFF5-4EAE-4F64-9EA4-AF1639666708}" type="datetime1">
              <a:rPr lang="zh-CN" altLang="en-US" smtClean="0"/>
              <a:t>2025/2/24</a:t>
            </a:fld>
            <a:endParaRPr lang="zh-CN" altLang="en-US" sz="1800">
              <a:solidFill>
                <a:schemeClr val="tx1"/>
              </a:solidFill>
            </a:endParaRPr>
          </a:p>
        </p:txBody>
      </p:sp>
      <p:sp>
        <p:nvSpPr>
          <p:cNvPr id="31" name="文本框 8">
            <a:extLst>
              <a:ext uri="{FF2B5EF4-FFF2-40B4-BE49-F238E27FC236}">
                <a16:creationId xmlns:a16="http://schemas.microsoft.com/office/drawing/2014/main" id="{0376C83D-884B-AA19-EA50-2DDC177DB949}"/>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6754185D-A0F1-2FBB-91DF-DE77B7C8CA0C}"/>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sp>
        <p:nvSpPr>
          <p:cNvPr id="7" name="文本框 6">
            <a:extLst>
              <a:ext uri="{FF2B5EF4-FFF2-40B4-BE49-F238E27FC236}">
                <a16:creationId xmlns:a16="http://schemas.microsoft.com/office/drawing/2014/main" id="{E64AFA69-58AF-181C-0064-384185DCEF0E}"/>
              </a:ext>
            </a:extLst>
          </p:cNvPr>
          <p:cNvSpPr>
            <a:spLocks noChangeArrowheads="1"/>
          </p:cNvSpPr>
          <p:nvPr/>
        </p:nvSpPr>
        <p:spPr bwMode="auto">
          <a:xfrm>
            <a:off x="5120831" y="3190127"/>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00000"/>
              </a:lnSpc>
              <a:spcBef>
                <a:spcPct val="0"/>
              </a:spcBef>
              <a:buNone/>
            </a:pPr>
            <a:r>
              <a:rPr lang="zh-CN" altLang="en-US" b="1" dirty="0">
                <a:solidFill>
                  <a:srgbClr val="032345"/>
                </a:solidFill>
                <a:latin typeface="微软雅黑" panose="020B0503020204020204" pitchFamily="34" charset="-122"/>
                <a:ea typeface="微软雅黑" panose="020B0503020204020204" pitchFamily="34" charset="-122"/>
                <a:sym typeface="微软雅黑" panose="020B0503020204020204" pitchFamily="34" charset="-122"/>
              </a:rPr>
              <a:t>研究现状</a:t>
            </a:r>
            <a:endParaRPr lang="zh-CN" altLang="en-US" sz="1800" dirty="0"/>
          </a:p>
        </p:txBody>
      </p:sp>
      <p:sp>
        <p:nvSpPr>
          <p:cNvPr id="8" name="文本框 6">
            <a:extLst>
              <a:ext uri="{FF2B5EF4-FFF2-40B4-BE49-F238E27FC236}">
                <a16:creationId xmlns:a16="http://schemas.microsoft.com/office/drawing/2014/main" id="{6D6EF7DA-EDFB-AABE-929C-2AAA482A5345}"/>
              </a:ext>
            </a:extLst>
          </p:cNvPr>
          <p:cNvSpPr>
            <a:spLocks noChangeArrowheads="1"/>
          </p:cNvSpPr>
          <p:nvPr/>
        </p:nvSpPr>
        <p:spPr bwMode="auto">
          <a:xfrm>
            <a:off x="5120831" y="3905666"/>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00000"/>
              </a:lnSpc>
              <a:spcBef>
                <a:spcPct val="0"/>
              </a:spcBef>
              <a:buNone/>
            </a:pPr>
            <a:r>
              <a:rPr lang="zh-CN" altLang="en-US" b="1" dirty="0">
                <a:solidFill>
                  <a:srgbClr val="032345"/>
                </a:solidFill>
                <a:latin typeface="微软雅黑" panose="020B0503020204020204" pitchFamily="34" charset="-122"/>
                <a:ea typeface="微软雅黑" panose="020B0503020204020204" pitchFamily="34" charset="-122"/>
              </a:rPr>
              <a:t>研究目标</a:t>
            </a:r>
          </a:p>
        </p:txBody>
      </p:sp>
      <p:cxnSp>
        <p:nvCxnSpPr>
          <p:cNvPr id="3" name="直接连接符 2">
            <a:extLst>
              <a:ext uri="{FF2B5EF4-FFF2-40B4-BE49-F238E27FC236}">
                <a16:creationId xmlns:a16="http://schemas.microsoft.com/office/drawing/2014/main" id="{B4C76E51-147E-69E9-D177-BAF5909FCA73}"/>
              </a:ext>
            </a:extLst>
          </p:cNvPr>
          <p:cNvCxnSpPr/>
          <p:nvPr/>
        </p:nvCxnSpPr>
        <p:spPr bwMode="auto">
          <a:xfrm>
            <a:off x="944033" y="1557869"/>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1C696CDE-4902-874B-A024-101EB8DA82F3}"/>
              </a:ext>
            </a:extLst>
          </p:cNvPr>
          <p:cNvSpPr txBox="1"/>
          <p:nvPr/>
        </p:nvSpPr>
        <p:spPr>
          <a:xfrm>
            <a:off x="5274720" y="431078"/>
            <a:ext cx="1313180" cy="769441"/>
          </a:xfrm>
          <a:prstGeom prst="rect">
            <a:avLst/>
          </a:prstGeom>
          <a:noFill/>
        </p:spPr>
        <p:txBody>
          <a:bodyPr wrap="none" rtlCol="0">
            <a:spAutoFit/>
          </a:bodyPr>
          <a:lstStyle/>
          <a:p>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目录</a:t>
            </a:r>
          </a:p>
        </p:txBody>
      </p:sp>
      <p:sp>
        <p:nvSpPr>
          <p:cNvPr id="13" name="文本框 12">
            <a:extLst>
              <a:ext uri="{FF2B5EF4-FFF2-40B4-BE49-F238E27FC236}">
                <a16:creationId xmlns:a16="http://schemas.microsoft.com/office/drawing/2014/main" id="{0BEF5604-7CEB-CF2B-6946-A0D4BFD0BE85}"/>
              </a:ext>
            </a:extLst>
          </p:cNvPr>
          <p:cNvSpPr txBox="1"/>
          <p:nvPr/>
        </p:nvSpPr>
        <p:spPr>
          <a:xfrm>
            <a:off x="4387839" y="2364716"/>
            <a:ext cx="3416320" cy="523220"/>
          </a:xfrm>
          <a:prstGeom prst="rect">
            <a:avLst/>
          </a:prstGeom>
          <a:noFill/>
        </p:spPr>
        <p:txBody>
          <a:bodyPr wrap="square">
            <a:spAutoFit/>
          </a:bodyPr>
          <a:lstStyle/>
          <a:p>
            <a:pPr marL="0" marR="0" lvl="0" indent="0" defTabSz="914400" eaLnBrk="1" latinLnBrk="0" hangingPunct="1">
              <a:buClrTx/>
              <a:buSzTx/>
              <a:tabLst/>
              <a:defRPr/>
            </a:pPr>
            <a:r>
              <a:rPr lang="zh-CN" altLang="en-US" sz="2800" b="1" dirty="0">
                <a:solidFill>
                  <a:srgbClr val="032345"/>
                </a:solidFill>
                <a:latin typeface="微软雅黑" panose="020B0503020204020204" pitchFamily="34" charset="-122"/>
                <a:ea typeface="微软雅黑" panose="020B0503020204020204" pitchFamily="34" charset="-122"/>
                <a:sym typeface="微软雅黑" panose="020B0503020204020204" pitchFamily="34" charset="-122"/>
              </a:rPr>
              <a:t>论文选题立论依据</a:t>
            </a:r>
          </a:p>
        </p:txBody>
      </p:sp>
      <p:sp>
        <p:nvSpPr>
          <p:cNvPr id="5" name="文本框 6">
            <a:extLst>
              <a:ext uri="{FF2B5EF4-FFF2-40B4-BE49-F238E27FC236}">
                <a16:creationId xmlns:a16="http://schemas.microsoft.com/office/drawing/2014/main" id="{6E50BA30-5FC2-1F89-A180-DC17D0690105}"/>
              </a:ext>
            </a:extLst>
          </p:cNvPr>
          <p:cNvSpPr>
            <a:spLocks noChangeArrowheads="1"/>
          </p:cNvSpPr>
          <p:nvPr/>
        </p:nvSpPr>
        <p:spPr bwMode="auto">
          <a:xfrm>
            <a:off x="4387839" y="4621205"/>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00000"/>
              </a:lnSpc>
              <a:spcBef>
                <a:spcPct val="0"/>
              </a:spcBef>
              <a:buNone/>
            </a:pPr>
            <a:r>
              <a:rPr lang="zh-CN" altLang="en-US" b="1" dirty="0">
                <a:solidFill>
                  <a:srgbClr val="032345"/>
                </a:solidFill>
                <a:latin typeface="微软雅黑" panose="020B0503020204020204" pitchFamily="34" charset="-122"/>
                <a:ea typeface="微软雅黑" panose="020B0503020204020204" pitchFamily="34" charset="-122"/>
              </a:rPr>
              <a:t>研究内容及技术路线</a:t>
            </a:r>
          </a:p>
        </p:txBody>
      </p:sp>
    </p:spTree>
    <p:extLst>
      <p:ext uri="{BB962C8B-B14F-4D97-AF65-F5344CB8AC3E}">
        <p14:creationId xmlns:p14="http://schemas.microsoft.com/office/powerpoint/2010/main" val="2581616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35DAA-D7C4-FE17-D900-65B64D9128CB}"/>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E2B63656-7386-A437-9689-9C0A0FB0914F}"/>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8465ECE3-780E-2646-BA77-D04C67C96B5C}"/>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AF8C2999-07B1-791D-18CD-24DFC95A83FF}"/>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95DE9AD7-36A8-92F5-16C4-1ADE2BA8049C}"/>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3ACB6F93-F220-9065-602C-B1E2C09CEB50}"/>
              </a:ext>
            </a:extLst>
          </p:cNvPr>
          <p:cNvSpPr txBox="1"/>
          <p:nvPr/>
        </p:nvSpPr>
        <p:spPr>
          <a:xfrm>
            <a:off x="3713234" y="152793"/>
            <a:ext cx="4698722"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论文选题立论依据</a:t>
            </a:r>
          </a:p>
        </p:txBody>
      </p:sp>
      <p:sp>
        <p:nvSpPr>
          <p:cNvPr id="5" name="文本框 4">
            <a:extLst>
              <a:ext uri="{FF2B5EF4-FFF2-40B4-BE49-F238E27FC236}">
                <a16:creationId xmlns:a16="http://schemas.microsoft.com/office/drawing/2014/main" id="{6D44A774-DB98-3962-8CE8-25F6E43E4785}"/>
              </a:ext>
            </a:extLst>
          </p:cNvPr>
          <p:cNvSpPr txBox="1"/>
          <p:nvPr/>
        </p:nvSpPr>
        <p:spPr>
          <a:xfrm>
            <a:off x="1456206" y="994586"/>
            <a:ext cx="9212779" cy="584775"/>
          </a:xfrm>
          <a:prstGeom prst="rect">
            <a:avLst/>
          </a:prstGeom>
          <a:noFill/>
        </p:spPr>
        <p:txBody>
          <a:bodyPr wrap="none" rtlCol="0">
            <a:spAutoFit/>
          </a:bodyPr>
          <a:lstStyle/>
          <a:p>
            <a:pPr algn="ctr">
              <a:lnSpc>
                <a:spcPct val="100000"/>
              </a:lnSpc>
              <a:spcBef>
                <a:spcPct val="0"/>
              </a:spcBef>
              <a:buNone/>
            </a:pPr>
            <a:r>
              <a:rPr lang="en-US" altLang="zh-CN" sz="3200" b="1"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3200" b="1"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基于自注意力机制的脑电解码及硬件系统设计</a:t>
            </a:r>
            <a:r>
              <a:rPr lang="en-US" altLang="zh-CN" sz="3200" b="1"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10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58062A3-892C-C3D4-9F1D-052DAA63EB58}"/>
              </a:ext>
            </a:extLst>
          </p:cNvPr>
          <p:cNvSpPr txBox="1"/>
          <p:nvPr/>
        </p:nvSpPr>
        <p:spPr>
          <a:xfrm>
            <a:off x="2906361" y="2643276"/>
            <a:ext cx="7237369" cy="1200329"/>
          </a:xfrm>
          <a:prstGeom prst="rect">
            <a:avLst/>
          </a:prstGeom>
          <a:noFill/>
        </p:spPr>
        <p:txBody>
          <a:bodyPr wrap="square" rtlCol="0">
            <a:spAutoFit/>
          </a:bodyPr>
          <a:lstStyle/>
          <a:p>
            <a:pPr algn="l" fontAlgn="t">
              <a:buFont typeface="+mj-lt"/>
              <a:buAutoNum type="arabicPeriod"/>
            </a:pPr>
            <a:r>
              <a:rPr lang="zh-CN" altLang="en-US" sz="2400" b="1" i="0" dirty="0">
                <a:solidFill>
                  <a:srgbClr val="2C2C36"/>
                </a:solidFill>
                <a:effectLst/>
                <a:latin typeface="-apple-system"/>
              </a:rPr>
              <a:t>神经网络进步显著</a:t>
            </a:r>
            <a:br>
              <a:rPr lang="zh-CN" altLang="en-US" sz="2400" b="0" i="0" dirty="0">
                <a:solidFill>
                  <a:srgbClr val="2C2C36"/>
                </a:solidFill>
                <a:effectLst/>
                <a:latin typeface="-apple-system"/>
              </a:rPr>
            </a:br>
            <a:r>
              <a:rPr lang="zh-CN" altLang="en-US" sz="2400" b="0" i="0" dirty="0">
                <a:solidFill>
                  <a:srgbClr val="2C2C36"/>
                </a:solidFill>
                <a:effectLst/>
                <a:latin typeface="-apple-system"/>
              </a:rPr>
              <a:t>脑电解码领域超越传统方法，成绩斐然。</a:t>
            </a:r>
            <a:endParaRPr lang="en-US" altLang="zh-CN" sz="2400" b="0" i="0" dirty="0">
              <a:solidFill>
                <a:srgbClr val="2C2C36"/>
              </a:solidFill>
              <a:effectLst/>
              <a:latin typeface="-apple-system"/>
            </a:endParaRPr>
          </a:p>
          <a:p>
            <a:pPr algn="l" fontAlgn="t"/>
            <a:endParaRPr lang="zh-CN" altLang="en-US" sz="2400" b="0" i="0" dirty="0">
              <a:solidFill>
                <a:srgbClr val="2C2C36"/>
              </a:solidFill>
              <a:effectLst/>
              <a:latin typeface="-apple-system"/>
            </a:endParaRPr>
          </a:p>
        </p:txBody>
      </p:sp>
      <p:sp>
        <p:nvSpPr>
          <p:cNvPr id="9" name="文本框 8">
            <a:extLst>
              <a:ext uri="{FF2B5EF4-FFF2-40B4-BE49-F238E27FC236}">
                <a16:creationId xmlns:a16="http://schemas.microsoft.com/office/drawing/2014/main" id="{C4EF2718-68EA-41AB-FDA4-78C81B6AF126}"/>
              </a:ext>
            </a:extLst>
          </p:cNvPr>
          <p:cNvSpPr txBox="1"/>
          <p:nvPr/>
        </p:nvSpPr>
        <p:spPr>
          <a:xfrm>
            <a:off x="2052638" y="1765798"/>
            <a:ext cx="8562730" cy="490199"/>
          </a:xfrm>
          <a:prstGeom prst="rect">
            <a:avLst/>
          </a:prstGeom>
          <a:noFill/>
        </p:spPr>
        <p:txBody>
          <a:bodyPr wrap="square">
            <a:spAutoFit/>
          </a:bodyPr>
          <a:lstStyle/>
          <a:p>
            <a:pPr marL="0" lvl="1">
              <a:lnSpc>
                <a:spcPct val="115000"/>
              </a:lnSpc>
            </a:pPr>
            <a:r>
              <a:rPr lang="zh-CN" altLang="zh-CN" sz="2400" dirty="0">
                <a:latin typeface="Adobe 楷体 Std R" panose="02020400000000000000" pitchFamily="18" charset="-122"/>
                <a:ea typeface="Adobe 楷体 Std R" panose="02020400000000000000" pitchFamily="18" charset="-122"/>
              </a:rPr>
              <a:t>课题来源</a:t>
            </a:r>
            <a:r>
              <a:rPr lang="zh-CN" altLang="en-US" sz="2400" dirty="0">
                <a:latin typeface="Adobe 楷体 Std R" panose="02020400000000000000" pitchFamily="18" charset="-122"/>
                <a:ea typeface="Adobe 楷体 Std R" panose="02020400000000000000" pitchFamily="18" charset="-122"/>
              </a:rPr>
              <a:t>于</a:t>
            </a:r>
            <a:r>
              <a:rPr lang="zh-CN" altLang="zh-CN" sz="2400" dirty="0">
                <a:latin typeface="Adobe 楷体 Std R" panose="02020400000000000000" pitchFamily="18" charset="-122"/>
                <a:ea typeface="Adobe 楷体 Std R" panose="02020400000000000000" pitchFamily="18" charset="-122"/>
              </a:rPr>
              <a:t>侵入式</a:t>
            </a:r>
            <a:r>
              <a:rPr lang="en-US" altLang="zh-CN" sz="2400" dirty="0">
                <a:latin typeface="Adobe 楷体 Std R" panose="02020400000000000000" pitchFamily="18" charset="-122"/>
                <a:ea typeface="Adobe 楷体 Std R" panose="02020400000000000000" pitchFamily="18" charset="-122"/>
              </a:rPr>
              <a:t>/</a:t>
            </a:r>
            <a:r>
              <a:rPr lang="zh-CN" altLang="zh-CN" sz="2400" dirty="0">
                <a:latin typeface="Adobe 楷体 Std R" panose="02020400000000000000" pitchFamily="18" charset="-122"/>
                <a:ea typeface="Adobe 楷体 Std R" panose="02020400000000000000" pitchFamily="18" charset="-122"/>
              </a:rPr>
              <a:t>非侵入式双向闭环脑机接口关键技术及系统</a:t>
            </a:r>
            <a:endParaRPr lang="zh-CN" altLang="en-US" sz="2400" dirty="0">
              <a:latin typeface="Adobe 楷体 Std R" panose="02020400000000000000" pitchFamily="18" charset="-122"/>
              <a:ea typeface="Adobe 楷体 Std R" panose="02020400000000000000" pitchFamily="18" charset="-122"/>
            </a:endParaRPr>
          </a:p>
        </p:txBody>
      </p:sp>
      <p:sp>
        <p:nvSpPr>
          <p:cNvPr id="7" name="文本框 6">
            <a:extLst>
              <a:ext uri="{FF2B5EF4-FFF2-40B4-BE49-F238E27FC236}">
                <a16:creationId xmlns:a16="http://schemas.microsoft.com/office/drawing/2014/main" id="{656C83AB-EFC1-0D44-30ED-8A02DFA3A45C}"/>
              </a:ext>
            </a:extLst>
          </p:cNvPr>
          <p:cNvSpPr txBox="1"/>
          <p:nvPr/>
        </p:nvSpPr>
        <p:spPr>
          <a:xfrm>
            <a:off x="2906360" y="3502491"/>
            <a:ext cx="7237369" cy="1200329"/>
          </a:xfrm>
          <a:prstGeom prst="rect">
            <a:avLst/>
          </a:prstGeom>
          <a:noFill/>
        </p:spPr>
        <p:txBody>
          <a:bodyPr wrap="square" rtlCol="0">
            <a:spAutoFit/>
          </a:bodyPr>
          <a:lstStyle/>
          <a:p>
            <a:pPr algn="l" fontAlgn="t">
              <a:buFont typeface="+mj-lt"/>
              <a:buAutoNum type="arabicPeriod"/>
            </a:pPr>
            <a:endParaRPr lang="zh-CN" altLang="en-US" sz="2400" b="0" i="0" dirty="0">
              <a:solidFill>
                <a:srgbClr val="2C2C36"/>
              </a:solidFill>
              <a:effectLst/>
              <a:latin typeface="-apple-system"/>
            </a:endParaRPr>
          </a:p>
          <a:p>
            <a:pPr algn="l" fontAlgn="t"/>
            <a:r>
              <a:rPr lang="en-US" altLang="zh-CN" sz="2400" b="1" i="0" dirty="0">
                <a:solidFill>
                  <a:srgbClr val="2C2C36"/>
                </a:solidFill>
                <a:effectLst/>
                <a:latin typeface="-apple-system"/>
              </a:rPr>
              <a:t>2.</a:t>
            </a:r>
            <a:r>
              <a:rPr lang="zh-CN" altLang="en-US" sz="2400" b="1" i="0" dirty="0">
                <a:solidFill>
                  <a:srgbClr val="2C2C36"/>
                </a:solidFill>
                <a:effectLst/>
                <a:latin typeface="-apple-system"/>
              </a:rPr>
              <a:t>便携性成关键需求</a:t>
            </a:r>
            <a:br>
              <a:rPr lang="zh-CN" altLang="en-US" sz="2400" b="0" i="0" dirty="0">
                <a:solidFill>
                  <a:srgbClr val="2C2C36"/>
                </a:solidFill>
                <a:effectLst/>
                <a:latin typeface="-apple-system"/>
              </a:rPr>
            </a:br>
            <a:r>
              <a:rPr lang="zh-CN" altLang="en-US" sz="2400" b="0" i="0" dirty="0">
                <a:solidFill>
                  <a:srgbClr val="2C2C36"/>
                </a:solidFill>
                <a:effectLst/>
                <a:latin typeface="-apple-system"/>
              </a:rPr>
              <a:t>实际应用场景中，小型化和移动支持至关重要。</a:t>
            </a:r>
            <a:endParaRPr lang="en-US" altLang="zh-CN" sz="2400" b="0" i="0" dirty="0">
              <a:solidFill>
                <a:srgbClr val="2C2C36"/>
              </a:solidFill>
              <a:effectLst/>
              <a:latin typeface="-apple-system"/>
            </a:endParaRPr>
          </a:p>
        </p:txBody>
      </p:sp>
      <p:sp>
        <p:nvSpPr>
          <p:cNvPr id="10" name="文本框 9">
            <a:extLst>
              <a:ext uri="{FF2B5EF4-FFF2-40B4-BE49-F238E27FC236}">
                <a16:creationId xmlns:a16="http://schemas.microsoft.com/office/drawing/2014/main" id="{5F32698C-EFA3-6021-0D67-068DF7E577FE}"/>
              </a:ext>
            </a:extLst>
          </p:cNvPr>
          <p:cNvSpPr txBox="1"/>
          <p:nvPr/>
        </p:nvSpPr>
        <p:spPr>
          <a:xfrm>
            <a:off x="2906359" y="4820484"/>
            <a:ext cx="7237369" cy="1200329"/>
          </a:xfrm>
          <a:prstGeom prst="rect">
            <a:avLst/>
          </a:prstGeom>
          <a:noFill/>
        </p:spPr>
        <p:txBody>
          <a:bodyPr wrap="square" rtlCol="0">
            <a:spAutoFit/>
          </a:bodyPr>
          <a:lstStyle/>
          <a:p>
            <a:pPr algn="l" fontAlgn="t"/>
            <a:endParaRPr lang="zh-CN" altLang="en-US" sz="2400" b="0" i="0" dirty="0">
              <a:solidFill>
                <a:srgbClr val="2C2C36"/>
              </a:solidFill>
              <a:effectLst/>
              <a:latin typeface="-apple-system"/>
            </a:endParaRPr>
          </a:p>
          <a:p>
            <a:pPr algn="l" fontAlgn="t"/>
            <a:r>
              <a:rPr lang="en-US" altLang="zh-CN" sz="2400" b="1" i="0" dirty="0">
                <a:solidFill>
                  <a:srgbClr val="2C2C36"/>
                </a:solidFill>
                <a:effectLst/>
                <a:latin typeface="-apple-system"/>
              </a:rPr>
              <a:t>3.</a:t>
            </a:r>
            <a:r>
              <a:rPr lang="zh-CN" altLang="en-US" sz="2400" b="1" i="0" dirty="0">
                <a:solidFill>
                  <a:srgbClr val="2C2C36"/>
                </a:solidFill>
                <a:effectLst/>
                <a:latin typeface="-apple-system"/>
              </a:rPr>
              <a:t>应用转化需加强</a:t>
            </a:r>
            <a:br>
              <a:rPr lang="zh-CN" altLang="en-US" sz="2400" b="0" i="0" dirty="0">
                <a:solidFill>
                  <a:srgbClr val="2C2C36"/>
                </a:solidFill>
                <a:effectLst/>
                <a:latin typeface="-apple-system"/>
              </a:rPr>
            </a:br>
            <a:r>
              <a:rPr lang="zh-CN" altLang="en-US" sz="2400" b="0" i="0" dirty="0">
                <a:solidFill>
                  <a:srgbClr val="2C2C36"/>
                </a:solidFill>
                <a:effectLst/>
                <a:latin typeface="-apple-system"/>
              </a:rPr>
              <a:t>相较视觉与语音，脑电领域技术实用转化尚显不足。</a:t>
            </a:r>
          </a:p>
        </p:txBody>
      </p:sp>
    </p:spTree>
    <p:extLst>
      <p:ext uri="{BB962C8B-B14F-4D97-AF65-F5344CB8AC3E}">
        <p14:creationId xmlns:p14="http://schemas.microsoft.com/office/powerpoint/2010/main" val="163119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58A6F-E97B-C048-F693-1A6D647C32B0}"/>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C393ECFC-D0B5-BCE4-8C78-0F0BDA7D4E29}"/>
              </a:ext>
            </a:extLst>
          </p:cNvPr>
          <p:cNvSpPr>
            <a:spLocks noGrp="1"/>
          </p:cNvSpPr>
          <p:nvPr>
            <p:ph type="dt" sz="half" idx="10"/>
          </p:nvPr>
        </p:nvSpPr>
        <p:spPr/>
        <p:txBody>
          <a:bodyPr/>
          <a:lstStyle/>
          <a:p>
            <a:pPr>
              <a:defRPr/>
            </a:pPr>
            <a:fld id="{7D57CFF5-4EAE-4F64-9EA4-AF1639666708}" type="datetime1">
              <a:rPr lang="zh-CN" altLang="en-US" smtClean="0"/>
              <a:t>2025/2/24</a:t>
            </a:fld>
            <a:endParaRPr lang="zh-CN" altLang="en-US" sz="1800">
              <a:solidFill>
                <a:schemeClr val="tx1"/>
              </a:solidFill>
            </a:endParaRPr>
          </a:p>
        </p:txBody>
      </p:sp>
      <p:sp>
        <p:nvSpPr>
          <p:cNvPr id="31" name="文本框 8">
            <a:extLst>
              <a:ext uri="{FF2B5EF4-FFF2-40B4-BE49-F238E27FC236}">
                <a16:creationId xmlns:a16="http://schemas.microsoft.com/office/drawing/2014/main" id="{F825F806-8E14-2253-88EB-C339116F8ABC}"/>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23A54D11-D136-A0DF-407E-6323AED2DE0D}"/>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8F6B1AB5-5AAE-3A9E-D909-2B33A240D14B}"/>
              </a:ext>
            </a:extLst>
          </p:cNvPr>
          <p:cNvCxnSpPr/>
          <p:nvPr/>
        </p:nvCxnSpPr>
        <p:spPr bwMode="auto">
          <a:xfrm>
            <a:off x="944033" y="1557869"/>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3CB13014-3A83-5C7D-AA3B-A9A2961085A0}"/>
              </a:ext>
            </a:extLst>
          </p:cNvPr>
          <p:cNvSpPr txBox="1"/>
          <p:nvPr/>
        </p:nvSpPr>
        <p:spPr>
          <a:xfrm>
            <a:off x="4611416" y="120136"/>
            <a:ext cx="2441694" cy="769441"/>
          </a:xfrm>
          <a:prstGeom prst="rect">
            <a:avLst/>
          </a:prstGeom>
          <a:noFill/>
        </p:spPr>
        <p:txBody>
          <a:bodyPr wrap="none" rtlCol="0">
            <a:spAutoFit/>
          </a:bodyPr>
          <a:lstStyle/>
          <a:p>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研究现状</a:t>
            </a:r>
          </a:p>
        </p:txBody>
      </p:sp>
      <p:sp>
        <p:nvSpPr>
          <p:cNvPr id="6" name="文本框 5">
            <a:extLst>
              <a:ext uri="{FF2B5EF4-FFF2-40B4-BE49-F238E27FC236}">
                <a16:creationId xmlns:a16="http://schemas.microsoft.com/office/drawing/2014/main" id="{EE2F9907-A76E-F96B-D6D6-AC9761C41680}"/>
              </a:ext>
            </a:extLst>
          </p:cNvPr>
          <p:cNvSpPr txBox="1"/>
          <p:nvPr/>
        </p:nvSpPr>
        <p:spPr>
          <a:xfrm>
            <a:off x="2662164" y="951609"/>
            <a:ext cx="6340197" cy="584775"/>
          </a:xfrm>
          <a:prstGeom prst="rect">
            <a:avLst/>
          </a:prstGeom>
          <a:noFill/>
        </p:spPr>
        <p:txBody>
          <a:bodyPr wrap="none" rtlCol="0">
            <a:spAutoFit/>
          </a:bodyPr>
          <a:lstStyle/>
          <a:p>
            <a:r>
              <a:rPr lang="zh-CN" altLang="en-US" sz="3200" dirty="0">
                <a:solidFill>
                  <a:schemeClr val="accent1">
                    <a:lumMod val="50000"/>
                  </a:schemeClr>
                </a:solidFill>
              </a:rPr>
              <a:t>自注意力机制，从自然语言到脑电</a:t>
            </a:r>
          </a:p>
        </p:txBody>
      </p:sp>
      <p:pic>
        <p:nvPicPr>
          <p:cNvPr id="7" name="图片 6">
            <a:extLst>
              <a:ext uri="{FF2B5EF4-FFF2-40B4-BE49-F238E27FC236}">
                <a16:creationId xmlns:a16="http://schemas.microsoft.com/office/drawing/2014/main" id="{C015A602-7E9A-37A3-4F64-FE116D8B0AC5}"/>
              </a:ext>
            </a:extLst>
          </p:cNvPr>
          <p:cNvPicPr>
            <a:picLocks noChangeAspect="1"/>
          </p:cNvPicPr>
          <p:nvPr/>
        </p:nvPicPr>
        <p:blipFill>
          <a:blip r:embed="rId3"/>
          <a:stretch>
            <a:fillRect/>
          </a:stretch>
        </p:blipFill>
        <p:spPr>
          <a:xfrm>
            <a:off x="452436" y="1557869"/>
            <a:ext cx="11287125" cy="5181600"/>
          </a:xfrm>
          <a:prstGeom prst="rect">
            <a:avLst/>
          </a:prstGeom>
        </p:spPr>
      </p:pic>
    </p:spTree>
    <p:extLst>
      <p:ext uri="{BB962C8B-B14F-4D97-AF65-F5344CB8AC3E}">
        <p14:creationId xmlns:p14="http://schemas.microsoft.com/office/powerpoint/2010/main" val="3920667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52835-720A-A81E-0694-94DDD46D819A}"/>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7D052A67-D86C-418D-AF6F-9F9AE42CEDCB}"/>
              </a:ext>
            </a:extLst>
          </p:cNvPr>
          <p:cNvSpPr>
            <a:spLocks noGrp="1"/>
          </p:cNvSpPr>
          <p:nvPr>
            <p:ph type="dt" sz="half" idx="10"/>
          </p:nvPr>
        </p:nvSpPr>
        <p:spPr/>
        <p:txBody>
          <a:bodyPr/>
          <a:lstStyle/>
          <a:p>
            <a:pPr>
              <a:defRPr/>
            </a:pPr>
            <a:fld id="{7D57CFF5-4EAE-4F64-9EA4-AF1639666708}" type="datetime1">
              <a:rPr lang="zh-CN" altLang="en-US" smtClean="0"/>
              <a:t>2025/2/24</a:t>
            </a:fld>
            <a:endParaRPr lang="zh-CN" altLang="en-US" sz="1800">
              <a:solidFill>
                <a:schemeClr val="tx1"/>
              </a:solidFill>
            </a:endParaRPr>
          </a:p>
        </p:txBody>
      </p:sp>
      <p:sp>
        <p:nvSpPr>
          <p:cNvPr id="31" name="文本框 8">
            <a:extLst>
              <a:ext uri="{FF2B5EF4-FFF2-40B4-BE49-F238E27FC236}">
                <a16:creationId xmlns:a16="http://schemas.microsoft.com/office/drawing/2014/main" id="{575969F2-02B0-0A34-0970-4361E4987BB8}"/>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98243674-91AA-054F-522C-D817A7D804C8}"/>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61437234-A874-5293-09B1-E2D2A4242CBD}"/>
              </a:ext>
            </a:extLst>
          </p:cNvPr>
          <p:cNvCxnSpPr/>
          <p:nvPr/>
        </p:nvCxnSpPr>
        <p:spPr bwMode="auto">
          <a:xfrm>
            <a:off x="944033" y="1557869"/>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1FF00E0D-8B1F-9FA9-DA29-34FB5824F814}"/>
              </a:ext>
            </a:extLst>
          </p:cNvPr>
          <p:cNvSpPr txBox="1"/>
          <p:nvPr/>
        </p:nvSpPr>
        <p:spPr>
          <a:xfrm>
            <a:off x="4611416" y="120136"/>
            <a:ext cx="2441694" cy="769441"/>
          </a:xfrm>
          <a:prstGeom prst="rect">
            <a:avLst/>
          </a:prstGeom>
          <a:noFill/>
        </p:spPr>
        <p:txBody>
          <a:bodyPr wrap="none" rtlCol="0">
            <a:spAutoFit/>
          </a:bodyPr>
          <a:lstStyle/>
          <a:p>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研究现状</a:t>
            </a:r>
          </a:p>
        </p:txBody>
      </p:sp>
      <p:sp>
        <p:nvSpPr>
          <p:cNvPr id="6" name="文本框 5">
            <a:extLst>
              <a:ext uri="{FF2B5EF4-FFF2-40B4-BE49-F238E27FC236}">
                <a16:creationId xmlns:a16="http://schemas.microsoft.com/office/drawing/2014/main" id="{59000820-3749-9744-18E3-9222098B22A6}"/>
              </a:ext>
            </a:extLst>
          </p:cNvPr>
          <p:cNvSpPr txBox="1"/>
          <p:nvPr/>
        </p:nvSpPr>
        <p:spPr>
          <a:xfrm>
            <a:off x="2662164" y="951609"/>
            <a:ext cx="6340197" cy="584775"/>
          </a:xfrm>
          <a:prstGeom prst="rect">
            <a:avLst/>
          </a:prstGeom>
          <a:noFill/>
        </p:spPr>
        <p:txBody>
          <a:bodyPr wrap="none" rtlCol="0">
            <a:spAutoFit/>
          </a:bodyPr>
          <a:lstStyle/>
          <a:p>
            <a:r>
              <a:rPr lang="zh-CN" altLang="en-US" sz="3200" dirty="0">
                <a:solidFill>
                  <a:schemeClr val="accent1">
                    <a:lumMod val="50000"/>
                  </a:schemeClr>
                </a:solidFill>
              </a:rPr>
              <a:t>自注意力机制，从自然语言到脑电</a:t>
            </a:r>
          </a:p>
        </p:txBody>
      </p:sp>
      <p:pic>
        <p:nvPicPr>
          <p:cNvPr id="11" name="图片 10">
            <a:extLst>
              <a:ext uri="{FF2B5EF4-FFF2-40B4-BE49-F238E27FC236}">
                <a16:creationId xmlns:a16="http://schemas.microsoft.com/office/drawing/2014/main" id="{CAEAE88D-DCFC-FB6D-6E54-CCE6F9477A62}"/>
              </a:ext>
            </a:extLst>
          </p:cNvPr>
          <p:cNvPicPr>
            <a:picLocks noChangeAspect="1"/>
          </p:cNvPicPr>
          <p:nvPr/>
        </p:nvPicPr>
        <p:blipFill>
          <a:blip r:embed="rId3"/>
          <a:srcRect b="5840"/>
          <a:stretch/>
        </p:blipFill>
        <p:spPr>
          <a:xfrm>
            <a:off x="2018359" y="2026616"/>
            <a:ext cx="7508816" cy="3482293"/>
          </a:xfrm>
          <a:prstGeom prst="rect">
            <a:avLst/>
          </a:prstGeom>
        </p:spPr>
      </p:pic>
      <p:sp>
        <p:nvSpPr>
          <p:cNvPr id="18" name="文本框 17">
            <a:extLst>
              <a:ext uri="{FF2B5EF4-FFF2-40B4-BE49-F238E27FC236}">
                <a16:creationId xmlns:a16="http://schemas.microsoft.com/office/drawing/2014/main" id="{4BEF7CCA-7419-9F7B-2E18-63D37534E71B}"/>
              </a:ext>
            </a:extLst>
          </p:cNvPr>
          <p:cNvSpPr txBox="1"/>
          <p:nvPr/>
        </p:nvSpPr>
        <p:spPr>
          <a:xfrm>
            <a:off x="1040635" y="5583225"/>
            <a:ext cx="10016690" cy="923330"/>
          </a:xfrm>
          <a:prstGeom prst="rect">
            <a:avLst/>
          </a:prstGeom>
          <a:noFill/>
        </p:spPr>
        <p:txBody>
          <a:bodyPr wrap="square">
            <a:spAutoFit/>
          </a:bodyPr>
          <a:lstStyle/>
          <a:p>
            <a:r>
              <a:rPr lang="zh-CN" altLang="en-US" b="1" i="0" dirty="0">
                <a:solidFill>
                  <a:srgbClr val="2C2C36"/>
                </a:solidFill>
                <a:effectLst/>
                <a:latin typeface="-apple-system"/>
              </a:rPr>
              <a:t>自注意力机制能够捕捉输入序列中任意位置之间的依赖关系，而不仅仅局限于局部上下文</a:t>
            </a:r>
            <a:r>
              <a:rPr lang="en-US" altLang="zh-CN" b="1" i="0" dirty="0">
                <a:solidFill>
                  <a:srgbClr val="2C2C36"/>
                </a:solidFill>
                <a:effectLst/>
                <a:latin typeface="-apple-system"/>
              </a:rPr>
              <a:t>,</a:t>
            </a:r>
            <a:r>
              <a:rPr lang="zh-CN" altLang="en-US" b="1" i="0" dirty="0">
                <a:solidFill>
                  <a:srgbClr val="2C2C36"/>
                </a:solidFill>
                <a:effectLst/>
                <a:latin typeface="-apple-system"/>
              </a:rPr>
              <a:t>并且具有同时关注时间和空间信息的能力。</a:t>
            </a:r>
            <a:endParaRPr lang="en-US" altLang="zh-CN" b="1" i="0" dirty="0">
              <a:solidFill>
                <a:srgbClr val="2C2C36"/>
              </a:solidFill>
              <a:effectLst/>
              <a:latin typeface="-apple-system"/>
            </a:endParaRPr>
          </a:p>
          <a:p>
            <a:r>
              <a:rPr lang="zh-CN" altLang="en-US" b="1" i="0" dirty="0">
                <a:solidFill>
                  <a:srgbClr val="2C2C36"/>
                </a:solidFill>
                <a:effectLst/>
                <a:latin typeface="-apple-system"/>
              </a:rPr>
              <a:t>这意味着它可以在一次操作中考虑整个序列的时空信息，从而更好地理解长距离依赖性和复杂模式。</a:t>
            </a:r>
            <a:endParaRPr lang="zh-CN" altLang="en-US" b="1" dirty="0"/>
          </a:p>
        </p:txBody>
      </p:sp>
    </p:spTree>
    <p:extLst>
      <p:ext uri="{BB962C8B-B14F-4D97-AF65-F5344CB8AC3E}">
        <p14:creationId xmlns:p14="http://schemas.microsoft.com/office/powerpoint/2010/main" val="316524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F9684-4A7F-9A7B-9335-21A2638EFCD6}"/>
            </a:ext>
          </a:extLst>
        </p:cNvPr>
        <p:cNvGrpSpPr/>
        <p:nvPr/>
      </p:nvGrpSpPr>
      <p:grpSpPr>
        <a:xfrm>
          <a:off x="0" y="0"/>
          <a:ext cx="0" cy="0"/>
          <a:chOff x="0" y="0"/>
          <a:chExt cx="0" cy="0"/>
        </a:xfrm>
      </p:grpSpPr>
      <p:sp>
        <p:nvSpPr>
          <p:cNvPr id="31" name="文本框 8">
            <a:extLst>
              <a:ext uri="{FF2B5EF4-FFF2-40B4-BE49-F238E27FC236}">
                <a16:creationId xmlns:a16="http://schemas.microsoft.com/office/drawing/2014/main" id="{563F284D-904B-EC24-5DBE-B73078E1E0CF}"/>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B8F06D78-F01E-CFBF-0311-D1D1345CC4C0}"/>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A31116AE-C5FD-E520-87BA-007C4C169A60}"/>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0881872A-22E4-D9A9-66B8-27507E338523}"/>
              </a:ext>
            </a:extLst>
          </p:cNvPr>
          <p:cNvSpPr txBox="1"/>
          <p:nvPr/>
        </p:nvSpPr>
        <p:spPr>
          <a:xfrm>
            <a:off x="4841763" y="152793"/>
            <a:ext cx="2441694"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研究现状</a:t>
            </a:r>
          </a:p>
        </p:txBody>
      </p:sp>
      <p:sp>
        <p:nvSpPr>
          <p:cNvPr id="5" name="文本框 4">
            <a:extLst>
              <a:ext uri="{FF2B5EF4-FFF2-40B4-BE49-F238E27FC236}">
                <a16:creationId xmlns:a16="http://schemas.microsoft.com/office/drawing/2014/main" id="{D2B10708-AEEA-493A-35DB-BF9C3C4AB4FC}"/>
              </a:ext>
            </a:extLst>
          </p:cNvPr>
          <p:cNvSpPr txBox="1"/>
          <p:nvPr/>
        </p:nvSpPr>
        <p:spPr>
          <a:xfrm>
            <a:off x="761325" y="953393"/>
            <a:ext cx="10602582" cy="584775"/>
          </a:xfrm>
          <a:prstGeom prst="rect">
            <a:avLst/>
          </a:prstGeom>
          <a:noFill/>
        </p:spPr>
        <p:txBody>
          <a:bodyPr wrap="none" rtlCol="0">
            <a:spAutoFit/>
          </a:bodyPr>
          <a:lstStyle/>
          <a:p>
            <a:pPr algn="ctr"/>
            <a:r>
              <a:rPr lang="zh-CN" altLang="en-US" sz="3200" dirty="0">
                <a:solidFill>
                  <a:schemeClr val="accent1">
                    <a:lumMod val="50000"/>
                  </a:schemeClr>
                </a:solidFill>
              </a:rPr>
              <a:t>自注意力机制并不是一成不变的，时间序列任务中的变体</a:t>
            </a:r>
          </a:p>
        </p:txBody>
      </p:sp>
      <p:sp>
        <p:nvSpPr>
          <p:cNvPr id="8" name="文本框 7">
            <a:extLst>
              <a:ext uri="{FF2B5EF4-FFF2-40B4-BE49-F238E27FC236}">
                <a16:creationId xmlns:a16="http://schemas.microsoft.com/office/drawing/2014/main" id="{BD4002EE-E0C0-A858-78AA-B7EE93B09ECB}"/>
              </a:ext>
            </a:extLst>
          </p:cNvPr>
          <p:cNvSpPr txBox="1"/>
          <p:nvPr/>
        </p:nvSpPr>
        <p:spPr>
          <a:xfrm>
            <a:off x="1118281" y="5769987"/>
            <a:ext cx="10392402" cy="707886"/>
          </a:xfrm>
          <a:prstGeom prst="rect">
            <a:avLst/>
          </a:prstGeom>
          <a:noFill/>
        </p:spPr>
        <p:txBody>
          <a:bodyPr wrap="square" rtlCol="0">
            <a:spAutoFit/>
          </a:bodyPr>
          <a:lstStyle/>
          <a:p>
            <a:pPr algn="ctr"/>
            <a:r>
              <a:rPr lang="zh-CN" altLang="en-US" sz="2000" b="1" dirty="0"/>
              <a:t>将卷积融入自注意力模块模块中，旨在充分发挥</a:t>
            </a:r>
            <a:r>
              <a:rPr lang="en-US" altLang="zh-CN" sz="2000" b="1" dirty="0"/>
              <a:t>Transformer</a:t>
            </a:r>
            <a:r>
              <a:rPr lang="zh-CN" altLang="en-US" sz="2000" b="1" dirty="0"/>
              <a:t>对远程全局上下文建模的优势，同时弥补其在提取细粒度局部特征模式上的不足</a:t>
            </a:r>
          </a:p>
        </p:txBody>
      </p:sp>
      <p:pic>
        <p:nvPicPr>
          <p:cNvPr id="11" name="Picture 2">
            <a:extLst>
              <a:ext uri="{FF2B5EF4-FFF2-40B4-BE49-F238E27FC236}">
                <a16:creationId xmlns:a16="http://schemas.microsoft.com/office/drawing/2014/main" id="{103D45F2-7DDC-4CDC-C5BF-5EFB84AF4B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091" y="1847082"/>
            <a:ext cx="8045816" cy="3625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97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34E95-C609-DDED-B220-0C1D70824A39}"/>
            </a:ext>
          </a:extLst>
        </p:cNvPr>
        <p:cNvGrpSpPr/>
        <p:nvPr/>
      </p:nvGrpSpPr>
      <p:grpSpPr>
        <a:xfrm>
          <a:off x="0" y="0"/>
          <a:ext cx="0" cy="0"/>
          <a:chOff x="0" y="0"/>
          <a:chExt cx="0" cy="0"/>
        </a:xfrm>
      </p:grpSpPr>
      <p:sp>
        <p:nvSpPr>
          <p:cNvPr id="31" name="文本框 8">
            <a:extLst>
              <a:ext uri="{FF2B5EF4-FFF2-40B4-BE49-F238E27FC236}">
                <a16:creationId xmlns:a16="http://schemas.microsoft.com/office/drawing/2014/main" id="{C8687DFA-5C09-8F1B-CCA8-506F70D04619}"/>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7B01E4F9-08BA-073D-C793-6D5E9648E0EC}"/>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16B8DC27-1DF5-C647-6756-D97389CFAC9C}"/>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8FEB1F1B-756C-8E98-3DB2-E6C166E0C264}"/>
              </a:ext>
            </a:extLst>
          </p:cNvPr>
          <p:cNvSpPr txBox="1"/>
          <p:nvPr/>
        </p:nvSpPr>
        <p:spPr>
          <a:xfrm>
            <a:off x="4841763" y="152793"/>
            <a:ext cx="2441694"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研究现状</a:t>
            </a:r>
          </a:p>
        </p:txBody>
      </p:sp>
      <p:graphicFrame>
        <p:nvGraphicFramePr>
          <p:cNvPr id="2" name="表格 1">
            <a:extLst>
              <a:ext uri="{FF2B5EF4-FFF2-40B4-BE49-F238E27FC236}">
                <a16:creationId xmlns:a16="http://schemas.microsoft.com/office/drawing/2014/main" id="{D8823DCF-AF8E-78E0-C33B-547525A798BC}"/>
              </a:ext>
            </a:extLst>
          </p:cNvPr>
          <p:cNvGraphicFramePr>
            <a:graphicFrameLocks noGrp="1"/>
          </p:cNvGraphicFramePr>
          <p:nvPr>
            <p:extLst>
              <p:ext uri="{D42A27DB-BD31-4B8C-83A1-F6EECF244321}">
                <p14:modId xmlns:p14="http://schemas.microsoft.com/office/powerpoint/2010/main" val="3860326362"/>
              </p:ext>
            </p:extLst>
          </p:nvPr>
        </p:nvGraphicFramePr>
        <p:xfrm>
          <a:off x="245796" y="1951868"/>
          <a:ext cx="11633627" cy="4333674"/>
        </p:xfrm>
        <a:graphic>
          <a:graphicData uri="http://schemas.openxmlformats.org/drawingml/2006/table">
            <a:tbl>
              <a:tblPr firstRow="1" firstCol="1" bandRow="1">
                <a:tableStyleId>{5C22544A-7EE6-4342-B048-85BDC9FD1C3A}</a:tableStyleId>
              </a:tblPr>
              <a:tblGrid>
                <a:gridCol w="1447224">
                  <a:extLst>
                    <a:ext uri="{9D8B030D-6E8A-4147-A177-3AD203B41FA5}">
                      <a16:colId xmlns:a16="http://schemas.microsoft.com/office/drawing/2014/main" val="3858180782"/>
                    </a:ext>
                  </a:extLst>
                </a:gridCol>
                <a:gridCol w="1411238">
                  <a:extLst>
                    <a:ext uri="{9D8B030D-6E8A-4147-A177-3AD203B41FA5}">
                      <a16:colId xmlns:a16="http://schemas.microsoft.com/office/drawing/2014/main" val="1164422434"/>
                    </a:ext>
                  </a:extLst>
                </a:gridCol>
                <a:gridCol w="1928692">
                  <a:extLst>
                    <a:ext uri="{9D8B030D-6E8A-4147-A177-3AD203B41FA5}">
                      <a16:colId xmlns:a16="http://schemas.microsoft.com/office/drawing/2014/main" val="2229998027"/>
                    </a:ext>
                  </a:extLst>
                </a:gridCol>
                <a:gridCol w="1652068">
                  <a:extLst>
                    <a:ext uri="{9D8B030D-6E8A-4147-A177-3AD203B41FA5}">
                      <a16:colId xmlns:a16="http://schemas.microsoft.com/office/drawing/2014/main" val="3951507082"/>
                    </a:ext>
                  </a:extLst>
                </a:gridCol>
                <a:gridCol w="1559858">
                  <a:extLst>
                    <a:ext uri="{9D8B030D-6E8A-4147-A177-3AD203B41FA5}">
                      <a16:colId xmlns:a16="http://schemas.microsoft.com/office/drawing/2014/main" val="1441621250"/>
                    </a:ext>
                  </a:extLst>
                </a:gridCol>
                <a:gridCol w="1406178">
                  <a:extLst>
                    <a:ext uri="{9D8B030D-6E8A-4147-A177-3AD203B41FA5}">
                      <a16:colId xmlns:a16="http://schemas.microsoft.com/office/drawing/2014/main" val="2701898855"/>
                    </a:ext>
                  </a:extLst>
                </a:gridCol>
                <a:gridCol w="1198710">
                  <a:extLst>
                    <a:ext uri="{9D8B030D-6E8A-4147-A177-3AD203B41FA5}">
                      <a16:colId xmlns:a16="http://schemas.microsoft.com/office/drawing/2014/main" val="2942114852"/>
                    </a:ext>
                  </a:extLst>
                </a:gridCol>
                <a:gridCol w="1029659">
                  <a:extLst>
                    <a:ext uri="{9D8B030D-6E8A-4147-A177-3AD203B41FA5}">
                      <a16:colId xmlns:a16="http://schemas.microsoft.com/office/drawing/2014/main" val="3357916730"/>
                    </a:ext>
                  </a:extLst>
                </a:gridCol>
              </a:tblGrid>
              <a:tr h="660978">
                <a:tc>
                  <a:txBody>
                    <a:bodyPr/>
                    <a:lstStyle/>
                    <a:p>
                      <a:pPr algn="ctr">
                        <a:lnSpc>
                          <a:spcPct val="115000"/>
                        </a:lnSpc>
                      </a:pPr>
                      <a:r>
                        <a:rPr lang="zh-CN" sz="1400" kern="0" dirty="0">
                          <a:effectLst/>
                        </a:rPr>
                        <a:t>作者</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EEG</a:t>
                      </a:r>
                      <a:r>
                        <a:rPr lang="zh-CN" sz="1400" kern="0">
                          <a:effectLst/>
                        </a:rPr>
                        <a:t>模型</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处理器</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dirty="0">
                          <a:effectLst/>
                        </a:rPr>
                        <a:t>数据集</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计算机推理速度</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处理器推理速度</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计算机推理准确度</a:t>
                      </a:r>
                      <a:r>
                        <a:rPr lang="en-US" sz="1400" kern="0">
                          <a:effectLst/>
                        </a:rPr>
                        <a:t>(%)</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处理器推理准确度</a:t>
                      </a:r>
                      <a:r>
                        <a:rPr lang="en-US" sz="1400" kern="0">
                          <a:effectLst/>
                        </a:rPr>
                        <a:t>(%)</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45146827"/>
                  </a:ext>
                </a:extLst>
              </a:tr>
              <a:tr h="521567">
                <a:tc rowSpan="2">
                  <a:txBody>
                    <a:bodyPr/>
                    <a:lstStyle/>
                    <a:p>
                      <a:pPr algn="ctr">
                        <a:lnSpc>
                          <a:spcPct val="115000"/>
                        </a:lnSpc>
                      </a:pPr>
                      <a:r>
                        <a:rPr lang="zh-CN" sz="1400" kern="0" dirty="0">
                          <a:effectLst/>
                        </a:rPr>
                        <a:t>李解放</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M-SVM</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树莓派</a:t>
                      </a:r>
                      <a:r>
                        <a:rPr lang="en-US" sz="1400" kern="0">
                          <a:effectLst/>
                        </a:rPr>
                        <a:t>P300ERP</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rowSpan="2">
                  <a:txBody>
                    <a:bodyPr/>
                    <a:lstStyle/>
                    <a:p>
                      <a:pPr algn="ctr">
                        <a:lnSpc>
                          <a:spcPct val="115000"/>
                        </a:lnSpc>
                      </a:pPr>
                      <a:r>
                        <a:rPr lang="en-US" sz="1400" kern="0" dirty="0">
                          <a:effectLst/>
                        </a:rPr>
                        <a:t>RSVP-BCI </a:t>
                      </a:r>
                      <a:r>
                        <a:rPr lang="zh-CN" sz="1400" kern="0" dirty="0">
                          <a:effectLst/>
                        </a:rPr>
                        <a:t>基准数据集</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0.3178s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4.0371s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82.56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82.56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482815380"/>
                  </a:ext>
                </a:extLst>
              </a:tr>
              <a:tr h="521567">
                <a:tc vMerge="1">
                  <a:txBody>
                    <a:bodyPr/>
                    <a:lstStyle/>
                    <a:p>
                      <a:endParaRPr lang="zh-CN" altLang="en-US"/>
                    </a:p>
                  </a:txBody>
                  <a:tcPr/>
                </a:tc>
                <a:tc>
                  <a:txBody>
                    <a:bodyPr/>
                    <a:lstStyle/>
                    <a:p>
                      <a:pPr algn="ctr">
                        <a:lnSpc>
                          <a:spcPct val="115000"/>
                        </a:lnSpc>
                      </a:pPr>
                      <a:r>
                        <a:rPr lang="en-US" sz="1400" kern="0">
                          <a:effectLst/>
                        </a:rPr>
                        <a:t>CNN-LSTM</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树莓派</a:t>
                      </a:r>
                      <a:r>
                        <a:rPr lang="en-US" sz="1400" kern="0">
                          <a:effectLst/>
                        </a:rPr>
                        <a:t>P300ERP</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vMerge="1">
                  <a:txBody>
                    <a:bodyPr/>
                    <a:lstStyle/>
                    <a:p>
                      <a:endParaRPr lang="zh-CN" altLang="en-US"/>
                    </a:p>
                  </a:txBody>
                  <a:tcPr/>
                </a:tc>
                <a:tc>
                  <a:txBody>
                    <a:bodyPr/>
                    <a:lstStyle/>
                    <a:p>
                      <a:pPr algn="ctr">
                        <a:lnSpc>
                          <a:spcPct val="115000"/>
                        </a:lnSpc>
                      </a:pPr>
                      <a:r>
                        <a:rPr lang="en-US" sz="1400" kern="0">
                          <a:effectLst/>
                        </a:rPr>
                        <a:t>0.3178s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6.866s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87.91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87.91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763452633"/>
                  </a:ext>
                </a:extLst>
              </a:tr>
              <a:tr h="782349">
                <a:tc rowSpan="2">
                  <a:txBody>
                    <a:bodyPr/>
                    <a:lstStyle/>
                    <a:p>
                      <a:pPr algn="ctr">
                        <a:lnSpc>
                          <a:spcPct val="115000"/>
                        </a:lnSpc>
                      </a:pPr>
                      <a:r>
                        <a:rPr lang="en-US" sz="1400" kern="0" dirty="0">
                          <a:effectLst/>
                        </a:rPr>
                        <a:t>Tsukahara</a:t>
                      </a:r>
                      <a:r>
                        <a:rPr lang="zh-CN" sz="1400" kern="0" dirty="0">
                          <a:effectLst/>
                        </a:rPr>
                        <a:t>等</a:t>
                      </a:r>
                      <a:endParaRPr lang="zh-CN" sz="1400" kern="100" dirty="0">
                        <a:effectLst/>
                      </a:endParaRPr>
                    </a:p>
                    <a:p>
                      <a:pPr algn="ctr">
                        <a:lnSpc>
                          <a:spcPct val="115000"/>
                        </a:lnSpc>
                      </a:pPr>
                      <a:r>
                        <a:rPr lang="zh-CN" sz="1400" kern="0" dirty="0">
                          <a:effectLst/>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dirty="0" err="1">
                          <a:effectLst/>
                        </a:rPr>
                        <a:t>EEGnet</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FPGA </a:t>
                      </a:r>
                      <a:r>
                        <a:rPr lang="zh-CN" sz="1400" kern="0">
                          <a:effectLst/>
                        </a:rPr>
                        <a:t>（</a:t>
                      </a:r>
                      <a:r>
                        <a:rPr lang="en-US" sz="1400" kern="0">
                          <a:effectLst/>
                        </a:rPr>
                        <a:t>Virtex-7</a:t>
                      </a:r>
                      <a:r>
                        <a:rPr lang="zh-CN" sz="1400" kern="0">
                          <a:effectLst/>
                        </a:rPr>
                        <a:t>）</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dirty="0">
                          <a:effectLst/>
                        </a:rPr>
                        <a:t>EEG data published in MNE</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227.0</a:t>
                      </a:r>
                      <a:r>
                        <a:rPr lang="zh-CN" sz="1400" kern="0">
                          <a:effectLst/>
                        </a:rPr>
                        <a:t>μ</a:t>
                      </a:r>
                      <a:r>
                        <a:rPr lang="en-US" sz="1400" kern="0">
                          <a:effectLst/>
                        </a:rPr>
                        <a:t>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58.84</a:t>
                      </a:r>
                      <a:r>
                        <a:rPr lang="zh-CN" sz="1400" kern="0">
                          <a:effectLst/>
                        </a:rPr>
                        <a:t>μ</a:t>
                      </a:r>
                      <a:r>
                        <a:rPr lang="en-US" sz="1400" kern="0">
                          <a:effectLst/>
                        </a:rPr>
                        <a:t>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88.89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88.75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083381574"/>
                  </a:ext>
                </a:extLst>
              </a:tr>
              <a:tr h="782349">
                <a:tc vMerge="1">
                  <a:txBody>
                    <a:bodyPr/>
                    <a:lstStyle/>
                    <a:p>
                      <a:endParaRPr lang="zh-CN" altLang="en-US"/>
                    </a:p>
                  </a:txBody>
                  <a:tcPr/>
                </a:tc>
                <a:tc>
                  <a:txBody>
                    <a:bodyPr/>
                    <a:lstStyle/>
                    <a:p>
                      <a:pPr algn="ctr">
                        <a:lnSpc>
                          <a:spcPct val="115000"/>
                        </a:lnSpc>
                      </a:pPr>
                      <a:r>
                        <a:rPr lang="en-US" sz="1400" kern="0">
                          <a:effectLst/>
                        </a:rPr>
                        <a:t>EEGnet</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dirty="0">
                          <a:effectLst/>
                        </a:rPr>
                        <a:t>FPGA </a:t>
                      </a:r>
                      <a:r>
                        <a:rPr lang="zh-CN" sz="1400" kern="0" dirty="0">
                          <a:effectLst/>
                        </a:rPr>
                        <a:t>（</a:t>
                      </a:r>
                      <a:r>
                        <a:rPr lang="en-US" sz="1400" kern="0" dirty="0">
                          <a:effectLst/>
                        </a:rPr>
                        <a:t>Virtex-7</a:t>
                      </a:r>
                      <a:r>
                        <a:rPr lang="zh-CN" sz="1400" kern="0" dirty="0">
                          <a:effectLst/>
                        </a:rPr>
                        <a:t>）</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dirty="0">
                          <a:effectLst/>
                        </a:rPr>
                        <a:t>Kaggle BCI Challenge</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359.8</a:t>
                      </a:r>
                      <a:r>
                        <a:rPr lang="zh-CN" sz="1400" kern="0">
                          <a:effectLst/>
                        </a:rPr>
                        <a:t>μ</a:t>
                      </a:r>
                      <a:r>
                        <a:rPr lang="en-US" sz="1400" kern="0">
                          <a:effectLst/>
                        </a:rPr>
                        <a:t>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115.85</a:t>
                      </a:r>
                      <a:r>
                        <a:rPr lang="zh-CN" sz="1400" kern="0">
                          <a:effectLst/>
                        </a:rPr>
                        <a:t>μ</a:t>
                      </a:r>
                      <a:r>
                        <a:rPr lang="en-US" sz="1400" kern="0">
                          <a:effectLst/>
                        </a:rPr>
                        <a:t>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76.35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76.33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182829742"/>
                  </a:ext>
                </a:extLst>
              </a:tr>
              <a:tr h="532432">
                <a:tc>
                  <a:txBody>
                    <a:bodyPr/>
                    <a:lstStyle/>
                    <a:p>
                      <a:pPr algn="ctr">
                        <a:lnSpc>
                          <a:spcPct val="115000"/>
                        </a:lnSpc>
                      </a:pPr>
                      <a:r>
                        <a:rPr lang="en-US" sz="1400" kern="0" dirty="0" err="1">
                          <a:effectLst/>
                        </a:rPr>
                        <a:t>Sarić</a:t>
                      </a:r>
                      <a:r>
                        <a:rPr lang="zh-CN" sz="1400" kern="0" dirty="0">
                          <a:effectLst/>
                        </a:rPr>
                        <a:t>等</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ANN</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FPGA</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dirty="0">
                          <a:effectLst/>
                        </a:rPr>
                        <a:t>TUH EEG Corpus</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dirty="0">
                          <a:effectLst/>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95.40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95.14 </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912409021"/>
                  </a:ext>
                </a:extLst>
              </a:tr>
              <a:tr h="532432">
                <a:tc>
                  <a:txBody>
                    <a:bodyPr/>
                    <a:lstStyle/>
                    <a:p>
                      <a:pPr algn="ctr">
                        <a:lnSpc>
                          <a:spcPct val="115000"/>
                        </a:lnSpc>
                      </a:pPr>
                      <a:r>
                        <a:rPr lang="en-US" sz="1400" kern="0" dirty="0" err="1">
                          <a:effectLst/>
                        </a:rPr>
                        <a:t>Nikitakis</a:t>
                      </a:r>
                      <a:r>
                        <a:rPr lang="zh-CN" sz="1400" kern="0" dirty="0">
                          <a:effectLst/>
                        </a:rPr>
                        <a:t>等</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400" kern="0">
                          <a:effectLst/>
                        </a:rPr>
                        <a:t>基于</a:t>
                      </a:r>
                      <a:r>
                        <a:rPr lang="en-US" sz="1400" kern="0">
                          <a:effectLst/>
                        </a:rPr>
                        <a:t>CSP</a:t>
                      </a:r>
                      <a:r>
                        <a:rPr lang="zh-CN" sz="1400" kern="0">
                          <a:effectLst/>
                        </a:rPr>
                        <a:t>的神经网络</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FPGA</a:t>
                      </a:r>
                      <a:r>
                        <a:rPr lang="zh-CN" sz="1400" kern="0">
                          <a:effectLst/>
                        </a:rPr>
                        <a:t>（</a:t>
                      </a:r>
                      <a:r>
                        <a:rPr lang="en-US" sz="1400" kern="0">
                          <a:effectLst/>
                        </a:rPr>
                        <a:t>Kintex115 UltraScale</a:t>
                      </a:r>
                      <a:r>
                        <a:rPr lang="zh-CN" sz="1400" kern="0">
                          <a:effectLst/>
                        </a:rPr>
                        <a:t>）</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Cichockis  benchmark</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dirty="0">
                          <a:effectLst/>
                        </a:rPr>
                        <a:t>212.3</a:t>
                      </a:r>
                      <a:r>
                        <a:rPr lang="zh-CN" sz="1400" kern="0" dirty="0">
                          <a:effectLst/>
                        </a:rPr>
                        <a:t>μ</a:t>
                      </a:r>
                      <a:r>
                        <a:rPr lang="en-US" sz="1400" kern="0" dirty="0">
                          <a:effectLst/>
                        </a:rPr>
                        <a:t>s</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13.34</a:t>
                      </a:r>
                      <a:r>
                        <a:rPr lang="zh-CN" sz="1400" kern="0">
                          <a:effectLst/>
                        </a:rPr>
                        <a:t>μ</a:t>
                      </a:r>
                      <a:r>
                        <a:rPr lang="en-US" sz="1400" kern="0">
                          <a:effectLst/>
                        </a:rPr>
                        <a:t>s</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a:effectLst/>
                        </a:rPr>
                        <a:t>94.5</a:t>
                      </a:r>
                      <a:endParaRPr lang="zh-CN" sz="1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400" kern="0" dirty="0">
                          <a:effectLst/>
                        </a:rPr>
                        <a:t>94.5</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97213410"/>
                  </a:ext>
                </a:extLst>
              </a:tr>
            </a:tbl>
          </a:graphicData>
        </a:graphic>
      </p:graphicFrame>
      <p:sp>
        <p:nvSpPr>
          <p:cNvPr id="7" name="文本框 6">
            <a:extLst>
              <a:ext uri="{FF2B5EF4-FFF2-40B4-BE49-F238E27FC236}">
                <a16:creationId xmlns:a16="http://schemas.microsoft.com/office/drawing/2014/main" id="{A65A0AF9-7A6D-75E0-5799-57C317CD0B97}"/>
              </a:ext>
            </a:extLst>
          </p:cNvPr>
          <p:cNvSpPr txBox="1"/>
          <p:nvPr/>
        </p:nvSpPr>
        <p:spPr>
          <a:xfrm>
            <a:off x="3013969" y="922234"/>
            <a:ext cx="6097280" cy="584775"/>
          </a:xfrm>
          <a:prstGeom prst="rect">
            <a:avLst/>
          </a:prstGeom>
          <a:noFill/>
        </p:spPr>
        <p:txBody>
          <a:bodyPr wrap="square">
            <a:spAutoFit/>
          </a:bodyPr>
          <a:lstStyle/>
          <a:p>
            <a:pPr algn="ctr"/>
            <a:r>
              <a:rPr lang="zh-CN" altLang="en-US" sz="3200" dirty="0">
                <a:solidFill>
                  <a:schemeClr val="accent1">
                    <a:lumMod val="50000"/>
                  </a:schemeClr>
                </a:solidFill>
              </a:rPr>
              <a:t>脑电解码方法的硬件实现方面</a:t>
            </a:r>
          </a:p>
        </p:txBody>
      </p:sp>
    </p:spTree>
    <p:extLst>
      <p:ext uri="{BB962C8B-B14F-4D97-AF65-F5344CB8AC3E}">
        <p14:creationId xmlns:p14="http://schemas.microsoft.com/office/powerpoint/2010/main" val="2030782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C08DF-05F5-D99C-A7F7-5F2F22BE3281}"/>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A36C2775-0CD1-857A-1EDD-A67E66FA8AE6}"/>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D7EB102A-744E-16D9-D959-28F9EE8AE2F5}"/>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313C5907-15C9-2129-01CF-A756903C5389}"/>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653BA642-E179-2FCB-9B41-3BF70A9F2EE5}"/>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F4A9E3F6-F9F2-3A22-9CC7-73C726522386}"/>
              </a:ext>
            </a:extLst>
          </p:cNvPr>
          <p:cNvSpPr txBox="1"/>
          <p:nvPr/>
        </p:nvSpPr>
        <p:spPr>
          <a:xfrm>
            <a:off x="4875152" y="390993"/>
            <a:ext cx="2441694"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研究目标</a:t>
            </a:r>
          </a:p>
        </p:txBody>
      </p:sp>
      <p:sp>
        <p:nvSpPr>
          <p:cNvPr id="9" name="文本框 8">
            <a:extLst>
              <a:ext uri="{FF2B5EF4-FFF2-40B4-BE49-F238E27FC236}">
                <a16:creationId xmlns:a16="http://schemas.microsoft.com/office/drawing/2014/main" id="{22426163-154D-52CF-9F87-D199A523A9CA}"/>
              </a:ext>
            </a:extLst>
          </p:cNvPr>
          <p:cNvSpPr txBox="1"/>
          <p:nvPr/>
        </p:nvSpPr>
        <p:spPr>
          <a:xfrm>
            <a:off x="1375754" y="1797681"/>
            <a:ext cx="9213987" cy="1200329"/>
          </a:xfrm>
          <a:prstGeom prst="rect">
            <a:avLst/>
          </a:prstGeom>
          <a:noFill/>
        </p:spPr>
        <p:txBody>
          <a:bodyPr wrap="square" rtlCol="0">
            <a:spAutoFit/>
          </a:bodyPr>
          <a:lstStyle/>
          <a:p>
            <a:r>
              <a:rPr lang="zh-CN" altLang="en-US" sz="2400" b="1" dirty="0"/>
              <a:t>研究目标：</a:t>
            </a:r>
            <a:r>
              <a:rPr lang="zh-CN" altLang="en-US" sz="2400" dirty="0"/>
              <a:t>本研究旨在探索并实现一种基于改进自注意力机制的脑电解码方法，同时进行算法硬件部署。目标是在小体积设备上通过神经网络算法对复杂的脑电信号进行准确和高效的在线解码。</a:t>
            </a:r>
          </a:p>
        </p:txBody>
      </p:sp>
      <p:sp>
        <p:nvSpPr>
          <p:cNvPr id="14" name="文本框 13">
            <a:extLst>
              <a:ext uri="{FF2B5EF4-FFF2-40B4-BE49-F238E27FC236}">
                <a16:creationId xmlns:a16="http://schemas.microsoft.com/office/drawing/2014/main" id="{A98F6BE4-5D2F-7864-1F27-0C3127CA41F0}"/>
              </a:ext>
            </a:extLst>
          </p:cNvPr>
          <p:cNvSpPr txBox="1"/>
          <p:nvPr/>
        </p:nvSpPr>
        <p:spPr>
          <a:xfrm>
            <a:off x="2906973" y="3429000"/>
            <a:ext cx="6124803" cy="2677656"/>
          </a:xfrm>
          <a:prstGeom prst="rect">
            <a:avLst/>
          </a:prstGeom>
          <a:noFill/>
        </p:spPr>
        <p:txBody>
          <a:bodyPr wrap="square">
            <a:spAutoFit/>
          </a:bodyPr>
          <a:lstStyle/>
          <a:p>
            <a:pPr marL="457200" indent="-457200">
              <a:buFont typeface="Arial" panose="020B0604020202020204" pitchFamily="34" charset="0"/>
              <a:buChar char="•"/>
            </a:pPr>
            <a:r>
              <a:rPr lang="zh-CN" altLang="zh-CN" sz="2800" b="1" kern="100" dirty="0">
                <a:effectLst/>
                <a:ea typeface="楷体" panose="02010609060101010101" pitchFamily="49" charset="-122"/>
                <a:cs typeface="Times New Roman" panose="02020603050405020304" pitchFamily="18" charset="0"/>
              </a:rPr>
              <a:t>改进自注意力机制算法</a:t>
            </a:r>
            <a:endParaRPr lang="en-US" altLang="zh-CN" sz="2800" b="1" kern="100" dirty="0">
              <a:effectLst/>
              <a:ea typeface="楷体" panose="02010609060101010101" pitchFamily="49" charset="-122"/>
              <a:cs typeface="Times New Roman" panose="02020603050405020304" pitchFamily="18" charset="0"/>
            </a:endParaRPr>
          </a:p>
          <a:p>
            <a:pPr marL="457200" indent="-457200">
              <a:buFont typeface="Arial" panose="020B0604020202020204" pitchFamily="34" charset="0"/>
              <a:buChar char="•"/>
            </a:pPr>
            <a:endParaRPr lang="en-US" altLang="zh-CN" sz="2800" b="1" kern="100" dirty="0">
              <a:ea typeface="楷体" panose="02010609060101010101" pitchFamily="49" charset="-122"/>
              <a:cs typeface="Times New Roman" panose="02020603050405020304" pitchFamily="18" charset="0"/>
            </a:endParaRPr>
          </a:p>
          <a:p>
            <a:pPr marL="457200" indent="-457200">
              <a:buFont typeface="Arial" panose="020B0604020202020204" pitchFamily="34" charset="0"/>
              <a:buChar char="•"/>
            </a:pPr>
            <a:r>
              <a:rPr lang="zh-CN" altLang="zh-CN" sz="2800" b="1" kern="100" dirty="0">
                <a:effectLst/>
                <a:ea typeface="楷体" panose="02010609060101010101" pitchFamily="49" charset="-122"/>
                <a:cs typeface="Times New Roman" panose="02020603050405020304" pitchFamily="18" charset="0"/>
              </a:rPr>
              <a:t>适配与部署神经网络模型</a:t>
            </a:r>
            <a:endParaRPr lang="en-US" altLang="zh-CN" sz="2800" b="1" kern="100" dirty="0">
              <a:effectLst/>
              <a:ea typeface="楷体" panose="02010609060101010101" pitchFamily="49" charset="-122"/>
              <a:cs typeface="Times New Roman" panose="02020603050405020304" pitchFamily="18" charset="0"/>
            </a:endParaRPr>
          </a:p>
          <a:p>
            <a:pPr marL="457200" indent="-457200">
              <a:buFont typeface="Arial" panose="020B0604020202020204" pitchFamily="34" charset="0"/>
              <a:buChar char="•"/>
            </a:pPr>
            <a:endParaRPr lang="en-US" altLang="zh-CN" sz="2800" b="1" kern="100" dirty="0">
              <a:ea typeface="楷体" panose="02010609060101010101" pitchFamily="49" charset="-122"/>
              <a:cs typeface="Times New Roman" panose="02020603050405020304" pitchFamily="18" charset="0"/>
            </a:endParaRPr>
          </a:p>
          <a:p>
            <a:pPr marL="457200" indent="-457200">
              <a:buFont typeface="Arial" panose="020B0604020202020204" pitchFamily="34" charset="0"/>
              <a:buChar char="•"/>
            </a:pPr>
            <a:r>
              <a:rPr lang="zh-CN" altLang="en-US" sz="2800" b="1" kern="100" dirty="0">
                <a:ea typeface="楷体" panose="02010609060101010101" pitchFamily="49" charset="-122"/>
                <a:cs typeface="Times New Roman" panose="02020603050405020304" pitchFamily="18" charset="0"/>
              </a:rPr>
              <a:t>实现在线脑电解码的应用程序</a:t>
            </a:r>
          </a:p>
          <a:p>
            <a:pPr marL="457200" indent="-457200">
              <a:buFont typeface="Arial" panose="020B0604020202020204" pitchFamily="34" charset="0"/>
              <a:buChar char="•"/>
            </a:pPr>
            <a:endParaRPr lang="zh-CN" altLang="en-US" sz="2800" dirty="0"/>
          </a:p>
        </p:txBody>
      </p:sp>
    </p:spTree>
    <p:extLst>
      <p:ext uri="{BB962C8B-B14F-4D97-AF65-F5344CB8AC3E}">
        <p14:creationId xmlns:p14="http://schemas.microsoft.com/office/powerpoint/2010/main" val="383569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7A861-4E5E-42A6-3836-6BA5882B9C19}"/>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10B1C48E-01B7-97A2-3369-E2AA9F42BCB9}"/>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11D57986-A54C-37AA-939E-9ACA8E62D4C8}"/>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1E46B599-2BC1-D4E7-4012-BAF5888118CE}"/>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CB522F05-2B16-E8A4-2BB3-AD29409D99C5}"/>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9D8479A3-DFB4-9954-CC15-30A6533DE7CF}"/>
              </a:ext>
            </a:extLst>
          </p:cNvPr>
          <p:cNvSpPr txBox="1"/>
          <p:nvPr/>
        </p:nvSpPr>
        <p:spPr>
          <a:xfrm>
            <a:off x="3464509" y="254251"/>
            <a:ext cx="5262980"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研究内容及技术路线</a:t>
            </a:r>
          </a:p>
        </p:txBody>
      </p:sp>
      <p:sp>
        <p:nvSpPr>
          <p:cNvPr id="5" name="矩形: 圆角 4">
            <a:extLst>
              <a:ext uri="{FF2B5EF4-FFF2-40B4-BE49-F238E27FC236}">
                <a16:creationId xmlns:a16="http://schemas.microsoft.com/office/drawing/2014/main" id="{A4EA5A84-0405-BE4D-D894-21A6F7740FE0}"/>
              </a:ext>
            </a:extLst>
          </p:cNvPr>
          <p:cNvSpPr/>
          <p:nvPr/>
        </p:nvSpPr>
        <p:spPr>
          <a:xfrm>
            <a:off x="3909042" y="1839251"/>
            <a:ext cx="4179860" cy="3191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400" b="1" kern="100" dirty="0">
                <a:effectLst/>
                <a:latin typeface="楷体" panose="02010609060101010101" pitchFamily="49" charset="-122"/>
                <a:ea typeface="楷体" panose="02010609060101010101" pitchFamily="49" charset="-122"/>
                <a:cs typeface="Times New Roman" panose="02020603050405020304" pitchFamily="18" charset="0"/>
              </a:rPr>
              <a:t>基于自注意力机制的脑电解码及硬件系统设计</a:t>
            </a:r>
            <a:endParaRPr lang="zh-CN" altLang="en-US" sz="1400" b="1" dirty="0">
              <a:latin typeface="楷体" panose="02010609060101010101" pitchFamily="49" charset="-122"/>
              <a:ea typeface="楷体" panose="02010609060101010101" pitchFamily="49" charset="-122"/>
            </a:endParaRPr>
          </a:p>
        </p:txBody>
      </p:sp>
      <p:sp>
        <p:nvSpPr>
          <p:cNvPr id="7" name="箭头: 下 6">
            <a:extLst>
              <a:ext uri="{FF2B5EF4-FFF2-40B4-BE49-F238E27FC236}">
                <a16:creationId xmlns:a16="http://schemas.microsoft.com/office/drawing/2014/main" id="{EF5A64EE-8D8E-EA8D-EE9A-3A2256E882B5}"/>
              </a:ext>
            </a:extLst>
          </p:cNvPr>
          <p:cNvSpPr/>
          <p:nvPr/>
        </p:nvSpPr>
        <p:spPr>
          <a:xfrm>
            <a:off x="4517673" y="3321540"/>
            <a:ext cx="552322" cy="1170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a:extLst>
              <a:ext uri="{FF2B5EF4-FFF2-40B4-BE49-F238E27FC236}">
                <a16:creationId xmlns:a16="http://schemas.microsoft.com/office/drawing/2014/main" id="{DBD08008-BDDB-6AC0-D386-354B3F5FDC61}"/>
              </a:ext>
            </a:extLst>
          </p:cNvPr>
          <p:cNvSpPr/>
          <p:nvPr/>
        </p:nvSpPr>
        <p:spPr>
          <a:xfrm>
            <a:off x="4517673" y="4103350"/>
            <a:ext cx="552322" cy="1328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52CFEEA4-39D4-1C29-6947-9E9B91190DE9}"/>
              </a:ext>
            </a:extLst>
          </p:cNvPr>
          <p:cNvSpPr/>
          <p:nvPr/>
        </p:nvSpPr>
        <p:spPr>
          <a:xfrm>
            <a:off x="3939124" y="2662251"/>
            <a:ext cx="1709420" cy="6189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00" b="1" kern="100" dirty="0">
                <a:effectLst/>
                <a:ea typeface="楷体" panose="02010609060101010101" pitchFamily="49" charset="-122"/>
                <a:cs typeface="Times New Roman" panose="02020603050405020304" pitchFamily="18" charset="0"/>
              </a:rPr>
              <a:t>改进自注意力机制算法</a:t>
            </a:r>
            <a:endParaRPr lang="zh-CN" altLang="en-US" dirty="0"/>
          </a:p>
        </p:txBody>
      </p:sp>
      <p:sp>
        <p:nvSpPr>
          <p:cNvPr id="13" name="矩形: 圆角 12">
            <a:extLst>
              <a:ext uri="{FF2B5EF4-FFF2-40B4-BE49-F238E27FC236}">
                <a16:creationId xmlns:a16="http://schemas.microsoft.com/office/drawing/2014/main" id="{8DAB33AB-71F2-5AD5-A909-7EF5FD2C4A05}"/>
              </a:ext>
            </a:extLst>
          </p:cNvPr>
          <p:cNvSpPr/>
          <p:nvPr/>
        </p:nvSpPr>
        <p:spPr>
          <a:xfrm>
            <a:off x="3949272" y="3470856"/>
            <a:ext cx="1686560" cy="5879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00" b="1" kern="100" dirty="0">
                <a:effectLst/>
                <a:ea typeface="楷体" panose="02010609060101010101" pitchFamily="49" charset="-122"/>
                <a:cs typeface="Times New Roman" panose="02020603050405020304" pitchFamily="18" charset="0"/>
              </a:rPr>
              <a:t>部署神经网络模型</a:t>
            </a:r>
            <a:endParaRPr lang="zh-CN" altLang="en-US" dirty="0"/>
          </a:p>
        </p:txBody>
      </p:sp>
      <p:sp>
        <p:nvSpPr>
          <p:cNvPr id="15" name="矩形: 圆角 14">
            <a:extLst>
              <a:ext uri="{FF2B5EF4-FFF2-40B4-BE49-F238E27FC236}">
                <a16:creationId xmlns:a16="http://schemas.microsoft.com/office/drawing/2014/main" id="{0B38537D-10E8-B480-5F46-A228C368E6A4}"/>
              </a:ext>
            </a:extLst>
          </p:cNvPr>
          <p:cNvSpPr/>
          <p:nvPr/>
        </p:nvSpPr>
        <p:spPr>
          <a:xfrm>
            <a:off x="3913199" y="4331370"/>
            <a:ext cx="1766570" cy="8343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effectLst/>
                <a:ea typeface="楷体" panose="02010609060101010101" pitchFamily="49" charset="-122"/>
                <a:cs typeface="Times New Roman" panose="02020603050405020304" pitchFamily="18" charset="0"/>
              </a:rPr>
              <a:t>实现在线脑电解码应用程序</a:t>
            </a:r>
            <a:endParaRPr lang="zh-CN" altLang="en-US" dirty="0"/>
          </a:p>
        </p:txBody>
      </p:sp>
      <p:sp>
        <p:nvSpPr>
          <p:cNvPr id="17" name="矩形: 圆角 16">
            <a:extLst>
              <a:ext uri="{FF2B5EF4-FFF2-40B4-BE49-F238E27FC236}">
                <a16:creationId xmlns:a16="http://schemas.microsoft.com/office/drawing/2014/main" id="{76546061-59D6-2987-842E-F93DF1AB734A}"/>
              </a:ext>
            </a:extLst>
          </p:cNvPr>
          <p:cNvSpPr/>
          <p:nvPr/>
        </p:nvSpPr>
        <p:spPr>
          <a:xfrm>
            <a:off x="3949272" y="2239426"/>
            <a:ext cx="1663700" cy="319120"/>
          </a:xfrm>
          <a:prstGeom prst="roundRect">
            <a:avLst/>
          </a:prstGeom>
          <a:noFill/>
          <a:ln w="41275"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solidFill>
                  <a:schemeClr val="tx1"/>
                </a:solidFill>
                <a:effectLst/>
                <a:ea typeface="楷体" panose="02010609060101010101" pitchFamily="49" charset="-122"/>
                <a:cs typeface="Times New Roman" panose="02020603050405020304" pitchFamily="18" charset="0"/>
              </a:rPr>
              <a:t>研究设计任务</a:t>
            </a:r>
            <a:endParaRPr lang="zh-CN" altLang="en-US" dirty="0">
              <a:solidFill>
                <a:schemeClr val="tx1"/>
              </a:solidFill>
            </a:endParaRPr>
          </a:p>
        </p:txBody>
      </p:sp>
      <p:sp>
        <p:nvSpPr>
          <p:cNvPr id="21" name="矩形: 圆角 20">
            <a:extLst>
              <a:ext uri="{FF2B5EF4-FFF2-40B4-BE49-F238E27FC236}">
                <a16:creationId xmlns:a16="http://schemas.microsoft.com/office/drawing/2014/main" id="{92BE022A-70EE-B4CF-D21E-919BF436D686}"/>
              </a:ext>
            </a:extLst>
          </p:cNvPr>
          <p:cNvSpPr/>
          <p:nvPr/>
        </p:nvSpPr>
        <p:spPr>
          <a:xfrm>
            <a:off x="5730053" y="2236506"/>
            <a:ext cx="2390294" cy="333652"/>
          </a:xfrm>
          <a:prstGeom prst="roundRect">
            <a:avLst/>
          </a:prstGeom>
          <a:noFill/>
          <a:ln w="41275"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solidFill>
                  <a:schemeClr val="tx1"/>
                </a:solidFill>
                <a:effectLst/>
                <a:ea typeface="楷体" panose="02010609060101010101" pitchFamily="49" charset="-122"/>
                <a:cs typeface="Times New Roman" panose="02020603050405020304" pitchFamily="18" charset="0"/>
              </a:rPr>
              <a:t>研究设计方法</a:t>
            </a:r>
            <a:endParaRPr lang="zh-CN" altLang="en-US" dirty="0">
              <a:solidFill>
                <a:schemeClr val="tx1"/>
              </a:solidFill>
            </a:endParaRPr>
          </a:p>
        </p:txBody>
      </p:sp>
      <p:sp>
        <p:nvSpPr>
          <p:cNvPr id="23" name="矩形: 圆角 22">
            <a:extLst>
              <a:ext uri="{FF2B5EF4-FFF2-40B4-BE49-F238E27FC236}">
                <a16:creationId xmlns:a16="http://schemas.microsoft.com/office/drawing/2014/main" id="{9BBFD34B-0E17-A2D6-806A-C81715EB5A47}"/>
              </a:ext>
            </a:extLst>
          </p:cNvPr>
          <p:cNvSpPr/>
          <p:nvPr/>
        </p:nvSpPr>
        <p:spPr>
          <a:xfrm>
            <a:off x="5730053" y="2662251"/>
            <a:ext cx="2390295" cy="6145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楷体" panose="02010609060101010101" pitchFamily="49" charset="-122"/>
                <a:ea typeface="楷体" panose="02010609060101010101" pitchFamily="49" charset="-122"/>
              </a:rPr>
              <a:t>融合卷积模块增强局部特征提取能力</a:t>
            </a:r>
          </a:p>
        </p:txBody>
      </p:sp>
      <p:sp>
        <p:nvSpPr>
          <p:cNvPr id="26" name="矩形: 圆角 25">
            <a:extLst>
              <a:ext uri="{FF2B5EF4-FFF2-40B4-BE49-F238E27FC236}">
                <a16:creationId xmlns:a16="http://schemas.microsoft.com/office/drawing/2014/main" id="{3C8EF2E6-69B4-648E-8F8B-BA19FE6AADF6}"/>
              </a:ext>
            </a:extLst>
          </p:cNvPr>
          <p:cNvSpPr/>
          <p:nvPr/>
        </p:nvSpPr>
        <p:spPr>
          <a:xfrm>
            <a:off x="5730053" y="4634545"/>
            <a:ext cx="2358848" cy="227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effectLst/>
                <a:ea typeface="楷体" panose="02010609060101010101" pitchFamily="49" charset="-122"/>
                <a:cs typeface="Times New Roman" panose="02020603050405020304" pitchFamily="18" charset="0"/>
              </a:rPr>
              <a:t>在线运行算法推理</a:t>
            </a:r>
            <a:endParaRPr lang="zh-CN" altLang="en-US" dirty="0"/>
          </a:p>
        </p:txBody>
      </p:sp>
      <p:sp>
        <p:nvSpPr>
          <p:cNvPr id="27" name="矩形: 圆角 26">
            <a:extLst>
              <a:ext uri="{FF2B5EF4-FFF2-40B4-BE49-F238E27FC236}">
                <a16:creationId xmlns:a16="http://schemas.microsoft.com/office/drawing/2014/main" id="{F87D95B1-984C-FB66-8143-B85414E2C2E6}"/>
              </a:ext>
            </a:extLst>
          </p:cNvPr>
          <p:cNvSpPr/>
          <p:nvPr/>
        </p:nvSpPr>
        <p:spPr>
          <a:xfrm>
            <a:off x="5730052" y="4911250"/>
            <a:ext cx="2358847" cy="254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effectLst/>
                <a:ea typeface="楷体" panose="02010609060101010101" pitchFamily="49" charset="-122"/>
                <a:cs typeface="Times New Roman" panose="02020603050405020304" pitchFamily="18" charset="0"/>
              </a:rPr>
              <a:t>人机交互显示界面</a:t>
            </a:r>
            <a:endParaRPr lang="zh-CN" altLang="en-US" dirty="0"/>
          </a:p>
        </p:txBody>
      </p:sp>
      <p:sp>
        <p:nvSpPr>
          <p:cNvPr id="28" name="矩形: 圆角 27">
            <a:extLst>
              <a:ext uri="{FF2B5EF4-FFF2-40B4-BE49-F238E27FC236}">
                <a16:creationId xmlns:a16="http://schemas.microsoft.com/office/drawing/2014/main" id="{7A537402-4555-8017-A4D4-B44E2EA68B38}"/>
              </a:ext>
            </a:extLst>
          </p:cNvPr>
          <p:cNvSpPr/>
          <p:nvPr/>
        </p:nvSpPr>
        <p:spPr>
          <a:xfrm>
            <a:off x="5730052" y="4331370"/>
            <a:ext cx="2358849" cy="254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effectLst/>
                <a:ea typeface="楷体" panose="02010609060101010101" pitchFamily="49" charset="-122"/>
                <a:cs typeface="Times New Roman" panose="02020603050405020304" pitchFamily="18" charset="0"/>
              </a:rPr>
              <a:t>数据传输功能</a:t>
            </a:r>
            <a:endParaRPr lang="zh-CN" altLang="en-US" dirty="0"/>
          </a:p>
        </p:txBody>
      </p:sp>
      <p:sp>
        <p:nvSpPr>
          <p:cNvPr id="29" name="矩形: 圆角 28">
            <a:extLst>
              <a:ext uri="{FF2B5EF4-FFF2-40B4-BE49-F238E27FC236}">
                <a16:creationId xmlns:a16="http://schemas.microsoft.com/office/drawing/2014/main" id="{2709CCFC-4451-B648-333A-5A81892396C0}"/>
              </a:ext>
            </a:extLst>
          </p:cNvPr>
          <p:cNvSpPr/>
          <p:nvPr/>
        </p:nvSpPr>
        <p:spPr>
          <a:xfrm>
            <a:off x="5730054" y="3483622"/>
            <a:ext cx="717782" cy="263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kern="100" dirty="0">
                <a:effectLst/>
                <a:ea typeface="楷体" panose="02010609060101010101" pitchFamily="49" charset="-122"/>
                <a:cs typeface="Times New Roman" panose="02020603050405020304" pitchFamily="18" charset="0"/>
              </a:rPr>
              <a:t>RKNPU</a:t>
            </a:r>
            <a:endParaRPr lang="zh-CN" altLang="en-US" sz="1200" dirty="0"/>
          </a:p>
        </p:txBody>
      </p:sp>
      <p:sp>
        <p:nvSpPr>
          <p:cNvPr id="30" name="矩形: 圆角 29">
            <a:extLst>
              <a:ext uri="{FF2B5EF4-FFF2-40B4-BE49-F238E27FC236}">
                <a16:creationId xmlns:a16="http://schemas.microsoft.com/office/drawing/2014/main" id="{8273A07A-C302-5DA9-C2B6-99E9D324F2D6}"/>
              </a:ext>
            </a:extLst>
          </p:cNvPr>
          <p:cNvSpPr/>
          <p:nvPr/>
        </p:nvSpPr>
        <p:spPr>
          <a:xfrm>
            <a:off x="5730053" y="3805515"/>
            <a:ext cx="717783" cy="263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kern="100" dirty="0">
                <a:ea typeface="楷体" panose="02010609060101010101" pitchFamily="49" charset="-122"/>
                <a:cs typeface="Times New Roman" panose="02020603050405020304" pitchFamily="18" charset="0"/>
              </a:rPr>
              <a:t>FPGA</a:t>
            </a:r>
            <a:endParaRPr lang="zh-CN" altLang="en-US" sz="1400" b="1" kern="100" dirty="0">
              <a:ea typeface="楷体" panose="02010609060101010101" pitchFamily="49" charset="-122"/>
              <a:cs typeface="Times New Roman" panose="02020603050405020304" pitchFamily="18" charset="0"/>
            </a:endParaRPr>
          </a:p>
        </p:txBody>
      </p:sp>
      <p:sp>
        <p:nvSpPr>
          <p:cNvPr id="32" name="矩形: 圆角 31">
            <a:extLst>
              <a:ext uri="{FF2B5EF4-FFF2-40B4-BE49-F238E27FC236}">
                <a16:creationId xmlns:a16="http://schemas.microsoft.com/office/drawing/2014/main" id="{7E2D6B3C-C936-7BBC-9EF0-2D850EAFB41F}"/>
              </a:ext>
            </a:extLst>
          </p:cNvPr>
          <p:cNvSpPr/>
          <p:nvPr/>
        </p:nvSpPr>
        <p:spPr>
          <a:xfrm>
            <a:off x="6493108" y="3484975"/>
            <a:ext cx="217362" cy="5879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effectLst/>
                <a:ea typeface="楷体" panose="02010609060101010101" pitchFamily="49" charset="-122"/>
                <a:cs typeface="Times New Roman" panose="02020603050405020304" pitchFamily="18" charset="0"/>
              </a:rPr>
              <a:t>量化</a:t>
            </a:r>
            <a:endParaRPr lang="zh-CN" altLang="en-US" dirty="0"/>
          </a:p>
        </p:txBody>
      </p:sp>
      <p:sp>
        <p:nvSpPr>
          <p:cNvPr id="34" name="矩形: 圆角 33">
            <a:extLst>
              <a:ext uri="{FF2B5EF4-FFF2-40B4-BE49-F238E27FC236}">
                <a16:creationId xmlns:a16="http://schemas.microsoft.com/office/drawing/2014/main" id="{0B44771E-DE97-E4ED-3435-384497C29159}"/>
              </a:ext>
            </a:extLst>
          </p:cNvPr>
          <p:cNvSpPr/>
          <p:nvPr/>
        </p:nvSpPr>
        <p:spPr>
          <a:xfrm>
            <a:off x="6755742" y="3479004"/>
            <a:ext cx="240632" cy="5879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effectLst/>
                <a:ea typeface="楷体" panose="02010609060101010101" pitchFamily="49" charset="-122"/>
                <a:cs typeface="Times New Roman" panose="02020603050405020304" pitchFamily="18" charset="0"/>
              </a:rPr>
              <a:t>剪枝</a:t>
            </a:r>
            <a:endParaRPr lang="zh-CN" altLang="en-US" dirty="0"/>
          </a:p>
        </p:txBody>
      </p:sp>
      <p:sp>
        <p:nvSpPr>
          <p:cNvPr id="38" name="矩形: 圆角 37">
            <a:extLst>
              <a:ext uri="{FF2B5EF4-FFF2-40B4-BE49-F238E27FC236}">
                <a16:creationId xmlns:a16="http://schemas.microsoft.com/office/drawing/2014/main" id="{0EA5325C-006F-A8C5-B95B-3F08BAEB56E5}"/>
              </a:ext>
            </a:extLst>
          </p:cNvPr>
          <p:cNvSpPr/>
          <p:nvPr/>
        </p:nvSpPr>
        <p:spPr>
          <a:xfrm>
            <a:off x="7047656" y="3789168"/>
            <a:ext cx="1068627" cy="263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100" dirty="0">
                <a:ea typeface="楷体" panose="02010609060101010101" pitchFamily="49" charset="-122"/>
                <a:cs typeface="Times New Roman" panose="02020603050405020304" pitchFamily="18" charset="0"/>
              </a:rPr>
              <a:t>硬件加速</a:t>
            </a:r>
          </a:p>
        </p:txBody>
      </p:sp>
      <p:sp>
        <p:nvSpPr>
          <p:cNvPr id="39" name="矩形: 圆角 38">
            <a:extLst>
              <a:ext uri="{FF2B5EF4-FFF2-40B4-BE49-F238E27FC236}">
                <a16:creationId xmlns:a16="http://schemas.microsoft.com/office/drawing/2014/main" id="{1CA5580A-2EB7-8A8B-584E-50B57D6EBAB5}"/>
              </a:ext>
            </a:extLst>
          </p:cNvPr>
          <p:cNvSpPr/>
          <p:nvPr/>
        </p:nvSpPr>
        <p:spPr>
          <a:xfrm>
            <a:off x="7059138" y="3476901"/>
            <a:ext cx="1057146" cy="263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kern="100" dirty="0">
                <a:ea typeface="楷体" panose="02010609060101010101" pitchFamily="49" charset="-122"/>
                <a:cs typeface="Times New Roman" panose="02020603050405020304" pitchFamily="18" charset="0"/>
              </a:rPr>
              <a:t>自定义算子</a:t>
            </a:r>
          </a:p>
        </p:txBody>
      </p:sp>
      <p:sp>
        <p:nvSpPr>
          <p:cNvPr id="42" name="矩形: 圆角 41">
            <a:extLst>
              <a:ext uri="{FF2B5EF4-FFF2-40B4-BE49-F238E27FC236}">
                <a16:creationId xmlns:a16="http://schemas.microsoft.com/office/drawing/2014/main" id="{0D7B5EEE-7FFB-AD0C-02DD-BA9AF5B1473B}"/>
              </a:ext>
            </a:extLst>
          </p:cNvPr>
          <p:cNvSpPr/>
          <p:nvPr/>
        </p:nvSpPr>
        <p:spPr>
          <a:xfrm>
            <a:off x="3861654" y="2613686"/>
            <a:ext cx="4309534" cy="707854"/>
          </a:xfrm>
          <a:prstGeom prst="roundRect">
            <a:avLst/>
          </a:prstGeom>
          <a:noFill/>
          <a:ln w="28575">
            <a:solidFill>
              <a:srgbClr val="0070C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tx1"/>
              </a:solidFill>
            </a:endParaRPr>
          </a:p>
        </p:txBody>
      </p:sp>
      <p:sp>
        <p:nvSpPr>
          <p:cNvPr id="43" name="矩形: 圆角 42">
            <a:extLst>
              <a:ext uri="{FF2B5EF4-FFF2-40B4-BE49-F238E27FC236}">
                <a16:creationId xmlns:a16="http://schemas.microsoft.com/office/drawing/2014/main" id="{5ED83548-2DDA-E2E4-ACD6-3DA91019A0DF}"/>
              </a:ext>
            </a:extLst>
          </p:cNvPr>
          <p:cNvSpPr/>
          <p:nvPr/>
        </p:nvSpPr>
        <p:spPr>
          <a:xfrm>
            <a:off x="3861653" y="3438555"/>
            <a:ext cx="4309534" cy="664794"/>
          </a:xfrm>
          <a:prstGeom prst="roundRect">
            <a:avLst>
              <a:gd name="adj" fmla="val 5697"/>
            </a:avLst>
          </a:prstGeom>
          <a:noFill/>
          <a:ln w="28575">
            <a:solidFill>
              <a:srgbClr val="0070C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tx1"/>
              </a:solidFill>
            </a:endParaRPr>
          </a:p>
        </p:txBody>
      </p:sp>
      <p:sp>
        <p:nvSpPr>
          <p:cNvPr id="44" name="矩形: 圆角 43">
            <a:extLst>
              <a:ext uri="{FF2B5EF4-FFF2-40B4-BE49-F238E27FC236}">
                <a16:creationId xmlns:a16="http://schemas.microsoft.com/office/drawing/2014/main" id="{92B917DC-E577-9023-0A03-AAC8FEF0BAC5}"/>
              </a:ext>
            </a:extLst>
          </p:cNvPr>
          <p:cNvSpPr/>
          <p:nvPr/>
        </p:nvSpPr>
        <p:spPr>
          <a:xfrm>
            <a:off x="3844902" y="4238376"/>
            <a:ext cx="4310643" cy="985773"/>
          </a:xfrm>
          <a:prstGeom prst="roundRect">
            <a:avLst>
              <a:gd name="adj" fmla="val 5697"/>
            </a:avLst>
          </a:prstGeom>
          <a:noFill/>
          <a:ln w="28575">
            <a:solidFill>
              <a:srgbClr val="0070C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tx1"/>
              </a:solidFill>
            </a:endParaRPr>
          </a:p>
        </p:txBody>
      </p:sp>
    </p:spTree>
    <p:extLst>
      <p:ext uri="{BB962C8B-B14F-4D97-AF65-F5344CB8AC3E}">
        <p14:creationId xmlns:p14="http://schemas.microsoft.com/office/powerpoint/2010/main" val="1426175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113E7-FA17-60EB-FDAB-F60E017F636F}"/>
            </a:ext>
          </a:extLst>
        </p:cNvPr>
        <p:cNvGrpSpPr/>
        <p:nvPr/>
      </p:nvGrpSpPr>
      <p:grpSpPr>
        <a:xfrm>
          <a:off x="0" y="0"/>
          <a:ext cx="0" cy="0"/>
          <a:chOff x="0" y="0"/>
          <a:chExt cx="0" cy="0"/>
        </a:xfrm>
      </p:grpSpPr>
      <p:sp>
        <p:nvSpPr>
          <p:cNvPr id="31" name="文本框 8">
            <a:extLst>
              <a:ext uri="{FF2B5EF4-FFF2-40B4-BE49-F238E27FC236}">
                <a16:creationId xmlns:a16="http://schemas.microsoft.com/office/drawing/2014/main" id="{C660CE6F-58F5-E9FA-12D1-26B3C1B79D52}"/>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12B9E224-2966-692F-751A-47F58CA33F6A}"/>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1C6B4C85-EC83-6E27-0809-DB2B8B28CA59}"/>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5" name="文本框 4">
            <a:extLst>
              <a:ext uri="{FF2B5EF4-FFF2-40B4-BE49-F238E27FC236}">
                <a16:creationId xmlns:a16="http://schemas.microsoft.com/office/drawing/2014/main" id="{AE653A7B-6008-10E5-DAD4-77848E892E69}"/>
              </a:ext>
            </a:extLst>
          </p:cNvPr>
          <p:cNvSpPr txBox="1"/>
          <p:nvPr/>
        </p:nvSpPr>
        <p:spPr>
          <a:xfrm>
            <a:off x="-1443870" y="849854"/>
            <a:ext cx="14957941" cy="584775"/>
          </a:xfrm>
          <a:prstGeom prst="rect">
            <a:avLst/>
          </a:prstGeom>
          <a:noFill/>
        </p:spPr>
        <p:txBody>
          <a:bodyPr wrap="square" rtlCol="0">
            <a:spAutoFit/>
          </a:bodyPr>
          <a:lstStyle/>
          <a:p>
            <a:pPr algn="ctr"/>
            <a:r>
              <a:rPr lang="zh-CN" altLang="en-US" sz="3200" dirty="0">
                <a:solidFill>
                  <a:schemeClr val="accent1">
                    <a:lumMod val="50000"/>
                  </a:schemeClr>
                </a:solidFill>
              </a:rPr>
              <a:t>基于自注意力机制的认知状态评估算法改进方案</a:t>
            </a:r>
            <a:endParaRPr lang="en-US" altLang="zh-CN" sz="3200" dirty="0">
              <a:solidFill>
                <a:schemeClr val="accent1">
                  <a:lumMod val="50000"/>
                </a:schemeClr>
              </a:solidFill>
            </a:endParaRPr>
          </a:p>
        </p:txBody>
      </p:sp>
      <p:sp>
        <p:nvSpPr>
          <p:cNvPr id="11" name="文本框 10">
            <a:extLst>
              <a:ext uri="{FF2B5EF4-FFF2-40B4-BE49-F238E27FC236}">
                <a16:creationId xmlns:a16="http://schemas.microsoft.com/office/drawing/2014/main" id="{64B332F5-2176-EB88-AEFD-BA5C614B2F39}"/>
              </a:ext>
            </a:extLst>
          </p:cNvPr>
          <p:cNvSpPr txBox="1"/>
          <p:nvPr/>
        </p:nvSpPr>
        <p:spPr>
          <a:xfrm>
            <a:off x="2294732" y="9700"/>
            <a:ext cx="7480738"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0"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研究内容及技术路线</a:t>
            </a:r>
          </a:p>
        </p:txBody>
      </p:sp>
      <p:pic>
        <p:nvPicPr>
          <p:cNvPr id="4" name="图片 3">
            <a:extLst>
              <a:ext uri="{FF2B5EF4-FFF2-40B4-BE49-F238E27FC236}">
                <a16:creationId xmlns:a16="http://schemas.microsoft.com/office/drawing/2014/main" id="{66F1A94E-9662-390C-EA6F-9BB303C06C9B}"/>
              </a:ext>
            </a:extLst>
          </p:cNvPr>
          <p:cNvPicPr>
            <a:picLocks noChangeAspect="1"/>
          </p:cNvPicPr>
          <p:nvPr/>
        </p:nvPicPr>
        <p:blipFill rotWithShape="1">
          <a:blip r:embed="rId3"/>
          <a:srcRect l="70409" t="9182" r="1861" b="10366"/>
          <a:stretch/>
        </p:blipFill>
        <p:spPr bwMode="auto">
          <a:xfrm>
            <a:off x="2536826" y="2746834"/>
            <a:ext cx="2539382" cy="2399744"/>
          </a:xfrm>
          <a:prstGeom prst="rect">
            <a:avLst/>
          </a:prstGeom>
          <a:ln>
            <a:noFill/>
          </a:ln>
          <a:extLst>
            <a:ext uri="{53640926-AAD7-44D8-BBD7-CCE9431645EC}">
              <a14:shadowObscured xmlns:a14="http://schemas.microsoft.com/office/drawing/2010/main"/>
            </a:ext>
          </a:extLst>
        </p:spPr>
      </p:pic>
      <p:sp>
        <p:nvSpPr>
          <p:cNvPr id="6" name="Rectangle 2">
            <a:extLst>
              <a:ext uri="{FF2B5EF4-FFF2-40B4-BE49-F238E27FC236}">
                <a16:creationId xmlns:a16="http://schemas.microsoft.com/office/drawing/2014/main" id="{183BD419-A10D-1D70-B5C9-6E2AB33278E3}"/>
              </a:ext>
            </a:extLst>
          </p:cNvPr>
          <p:cNvSpPr>
            <a:spLocks noChangeArrowheads="1"/>
          </p:cNvSpPr>
          <p:nvPr/>
        </p:nvSpPr>
        <p:spPr bwMode="auto">
          <a:xfrm>
            <a:off x="1953928" y="181917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a:extLst>
              <a:ext uri="{FF2B5EF4-FFF2-40B4-BE49-F238E27FC236}">
                <a16:creationId xmlns:a16="http://schemas.microsoft.com/office/drawing/2014/main" id="{AB56E655-FB97-5B14-2B62-5B647779B0DE}"/>
              </a:ext>
            </a:extLst>
          </p:cNvPr>
          <p:cNvGraphicFramePr>
            <a:graphicFrameLocks noChangeAspect="1"/>
          </p:cNvGraphicFramePr>
          <p:nvPr>
            <p:extLst>
              <p:ext uri="{D42A27DB-BD31-4B8C-83A1-F6EECF244321}">
                <p14:modId xmlns:p14="http://schemas.microsoft.com/office/powerpoint/2010/main" val="174572314"/>
              </p:ext>
            </p:extLst>
          </p:nvPr>
        </p:nvGraphicFramePr>
        <p:xfrm>
          <a:off x="3713746" y="1832397"/>
          <a:ext cx="4764505" cy="742646"/>
        </p:xfrm>
        <a:graphic>
          <a:graphicData uri="http://schemas.openxmlformats.org/presentationml/2006/ole">
            <mc:AlternateContent xmlns:mc="http://schemas.openxmlformats.org/markup-compatibility/2006">
              <mc:Choice xmlns:v="urn:schemas-microsoft-com:vml" Requires="v">
                <p:oleObj r:id="rId4" imgW="3136900" imgH="482600" progId="Unknown">
                  <p:embed/>
                </p:oleObj>
              </mc:Choice>
              <mc:Fallback>
                <p:oleObj r:id="rId4" imgW="3136900" imgH="482600" progId="Unknown">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3746" y="1832397"/>
                        <a:ext cx="4764505" cy="742646"/>
                      </a:xfrm>
                      <a:prstGeom prst="rect">
                        <a:avLst/>
                      </a:prstGeom>
                      <a:noFill/>
                    </p:spPr>
                  </p:pic>
                </p:oleObj>
              </mc:Fallback>
            </mc:AlternateContent>
          </a:graphicData>
        </a:graphic>
      </p:graphicFrame>
      <p:pic>
        <p:nvPicPr>
          <p:cNvPr id="10" name="图片 9">
            <a:extLst>
              <a:ext uri="{FF2B5EF4-FFF2-40B4-BE49-F238E27FC236}">
                <a16:creationId xmlns:a16="http://schemas.microsoft.com/office/drawing/2014/main" id="{AC684265-3FF8-2047-86C9-9C0DDAC7CD08}"/>
              </a:ext>
            </a:extLst>
          </p:cNvPr>
          <p:cNvPicPr>
            <a:picLocks noChangeAspect="1"/>
          </p:cNvPicPr>
          <p:nvPr/>
        </p:nvPicPr>
        <p:blipFill>
          <a:blip r:embed="rId6"/>
          <a:stretch>
            <a:fillRect/>
          </a:stretch>
        </p:blipFill>
        <p:spPr>
          <a:xfrm>
            <a:off x="3713746" y="5648866"/>
            <a:ext cx="5402580" cy="931164"/>
          </a:xfrm>
          <a:prstGeom prst="rect">
            <a:avLst/>
          </a:prstGeom>
        </p:spPr>
      </p:pic>
      <p:sp>
        <p:nvSpPr>
          <p:cNvPr id="13" name="文本框 12">
            <a:extLst>
              <a:ext uri="{FF2B5EF4-FFF2-40B4-BE49-F238E27FC236}">
                <a16:creationId xmlns:a16="http://schemas.microsoft.com/office/drawing/2014/main" id="{52EA421A-6897-BDA0-F436-A9A86E936ACE}"/>
              </a:ext>
            </a:extLst>
          </p:cNvPr>
          <p:cNvSpPr txBox="1"/>
          <p:nvPr/>
        </p:nvSpPr>
        <p:spPr>
          <a:xfrm>
            <a:off x="5631581" y="3511790"/>
            <a:ext cx="4836693" cy="923330"/>
          </a:xfrm>
          <a:prstGeom prst="rect">
            <a:avLst/>
          </a:prstGeom>
          <a:noFill/>
        </p:spPr>
        <p:txBody>
          <a:bodyPr wrap="square">
            <a:spAutoFit/>
          </a:bodyPr>
          <a:lstStyle/>
          <a:p>
            <a:r>
              <a:rPr lang="zh-CN" altLang="en-US" sz="1800" dirty="0">
                <a:effectLst/>
                <a:latin typeface="Times New Roman" panose="02020603050405020304" pitchFamily="18" charset="0"/>
                <a:ea typeface="楷体" panose="02010609060101010101" pitchFamily="49" charset="-122"/>
                <a:cs typeface="宋体" panose="02010600030101010101" pitchFamily="2" charset="-122"/>
              </a:rPr>
              <a:t>在</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注意力机制中</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 </a:t>
            </a:r>
            <a:r>
              <a:rPr lang="zh-CN" altLang="en-US" sz="1800" dirty="0">
                <a:effectLst/>
                <a:latin typeface="Times New Roman" panose="02020603050405020304" pitchFamily="18" charset="0"/>
                <a:ea typeface="楷体" panose="02010609060101010101" pitchFamily="49" charset="-122"/>
                <a:cs typeface="宋体" panose="02010600030101010101" pitchFamily="2" charset="-122"/>
              </a:rPr>
              <a:t>引入</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步幅为</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1</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，内核长度为</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5</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的一维因果卷积，使得生成的</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Q</a:t>
            </a:r>
            <a:r>
              <a:rPr lang="zh-CN" altLang="en-US" dirty="0">
                <a:latin typeface="Times New Roman" panose="02020603050405020304" pitchFamily="18" charset="0"/>
                <a:ea typeface="楷体" panose="02010609060101010101" pitchFamily="49" charset="-122"/>
                <a:cs typeface="宋体" panose="02010600030101010101" pitchFamily="2" charset="-122"/>
              </a:rPr>
              <a:t>、</a:t>
            </a:r>
            <a:r>
              <a:rPr lang="en-US" altLang="zh-CN" dirty="0">
                <a:latin typeface="Times New Roman" panose="02020603050405020304" pitchFamily="18" charset="0"/>
                <a:ea typeface="楷体" panose="02010609060101010101" pitchFamily="49" charset="-122"/>
                <a:cs typeface="宋体" panose="02010600030101010101" pitchFamily="2" charset="-122"/>
              </a:rPr>
              <a:t>K</a:t>
            </a:r>
            <a:r>
              <a:rPr lang="zh-CN" altLang="en-US" dirty="0">
                <a:latin typeface="Times New Roman" panose="02020603050405020304" pitchFamily="18" charset="0"/>
                <a:ea typeface="楷体" panose="02010609060101010101" pitchFamily="49" charset="-122"/>
                <a:cs typeface="宋体" panose="02010600030101010101" pitchFamily="2" charset="-122"/>
              </a:rPr>
              <a:t>矩阵</a:t>
            </a:r>
            <a:r>
              <a:rPr lang="en-US" altLang="zh-CN" sz="1800" dirty="0">
                <a:effectLst/>
                <a:latin typeface="Times New Roman" panose="02020603050405020304" pitchFamily="18" charset="0"/>
                <a:ea typeface="楷体" panose="02010609060101010101" pitchFamily="49" charset="-122"/>
                <a:cs typeface="宋体" panose="02010600030101010101" pitchFamily="2" charset="-122"/>
              </a:rPr>
              <a:t> </a:t>
            </a:r>
            <a:r>
              <a:rPr lang="zh-CN" altLang="zh-CN" sz="1800" dirty="0">
                <a:effectLst/>
                <a:latin typeface="Times New Roman" panose="02020603050405020304" pitchFamily="18" charset="0"/>
                <a:ea typeface="楷体" panose="02010609060101010101" pitchFamily="49" charset="-122"/>
                <a:cs typeface="宋体" panose="02010600030101010101" pitchFamily="2" charset="-122"/>
              </a:rPr>
              <a:t>可以更好地了解局部的上下文信息</a:t>
            </a:r>
            <a:r>
              <a:rPr lang="zh-CN" altLang="en-US" sz="1800" dirty="0">
                <a:effectLst/>
                <a:latin typeface="Times New Roman" panose="02020603050405020304" pitchFamily="18" charset="0"/>
                <a:ea typeface="楷体" panose="02010609060101010101" pitchFamily="49" charset="-122"/>
                <a:cs typeface="宋体" panose="02010600030101010101" pitchFamily="2" charset="-122"/>
              </a:rPr>
              <a:t>。</a:t>
            </a:r>
            <a:endParaRPr lang="zh-CN" altLang="en-US" dirty="0"/>
          </a:p>
        </p:txBody>
      </p:sp>
      <p:graphicFrame>
        <p:nvGraphicFramePr>
          <p:cNvPr id="14" name="对象 13">
            <a:extLst>
              <a:ext uri="{FF2B5EF4-FFF2-40B4-BE49-F238E27FC236}">
                <a16:creationId xmlns:a16="http://schemas.microsoft.com/office/drawing/2014/main" id="{90E42032-E411-F447-8E9A-B8A9D6CD5E49}"/>
              </a:ext>
            </a:extLst>
          </p:cNvPr>
          <p:cNvGraphicFramePr>
            <a:graphicFrameLocks noChangeAspect="1"/>
          </p:cNvGraphicFramePr>
          <p:nvPr/>
        </p:nvGraphicFramePr>
        <p:xfrm>
          <a:off x="0" y="0"/>
          <a:ext cx="158750" cy="203200"/>
        </p:xfrm>
        <a:graphic>
          <a:graphicData uri="http://schemas.openxmlformats.org/presentationml/2006/ole">
            <mc:AlternateContent xmlns:mc="http://schemas.openxmlformats.org/markup-compatibility/2006">
              <mc:Choice xmlns:v="urn:schemas-microsoft-com:vml" Requires="v">
                <p:oleObj r:id="rId7" imgW="152268" imgH="203024" progId="Unknown">
                  <p:embed/>
                </p:oleObj>
              </mc:Choice>
              <mc:Fallback>
                <p:oleObj r:id="rId7" imgW="152268" imgH="203024" progId="Unknown">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a:extLst>
              <a:ext uri="{FF2B5EF4-FFF2-40B4-BE49-F238E27FC236}">
                <a16:creationId xmlns:a16="http://schemas.microsoft.com/office/drawing/2014/main" id="{91E0B5C9-AC57-3863-4B14-EDF8A1084041}"/>
              </a:ext>
            </a:extLst>
          </p:cNvPr>
          <p:cNvGraphicFramePr>
            <a:graphicFrameLocks noChangeAspect="1"/>
          </p:cNvGraphicFramePr>
          <p:nvPr/>
        </p:nvGraphicFramePr>
        <p:xfrm>
          <a:off x="0" y="203200"/>
          <a:ext cx="171450" cy="171450"/>
        </p:xfrm>
        <a:graphic>
          <a:graphicData uri="http://schemas.openxmlformats.org/presentationml/2006/ole">
            <mc:AlternateContent xmlns:mc="http://schemas.openxmlformats.org/markup-compatibility/2006">
              <mc:Choice xmlns:v="urn:schemas-microsoft-com:vml" Requires="v">
                <p:oleObj r:id="rId9" imgW="164885" imgH="164885" progId="Unknown">
                  <p:embed/>
                </p:oleObj>
              </mc:Choice>
              <mc:Fallback>
                <p:oleObj r:id="rId9" imgW="164885" imgH="164885" progId="Unknown">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03200"/>
                        <a:ext cx="171450" cy="171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5">
            <a:extLst>
              <a:ext uri="{FF2B5EF4-FFF2-40B4-BE49-F238E27FC236}">
                <a16:creationId xmlns:a16="http://schemas.microsoft.com/office/drawing/2014/main" id="{D2884420-010B-A02F-0AC7-F6A68BC15B8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471C28A-ED51-0BEB-783F-0E7AC60AD5B9}"/>
              </a:ext>
            </a:extLst>
          </p:cNvPr>
          <p:cNvSpPr>
            <a:spLocks noChangeArrowheads="1"/>
          </p:cNvSpPr>
          <p:nvPr/>
        </p:nvSpPr>
        <p:spPr bwMode="auto">
          <a:xfrm>
            <a:off x="0" y="203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宋体" panose="02010600030101010101" pitchFamily="2" charset="-122"/>
              </a:rPr>
              <a:t>，</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7">
            <a:extLst>
              <a:ext uri="{FF2B5EF4-FFF2-40B4-BE49-F238E27FC236}">
                <a16:creationId xmlns:a16="http://schemas.microsoft.com/office/drawing/2014/main" id="{D46F2DFB-85BB-1657-79F0-840F2E53C2BC}"/>
              </a:ext>
            </a:extLst>
          </p:cNvPr>
          <p:cNvSpPr>
            <a:spLocks noChangeArrowheads="1"/>
          </p:cNvSpPr>
          <p:nvPr/>
        </p:nvSpPr>
        <p:spPr bwMode="auto">
          <a:xfrm>
            <a:off x="0" y="374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1748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344AD91-1DCD-9BD0-E755-ABD75D5EEB4E}"/>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86716C2B-5600-08AE-C060-DABE46762680}"/>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475DE8E1-556F-F22F-075B-EA403F6BEC57}"/>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2B76BEF8-4AAB-7479-13F4-13E5FB302BF1}"/>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9875D424-F526-576A-B857-174DEEEECF88}"/>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pic>
        <p:nvPicPr>
          <p:cNvPr id="1026" name="Picture 2">
            <a:extLst>
              <a:ext uri="{FF2B5EF4-FFF2-40B4-BE49-F238E27FC236}">
                <a16:creationId xmlns:a16="http://schemas.microsoft.com/office/drawing/2014/main" id="{EC3BE0C5-910E-B85E-866B-D15138F58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206" y="1924098"/>
            <a:ext cx="4531239" cy="380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4172DB80-8973-068F-F78F-7D1F89FDFCEB}"/>
              </a:ext>
            </a:extLst>
          </p:cNvPr>
          <p:cNvSpPr txBox="1"/>
          <p:nvPr/>
        </p:nvSpPr>
        <p:spPr>
          <a:xfrm>
            <a:off x="4989165" y="2084213"/>
            <a:ext cx="6992695" cy="3693319"/>
          </a:xfrm>
          <a:prstGeom prst="rect">
            <a:avLst/>
          </a:prstGeom>
          <a:noFill/>
        </p:spPr>
        <p:txBody>
          <a:bodyPr wrap="square">
            <a:spAutoFit/>
          </a:bodyPr>
          <a:lstStyle/>
          <a:p>
            <a:pPr algn="l" fontAlgn="t">
              <a:buFont typeface="+mj-lt"/>
              <a:buAutoNum type="arabicPeriod"/>
            </a:pPr>
            <a:r>
              <a:rPr lang="zh-CN" altLang="en-US" b="1" i="0" dirty="0">
                <a:solidFill>
                  <a:srgbClr val="2C2C36"/>
                </a:solidFill>
                <a:effectLst/>
                <a:latin typeface="-apple-system"/>
              </a:rPr>
              <a:t>准确性</a:t>
            </a:r>
            <a:endParaRPr lang="zh-CN" altLang="en-US" b="0" i="0" dirty="0">
              <a:solidFill>
                <a:srgbClr val="2C2C36"/>
              </a:solidFill>
              <a:effectLst/>
              <a:latin typeface="-apple-system"/>
            </a:endParaRPr>
          </a:p>
          <a:p>
            <a:pPr marL="742950" lvl="1" indent="-285750" algn="l">
              <a:buFont typeface="+mj-lt"/>
              <a:buAutoNum type="arabicPeriod"/>
            </a:pPr>
            <a:r>
              <a:rPr lang="zh-CN" altLang="en-US" b="0" i="0" dirty="0">
                <a:solidFill>
                  <a:srgbClr val="2C2C36"/>
                </a:solidFill>
                <a:effectLst/>
                <a:latin typeface="-apple-system"/>
              </a:rPr>
              <a:t>选用高精度</a:t>
            </a:r>
            <a:r>
              <a:rPr lang="en-US" altLang="zh-CN" b="0" i="0" dirty="0">
                <a:solidFill>
                  <a:srgbClr val="2C2C36"/>
                </a:solidFill>
                <a:effectLst/>
                <a:latin typeface="-apple-system"/>
              </a:rPr>
              <a:t>ADS1299</a:t>
            </a:r>
            <a:r>
              <a:rPr lang="zh-CN" altLang="en-US" b="0" i="0" dirty="0">
                <a:solidFill>
                  <a:srgbClr val="2C2C36"/>
                </a:solidFill>
                <a:effectLst/>
                <a:latin typeface="-apple-system"/>
              </a:rPr>
              <a:t>模数转换芯片和适配神经网络推理的处理器，确保脑电信号采集的高精度。</a:t>
            </a:r>
          </a:p>
          <a:p>
            <a:pPr algn="l" fontAlgn="t">
              <a:buFont typeface="+mj-lt"/>
              <a:buAutoNum type="arabicPeriod"/>
            </a:pPr>
            <a:r>
              <a:rPr lang="zh-CN" altLang="en-US" b="1" i="0" dirty="0">
                <a:solidFill>
                  <a:srgbClr val="2C2C36"/>
                </a:solidFill>
                <a:effectLst/>
                <a:latin typeface="-apple-system"/>
              </a:rPr>
              <a:t>实时性</a:t>
            </a:r>
            <a:endParaRPr lang="zh-CN" altLang="en-US" b="0" i="0" dirty="0">
              <a:solidFill>
                <a:srgbClr val="2C2C36"/>
              </a:solidFill>
              <a:effectLst/>
              <a:latin typeface="-apple-system"/>
            </a:endParaRPr>
          </a:p>
          <a:p>
            <a:pPr marL="742950" lvl="1" indent="-285750" algn="l">
              <a:buFont typeface="+mj-lt"/>
              <a:buAutoNum type="arabicPeriod"/>
            </a:pPr>
            <a:r>
              <a:rPr lang="zh-CN" altLang="en-US" b="0" i="0" dirty="0">
                <a:solidFill>
                  <a:srgbClr val="2C2C36"/>
                </a:solidFill>
                <a:effectLst/>
                <a:latin typeface="-apple-system"/>
              </a:rPr>
              <a:t>使用</a:t>
            </a:r>
            <a:r>
              <a:rPr lang="en-US" altLang="zh-CN" b="0" i="0" dirty="0">
                <a:solidFill>
                  <a:srgbClr val="2C2C36"/>
                </a:solidFill>
                <a:effectLst/>
                <a:latin typeface="-apple-system"/>
              </a:rPr>
              <a:t>USART</a:t>
            </a:r>
            <a:r>
              <a:rPr lang="zh-CN" altLang="en-US" b="0" i="0" dirty="0">
                <a:solidFill>
                  <a:srgbClr val="2C2C36"/>
                </a:solidFill>
                <a:effectLst/>
                <a:latin typeface="-apple-system"/>
              </a:rPr>
              <a:t>串口（波特率</a:t>
            </a:r>
            <a:r>
              <a:rPr lang="en-US" altLang="zh-CN" b="0" i="0" dirty="0">
                <a:solidFill>
                  <a:srgbClr val="2C2C36"/>
                </a:solidFill>
                <a:effectLst/>
                <a:latin typeface="-apple-system"/>
              </a:rPr>
              <a:t>115200</a:t>
            </a:r>
            <a:r>
              <a:rPr lang="zh-CN" altLang="en-US" b="0" i="0" dirty="0">
                <a:solidFill>
                  <a:srgbClr val="2C2C36"/>
                </a:solidFill>
                <a:effectLst/>
                <a:latin typeface="-apple-system"/>
              </a:rPr>
              <a:t>）连接采集板与算法部署板，支持</a:t>
            </a:r>
            <a:r>
              <a:rPr lang="en-US" altLang="zh-CN" b="0" i="0" dirty="0">
                <a:solidFill>
                  <a:srgbClr val="2C2C36"/>
                </a:solidFill>
                <a:effectLst/>
                <a:latin typeface="-apple-system"/>
              </a:rPr>
              <a:t>8</a:t>
            </a:r>
            <a:r>
              <a:rPr lang="zh-CN" altLang="en-US" b="0" i="0" dirty="0">
                <a:solidFill>
                  <a:srgbClr val="2C2C36"/>
                </a:solidFill>
                <a:effectLst/>
                <a:latin typeface="-apple-system"/>
              </a:rPr>
              <a:t>通道</a:t>
            </a:r>
            <a:r>
              <a:rPr lang="en-US" altLang="zh-CN" b="0" i="0" dirty="0">
                <a:solidFill>
                  <a:srgbClr val="2C2C36"/>
                </a:solidFill>
                <a:effectLst/>
                <a:latin typeface="-apple-system"/>
              </a:rPr>
              <a:t>EEG</a:t>
            </a:r>
            <a:r>
              <a:rPr lang="zh-CN" altLang="en-US" b="0" i="0" dirty="0">
                <a:solidFill>
                  <a:srgbClr val="2C2C36"/>
                </a:solidFill>
                <a:effectLst/>
                <a:latin typeface="-apple-system"/>
              </a:rPr>
              <a:t>信号以</a:t>
            </a:r>
            <a:r>
              <a:rPr lang="en-US" altLang="zh-CN" b="0" i="0" dirty="0">
                <a:solidFill>
                  <a:srgbClr val="2C2C36"/>
                </a:solidFill>
                <a:effectLst/>
                <a:latin typeface="-apple-system"/>
              </a:rPr>
              <a:t>24</a:t>
            </a:r>
            <a:r>
              <a:rPr lang="zh-CN" altLang="en-US" b="0" i="0" dirty="0">
                <a:solidFill>
                  <a:srgbClr val="2C2C36"/>
                </a:solidFill>
                <a:effectLst/>
                <a:latin typeface="-apple-system"/>
              </a:rPr>
              <a:t>位</a:t>
            </a:r>
            <a:r>
              <a:rPr lang="en-US" altLang="zh-CN" b="0" i="0" dirty="0">
                <a:solidFill>
                  <a:srgbClr val="2C2C36"/>
                </a:solidFill>
                <a:effectLst/>
                <a:latin typeface="-apple-system"/>
              </a:rPr>
              <a:t>ADC</a:t>
            </a:r>
            <a:r>
              <a:rPr lang="zh-CN" altLang="en-US" b="0" i="0" dirty="0">
                <a:solidFill>
                  <a:srgbClr val="2C2C36"/>
                </a:solidFill>
                <a:effectLst/>
                <a:latin typeface="-apple-system"/>
              </a:rPr>
              <a:t>、</a:t>
            </a:r>
            <a:r>
              <a:rPr lang="en-US" altLang="zh-CN" b="0" i="0" dirty="0">
                <a:solidFill>
                  <a:srgbClr val="2C2C36"/>
                </a:solidFill>
                <a:effectLst/>
                <a:latin typeface="-apple-system"/>
              </a:rPr>
              <a:t>62.5~250Hz</a:t>
            </a:r>
            <a:r>
              <a:rPr lang="zh-CN" altLang="en-US" b="0" i="0" dirty="0">
                <a:solidFill>
                  <a:srgbClr val="2C2C36"/>
                </a:solidFill>
                <a:effectLst/>
                <a:latin typeface="-apple-system"/>
              </a:rPr>
              <a:t>采样率的实时传输。</a:t>
            </a:r>
          </a:p>
          <a:p>
            <a:pPr algn="l" fontAlgn="t">
              <a:buFont typeface="+mj-lt"/>
              <a:buAutoNum type="arabicPeriod"/>
            </a:pPr>
            <a:r>
              <a:rPr lang="zh-CN" altLang="en-US" b="1" i="0" dirty="0">
                <a:solidFill>
                  <a:srgbClr val="2C2C36"/>
                </a:solidFill>
                <a:effectLst/>
                <a:latin typeface="-apple-system"/>
              </a:rPr>
              <a:t>便携性</a:t>
            </a:r>
            <a:endParaRPr lang="zh-CN" altLang="en-US" b="0" i="0" dirty="0">
              <a:solidFill>
                <a:srgbClr val="2C2C36"/>
              </a:solidFill>
              <a:effectLst/>
              <a:latin typeface="-apple-system"/>
            </a:endParaRPr>
          </a:p>
          <a:p>
            <a:pPr marL="742950" lvl="1" indent="-285750" algn="l">
              <a:buFont typeface="+mj-lt"/>
              <a:buAutoNum type="arabicPeriod"/>
            </a:pPr>
            <a:r>
              <a:rPr lang="zh-CN" altLang="en-US" b="0" i="0" dirty="0">
                <a:solidFill>
                  <a:srgbClr val="2C2C36"/>
                </a:solidFill>
                <a:effectLst/>
                <a:latin typeface="-apple-system"/>
              </a:rPr>
              <a:t>采用低功耗、小型化的</a:t>
            </a:r>
            <a:r>
              <a:rPr lang="en-US" altLang="zh-CN" b="0" i="0" dirty="0">
                <a:solidFill>
                  <a:srgbClr val="2C2C36"/>
                </a:solidFill>
                <a:effectLst/>
                <a:latin typeface="-apple-system"/>
              </a:rPr>
              <a:t>ESP32</a:t>
            </a:r>
            <a:r>
              <a:rPr lang="zh-CN" altLang="en-US" b="0" i="0" dirty="0">
                <a:solidFill>
                  <a:srgbClr val="2C2C36"/>
                </a:solidFill>
                <a:effectLst/>
                <a:latin typeface="-apple-system"/>
              </a:rPr>
              <a:t>主控芯片，设计轻便易携的脑电采集设备。</a:t>
            </a:r>
          </a:p>
          <a:p>
            <a:pPr algn="l" fontAlgn="t">
              <a:buFont typeface="+mj-lt"/>
              <a:buAutoNum type="arabicPeriod"/>
            </a:pPr>
            <a:r>
              <a:rPr lang="zh-CN" altLang="en-US" b="1" i="0" dirty="0">
                <a:solidFill>
                  <a:srgbClr val="2C2C36"/>
                </a:solidFill>
                <a:effectLst/>
                <a:latin typeface="-apple-system"/>
              </a:rPr>
              <a:t>易用性</a:t>
            </a:r>
            <a:endParaRPr lang="zh-CN" altLang="en-US" b="0" i="0" dirty="0">
              <a:solidFill>
                <a:srgbClr val="2C2C36"/>
              </a:solidFill>
              <a:effectLst/>
              <a:latin typeface="-apple-system"/>
            </a:endParaRPr>
          </a:p>
          <a:p>
            <a:pPr marL="742950" lvl="1" indent="-285750" algn="l">
              <a:buFont typeface="+mj-lt"/>
              <a:buAutoNum type="arabicPeriod"/>
            </a:pPr>
            <a:r>
              <a:rPr lang="zh-CN" altLang="en-US" b="0" i="0" dirty="0">
                <a:solidFill>
                  <a:srgbClr val="2C2C36"/>
                </a:solidFill>
                <a:effectLst/>
                <a:latin typeface="-apple-system"/>
              </a:rPr>
              <a:t>提供直观的显示屏界面和简洁的操作流程，方便用户设置和使用系统。</a:t>
            </a:r>
          </a:p>
        </p:txBody>
      </p:sp>
      <p:sp>
        <p:nvSpPr>
          <p:cNvPr id="5" name="文本框 4">
            <a:extLst>
              <a:ext uri="{FF2B5EF4-FFF2-40B4-BE49-F238E27FC236}">
                <a16:creationId xmlns:a16="http://schemas.microsoft.com/office/drawing/2014/main" id="{27F08FA3-C9CC-9F7B-0800-EA002C49F7DA}"/>
              </a:ext>
            </a:extLst>
          </p:cNvPr>
          <p:cNvSpPr txBox="1"/>
          <p:nvPr/>
        </p:nvSpPr>
        <p:spPr>
          <a:xfrm>
            <a:off x="-1443870" y="849854"/>
            <a:ext cx="14957941" cy="584775"/>
          </a:xfrm>
          <a:prstGeom prst="rect">
            <a:avLst/>
          </a:prstGeom>
          <a:noFill/>
        </p:spPr>
        <p:txBody>
          <a:bodyPr wrap="square" rtlCol="0">
            <a:spAutoFit/>
          </a:bodyPr>
          <a:lstStyle/>
          <a:p>
            <a:pPr algn="ctr"/>
            <a:r>
              <a:rPr lang="zh-CN" altLang="en-US" sz="3200" dirty="0">
                <a:solidFill>
                  <a:schemeClr val="accent1">
                    <a:lumMod val="50000"/>
                  </a:schemeClr>
                </a:solidFill>
              </a:rPr>
              <a:t>认知状态评估原型系统硬件设计方案</a:t>
            </a:r>
            <a:endParaRPr lang="en-US" altLang="zh-CN" sz="3200" dirty="0">
              <a:solidFill>
                <a:schemeClr val="accent1">
                  <a:lumMod val="50000"/>
                </a:schemeClr>
              </a:solidFill>
            </a:endParaRPr>
          </a:p>
        </p:txBody>
      </p:sp>
      <p:sp>
        <p:nvSpPr>
          <p:cNvPr id="8" name="文本框 7">
            <a:extLst>
              <a:ext uri="{FF2B5EF4-FFF2-40B4-BE49-F238E27FC236}">
                <a16:creationId xmlns:a16="http://schemas.microsoft.com/office/drawing/2014/main" id="{1E2D5A5D-7A14-7A2C-D0FE-97CAA433845C}"/>
              </a:ext>
            </a:extLst>
          </p:cNvPr>
          <p:cNvSpPr txBox="1"/>
          <p:nvPr/>
        </p:nvSpPr>
        <p:spPr>
          <a:xfrm>
            <a:off x="747712" y="5886203"/>
            <a:ext cx="7482016" cy="369332"/>
          </a:xfrm>
          <a:prstGeom prst="rect">
            <a:avLst/>
          </a:prstGeom>
          <a:noFill/>
        </p:spPr>
        <p:txBody>
          <a:bodyPr wrap="square">
            <a:spAutoFit/>
          </a:bodyPr>
          <a:lstStyle/>
          <a:p>
            <a:r>
              <a:rPr lang="zh-CN" altLang="zh-CN" sz="1800" kern="100" dirty="0">
                <a:effectLst/>
                <a:ea typeface="楷体" panose="02010609060101010101" pitchFamily="49" charset="-122"/>
                <a:cs typeface="Times New Roman" panose="02020603050405020304" pitchFamily="18" charset="0"/>
              </a:rPr>
              <a:t>认知状态评估原型系统硬件结构框图</a:t>
            </a:r>
            <a:endParaRPr lang="zh-CN" altLang="en-US" dirty="0"/>
          </a:p>
        </p:txBody>
      </p:sp>
      <p:sp>
        <p:nvSpPr>
          <p:cNvPr id="11" name="文本框 10">
            <a:extLst>
              <a:ext uri="{FF2B5EF4-FFF2-40B4-BE49-F238E27FC236}">
                <a16:creationId xmlns:a16="http://schemas.microsoft.com/office/drawing/2014/main" id="{C0068430-C1E2-0725-069E-15AB4448E113}"/>
              </a:ext>
            </a:extLst>
          </p:cNvPr>
          <p:cNvSpPr txBox="1"/>
          <p:nvPr/>
        </p:nvSpPr>
        <p:spPr>
          <a:xfrm>
            <a:off x="2294732" y="9700"/>
            <a:ext cx="7480738"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0"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研究内容及技术路线</a:t>
            </a:r>
          </a:p>
        </p:txBody>
      </p:sp>
    </p:spTree>
    <p:extLst>
      <p:ext uri="{BB962C8B-B14F-4D97-AF65-F5344CB8AC3E}">
        <p14:creationId xmlns:p14="http://schemas.microsoft.com/office/powerpoint/2010/main" val="3186892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3F945-D9F7-3748-A3F3-21A5941A2955}"/>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3502A2F7-838F-6A12-7B84-F8283B9F1AFF}"/>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59D0E544-9F3F-AEE8-F6F9-7B1A1C34A015}"/>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856A5624-A092-7F3A-2E6E-D60FE913D8B8}"/>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15D1D366-85F1-D41C-355B-5E33E5123E9C}"/>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FFB4748B-BD61-B06C-6CB7-E75040A46CCE}"/>
              </a:ext>
            </a:extLst>
          </p:cNvPr>
          <p:cNvSpPr txBox="1"/>
          <p:nvPr/>
        </p:nvSpPr>
        <p:spPr>
          <a:xfrm>
            <a:off x="3464510" y="178328"/>
            <a:ext cx="5262979" cy="769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0"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研究内容及技术路线</a:t>
            </a:r>
          </a:p>
        </p:txBody>
      </p:sp>
      <p:sp>
        <p:nvSpPr>
          <p:cNvPr id="6" name="文本框 5">
            <a:extLst>
              <a:ext uri="{FF2B5EF4-FFF2-40B4-BE49-F238E27FC236}">
                <a16:creationId xmlns:a16="http://schemas.microsoft.com/office/drawing/2014/main" id="{CE5F0A33-D29A-7ECA-7F25-6BDE4D9DF955}"/>
              </a:ext>
            </a:extLst>
          </p:cNvPr>
          <p:cNvSpPr txBox="1"/>
          <p:nvPr/>
        </p:nvSpPr>
        <p:spPr>
          <a:xfrm>
            <a:off x="3244678" y="910627"/>
            <a:ext cx="8640462" cy="584775"/>
          </a:xfrm>
          <a:prstGeom prst="rect">
            <a:avLst/>
          </a:prstGeom>
          <a:noFill/>
        </p:spPr>
        <p:txBody>
          <a:bodyPr wrap="square">
            <a:spAutoFit/>
          </a:bodyPr>
          <a:lstStyle/>
          <a:p>
            <a:r>
              <a:rPr lang="zh-CN" altLang="en-US" sz="3200" dirty="0">
                <a:solidFill>
                  <a:schemeClr val="accent1">
                    <a:lumMod val="50000"/>
                  </a:schemeClr>
                </a:solidFill>
              </a:rPr>
              <a:t>部署加速方法</a:t>
            </a:r>
            <a:r>
              <a:rPr lang="en-US" altLang="zh-CN" sz="3200" dirty="0">
                <a:solidFill>
                  <a:schemeClr val="accent1">
                    <a:lumMod val="50000"/>
                  </a:schemeClr>
                </a:solidFill>
              </a:rPr>
              <a:t>——</a:t>
            </a:r>
            <a:r>
              <a:rPr lang="zh-CN" altLang="en-US" sz="3200" dirty="0">
                <a:solidFill>
                  <a:schemeClr val="accent1">
                    <a:lumMod val="50000"/>
                  </a:schemeClr>
                </a:solidFill>
              </a:rPr>
              <a:t>模型参数量化</a:t>
            </a:r>
          </a:p>
        </p:txBody>
      </p:sp>
      <p:sp>
        <p:nvSpPr>
          <p:cNvPr id="5" name="左大括号 4">
            <a:extLst>
              <a:ext uri="{FF2B5EF4-FFF2-40B4-BE49-F238E27FC236}">
                <a16:creationId xmlns:a16="http://schemas.microsoft.com/office/drawing/2014/main" id="{6B6D7CE0-E102-6E88-027C-5717FFE9A828}"/>
              </a:ext>
            </a:extLst>
          </p:cNvPr>
          <p:cNvSpPr/>
          <p:nvPr/>
        </p:nvSpPr>
        <p:spPr>
          <a:xfrm>
            <a:off x="2160635" y="3151193"/>
            <a:ext cx="223838" cy="200662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DB2FDC5-5A3E-384F-8795-1573AAD772E1}"/>
              </a:ext>
            </a:extLst>
          </p:cNvPr>
          <p:cNvSpPr txBox="1"/>
          <p:nvPr/>
        </p:nvSpPr>
        <p:spPr>
          <a:xfrm>
            <a:off x="2384472" y="2968704"/>
            <a:ext cx="124089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模型优化</a:t>
            </a:r>
          </a:p>
        </p:txBody>
      </p:sp>
      <p:sp>
        <p:nvSpPr>
          <p:cNvPr id="9" name="文本框 8">
            <a:extLst>
              <a:ext uri="{FF2B5EF4-FFF2-40B4-BE49-F238E27FC236}">
                <a16:creationId xmlns:a16="http://schemas.microsoft.com/office/drawing/2014/main" id="{527B3DD0-759A-DBF8-7B57-7FB728FA8168}"/>
              </a:ext>
            </a:extLst>
          </p:cNvPr>
          <p:cNvSpPr txBox="1"/>
          <p:nvPr/>
        </p:nvSpPr>
        <p:spPr>
          <a:xfrm>
            <a:off x="2384474" y="4971059"/>
            <a:ext cx="467905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硬件加速</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根据加速硬件有所区别</a:t>
            </a:r>
          </a:p>
        </p:txBody>
      </p:sp>
      <p:sp>
        <p:nvSpPr>
          <p:cNvPr id="10" name="左大括号 9">
            <a:extLst>
              <a:ext uri="{FF2B5EF4-FFF2-40B4-BE49-F238E27FC236}">
                <a16:creationId xmlns:a16="http://schemas.microsoft.com/office/drawing/2014/main" id="{BF4F6BA1-DC34-DCF2-9C3F-B22B60D810A8}"/>
              </a:ext>
            </a:extLst>
          </p:cNvPr>
          <p:cNvSpPr/>
          <p:nvPr/>
        </p:nvSpPr>
        <p:spPr>
          <a:xfrm>
            <a:off x="3401528" y="2796926"/>
            <a:ext cx="223837" cy="908437"/>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5BC25BD7-C868-5BAD-2871-D1FCFA5649E7}"/>
              </a:ext>
            </a:extLst>
          </p:cNvPr>
          <p:cNvSpPr txBox="1"/>
          <p:nvPr/>
        </p:nvSpPr>
        <p:spPr>
          <a:xfrm>
            <a:off x="3625366" y="2605869"/>
            <a:ext cx="169518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网络结构调整</a:t>
            </a:r>
          </a:p>
        </p:txBody>
      </p:sp>
      <p:sp>
        <p:nvSpPr>
          <p:cNvPr id="12" name="文本框 11">
            <a:extLst>
              <a:ext uri="{FF2B5EF4-FFF2-40B4-BE49-F238E27FC236}">
                <a16:creationId xmlns:a16="http://schemas.microsoft.com/office/drawing/2014/main" id="{3793C3DA-DA46-B14E-24A1-E505BBE26E96}"/>
              </a:ext>
            </a:extLst>
          </p:cNvPr>
          <p:cNvSpPr txBox="1"/>
          <p:nvPr/>
        </p:nvSpPr>
        <p:spPr>
          <a:xfrm>
            <a:off x="3625366" y="3531410"/>
            <a:ext cx="169518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模型参数量化</a:t>
            </a:r>
          </a:p>
        </p:txBody>
      </p:sp>
      <p:sp>
        <p:nvSpPr>
          <p:cNvPr id="16" name="文本框 15">
            <a:extLst>
              <a:ext uri="{FF2B5EF4-FFF2-40B4-BE49-F238E27FC236}">
                <a16:creationId xmlns:a16="http://schemas.microsoft.com/office/drawing/2014/main" id="{150BD356-62C0-2CD4-D3E5-82B282719721}"/>
              </a:ext>
            </a:extLst>
          </p:cNvPr>
          <p:cNvSpPr txBox="1"/>
          <p:nvPr/>
        </p:nvSpPr>
        <p:spPr>
          <a:xfrm>
            <a:off x="6530752" y="2626428"/>
            <a:ext cx="421640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剪枝、蒸馏等操作方式</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E70CA7EA-095F-6677-6781-F9DB1AB02ECD}"/>
              </a:ext>
            </a:extLst>
          </p:cNvPr>
          <p:cNvSpPr txBox="1"/>
          <p:nvPr/>
        </p:nvSpPr>
        <p:spPr>
          <a:xfrm>
            <a:off x="6095999" y="3513468"/>
            <a:ext cx="476100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仅涉及数据表示便于硬件实现</a:t>
            </a:r>
            <a:endParaRPr lang="zh-CN" altLang="en-US"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4254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D2E30-4210-A990-37D6-ED998586BC66}"/>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1C0382C1-B2B1-961F-4992-500B870A4238}"/>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FA9FA665-A9FA-E5E0-CAAF-A4E263B53311}"/>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DC439604-F442-8FA5-372B-5DD1546647E1}"/>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F2C4A5D2-1359-E48B-5C49-E8A0E0482A1D}"/>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7" name="左大括号 6">
            <a:extLst>
              <a:ext uri="{FF2B5EF4-FFF2-40B4-BE49-F238E27FC236}">
                <a16:creationId xmlns:a16="http://schemas.microsoft.com/office/drawing/2014/main" id="{E89340E8-9AA0-8FAE-073A-7F3C7A31FFDD}"/>
              </a:ext>
            </a:extLst>
          </p:cNvPr>
          <p:cNvSpPr/>
          <p:nvPr/>
        </p:nvSpPr>
        <p:spPr>
          <a:xfrm>
            <a:off x="2563741" y="2864195"/>
            <a:ext cx="223838" cy="1420348"/>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89608CE9-42F5-C6BA-B821-B75467B63383}"/>
              </a:ext>
            </a:extLst>
          </p:cNvPr>
          <p:cNvSpPr txBox="1"/>
          <p:nvPr/>
        </p:nvSpPr>
        <p:spPr>
          <a:xfrm>
            <a:off x="2787579" y="2611842"/>
            <a:ext cx="5428529"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定点近似（</a:t>
            </a:r>
            <a:r>
              <a:rPr lang="en-US" altLang="zh-CN" sz="2400" b="0" i="0" dirty="0">
                <a:solidFill>
                  <a:srgbClr val="333333"/>
                </a:solidFill>
                <a:effectLst/>
                <a:latin typeface="Helvetica" panose="020B0604020202020204" pitchFamily="34" charset="0"/>
              </a:rPr>
              <a:t>Fixed Point Approximation</a:t>
            </a:r>
            <a:r>
              <a:rPr lang="zh-CN" altLang="en-US" sz="2400" b="0" i="0" dirty="0">
                <a:solidFill>
                  <a:srgbClr val="333333"/>
                </a:solidFill>
                <a:effectLst/>
                <a:latin typeface="Helvetica" panose="020B0604020202020204" pitchFamily="34" charset="0"/>
              </a:rPr>
              <a:t>）</a:t>
            </a:r>
            <a:endParaRPr lang="zh-CN" altLang="en-US" sz="2400"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154F0BF0-AA8A-680E-CDF2-9FB5E075DC33}"/>
              </a:ext>
            </a:extLst>
          </p:cNvPr>
          <p:cNvSpPr txBox="1"/>
          <p:nvPr/>
        </p:nvSpPr>
        <p:spPr>
          <a:xfrm>
            <a:off x="2787579" y="4076729"/>
            <a:ext cx="6119645"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范围近似（</a:t>
            </a:r>
            <a:r>
              <a:rPr lang="en-US" altLang="zh-CN" sz="2400" b="0" i="0" dirty="0">
                <a:solidFill>
                  <a:srgbClr val="333333"/>
                </a:solidFill>
                <a:effectLst/>
                <a:latin typeface="Helvetica" panose="020B0604020202020204" pitchFamily="34" charset="0"/>
              </a:rPr>
              <a:t>Range Based Approximation</a:t>
            </a:r>
            <a:r>
              <a:rPr lang="zh-CN" altLang="en-US" sz="2400" b="0" i="0" dirty="0">
                <a:solidFill>
                  <a:srgbClr val="333333"/>
                </a:solidFill>
                <a:effectLst/>
                <a:latin typeface="Helvetica" panose="020B0604020202020204" pitchFamily="34" charset="0"/>
              </a:rPr>
              <a:t>）</a:t>
            </a:r>
            <a:endParaRPr lang="zh-CN" altLang="en-US" sz="2400"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28817C6E-E35A-BA89-976B-9BE08BE49DF3}"/>
              </a:ext>
            </a:extLst>
          </p:cNvPr>
          <p:cNvSpPr txBox="1"/>
          <p:nvPr/>
        </p:nvSpPr>
        <p:spPr>
          <a:xfrm>
            <a:off x="3724813" y="3180160"/>
            <a:ext cx="6097772" cy="707886"/>
          </a:xfrm>
          <a:prstGeom prst="rect">
            <a:avLst/>
          </a:prstGeom>
          <a:noFill/>
        </p:spPr>
        <p:txBody>
          <a:bodyPr wrap="square">
            <a:spAutoFit/>
          </a:bodyPr>
          <a:lstStyle/>
          <a:p>
            <a:pPr marL="342900" indent="-342900">
              <a:buFont typeface="Arial" panose="020B0604020202020204" pitchFamily="34" charset="0"/>
              <a:buChar char="•"/>
            </a:pPr>
            <a:r>
              <a:rPr lang="zh-CN" altLang="en-US" sz="2000" b="0" i="0" dirty="0">
                <a:solidFill>
                  <a:srgbClr val="333333"/>
                </a:solidFill>
                <a:effectLst/>
                <a:latin typeface="微软雅黑" panose="020B0503020204020204" pitchFamily="34" charset="-122"/>
                <a:ea typeface="微软雅黑" panose="020B0503020204020204" pitchFamily="34" charset="-122"/>
              </a:rPr>
              <a:t>直接缩小浮点表示中的指数和小数部分的位宽</a:t>
            </a:r>
            <a:endParaRPr lang="en-US" altLang="zh-CN" sz="2000" b="0" i="0" dirty="0">
              <a:solidFill>
                <a:srgbClr val="333333"/>
              </a:solidFill>
              <a:effectLst/>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solidFill>
                  <a:srgbClr val="333333"/>
                </a:solidFill>
                <a:latin typeface="微软雅黑" panose="020B0503020204020204" pitchFamily="34" charset="-122"/>
                <a:ea typeface="微软雅黑" panose="020B0503020204020204" pitchFamily="34" charset="-122"/>
              </a:rPr>
              <a:t>实现简单，精度损失较多</a:t>
            </a:r>
            <a:endParaRPr lang="zh-CN" altLang="en-US" sz="20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5B2CC883-592B-2BCE-48A9-B9798D0E8D25}"/>
              </a:ext>
            </a:extLst>
          </p:cNvPr>
          <p:cNvSpPr txBox="1"/>
          <p:nvPr/>
        </p:nvSpPr>
        <p:spPr>
          <a:xfrm>
            <a:off x="3724813" y="4601241"/>
            <a:ext cx="6097772" cy="1323439"/>
          </a:xfrm>
          <a:prstGeom prst="rect">
            <a:avLst/>
          </a:prstGeom>
          <a:noFill/>
        </p:spPr>
        <p:txBody>
          <a:bodyPr wrap="square">
            <a:spAutoFit/>
          </a:bodyPr>
          <a:lstStyle/>
          <a:p>
            <a:pPr marL="342900" indent="-342900">
              <a:buFont typeface="Arial" panose="020B0604020202020204" pitchFamily="34" charset="0"/>
              <a:buChar char="•"/>
            </a:pPr>
            <a:r>
              <a:rPr lang="zh-CN" altLang="en-US" sz="2000" dirty="0">
                <a:solidFill>
                  <a:srgbClr val="333333"/>
                </a:solidFill>
                <a:latin typeface="微软雅黑" panose="020B0503020204020204" pitchFamily="34" charset="-122"/>
                <a:ea typeface="微软雅黑" panose="020B0503020204020204" pitchFamily="34" charset="-122"/>
              </a:rPr>
              <a:t>先统计待量化数据的分布，然后进行整体的缩放和偏移，再映射到量化空间</a:t>
            </a:r>
            <a:endParaRPr lang="en-US" altLang="zh-CN" sz="2000" dirty="0">
              <a:solidFill>
                <a:srgbClr val="3333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solidFill>
                  <a:srgbClr val="333333"/>
                </a:solidFill>
                <a:latin typeface="微软雅黑" panose="020B0503020204020204" pitchFamily="34" charset="-122"/>
                <a:ea typeface="微软雅黑" panose="020B0503020204020204" pitchFamily="34" charset="-122"/>
              </a:rPr>
              <a:t>较为复杂，但精度高，可以实现反量化</a:t>
            </a:r>
            <a:endParaRPr lang="en-US" altLang="zh-CN" sz="2000" dirty="0">
              <a:solidFill>
                <a:srgbClr val="3333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solidFill>
                  <a:srgbClr val="333333"/>
                </a:solidFill>
                <a:latin typeface="微软雅黑" panose="020B0503020204020204" pitchFamily="34" charset="-122"/>
                <a:ea typeface="微软雅黑" panose="020B0503020204020204" pitchFamily="34" charset="-122"/>
              </a:rPr>
              <a:t>可以分为</a:t>
            </a:r>
            <a:r>
              <a:rPr lang="zh-CN" altLang="en-US" sz="2000" dirty="0">
                <a:solidFill>
                  <a:srgbClr val="FF0000"/>
                </a:solidFill>
                <a:latin typeface="微软雅黑" panose="020B0503020204020204" pitchFamily="34" charset="-122"/>
                <a:ea typeface="微软雅黑" panose="020B0503020204020204" pitchFamily="34" charset="-122"/>
              </a:rPr>
              <a:t>线性</a:t>
            </a:r>
            <a:r>
              <a:rPr lang="zh-CN" altLang="en-US" sz="2000" dirty="0">
                <a:solidFill>
                  <a:srgbClr val="333333"/>
                </a:solidFill>
                <a:latin typeface="微软雅黑" panose="020B0503020204020204" pitchFamily="34" charset="-122"/>
                <a:ea typeface="微软雅黑" panose="020B0503020204020204" pitchFamily="34" charset="-122"/>
              </a:rPr>
              <a:t>和非线性量化</a:t>
            </a:r>
          </a:p>
        </p:txBody>
      </p:sp>
      <p:sp>
        <p:nvSpPr>
          <p:cNvPr id="5" name="文本框 4">
            <a:extLst>
              <a:ext uri="{FF2B5EF4-FFF2-40B4-BE49-F238E27FC236}">
                <a16:creationId xmlns:a16="http://schemas.microsoft.com/office/drawing/2014/main" id="{D4492E98-8395-5783-BD1F-A9E439A887B0}"/>
              </a:ext>
            </a:extLst>
          </p:cNvPr>
          <p:cNvSpPr txBox="1"/>
          <p:nvPr/>
        </p:nvSpPr>
        <p:spPr>
          <a:xfrm>
            <a:off x="3464510" y="178328"/>
            <a:ext cx="5262979" cy="769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0"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研究内容及技术路线</a:t>
            </a:r>
          </a:p>
        </p:txBody>
      </p:sp>
      <p:sp>
        <p:nvSpPr>
          <p:cNvPr id="4" name="文本框 3">
            <a:extLst>
              <a:ext uri="{FF2B5EF4-FFF2-40B4-BE49-F238E27FC236}">
                <a16:creationId xmlns:a16="http://schemas.microsoft.com/office/drawing/2014/main" id="{E5AF5613-600A-2ACD-4303-9DAE3543AD6C}"/>
              </a:ext>
            </a:extLst>
          </p:cNvPr>
          <p:cNvSpPr txBox="1"/>
          <p:nvPr/>
        </p:nvSpPr>
        <p:spPr>
          <a:xfrm>
            <a:off x="3244678" y="910627"/>
            <a:ext cx="8640462" cy="584775"/>
          </a:xfrm>
          <a:prstGeom prst="rect">
            <a:avLst/>
          </a:prstGeom>
          <a:noFill/>
        </p:spPr>
        <p:txBody>
          <a:bodyPr wrap="square">
            <a:spAutoFit/>
          </a:bodyPr>
          <a:lstStyle/>
          <a:p>
            <a:r>
              <a:rPr lang="zh-CN" altLang="en-US" sz="3200" dirty="0">
                <a:solidFill>
                  <a:schemeClr val="accent1">
                    <a:lumMod val="50000"/>
                  </a:schemeClr>
                </a:solidFill>
              </a:rPr>
              <a:t>部署加速方法</a:t>
            </a:r>
            <a:r>
              <a:rPr lang="en-US" altLang="zh-CN" sz="3200" dirty="0">
                <a:solidFill>
                  <a:schemeClr val="accent1">
                    <a:lumMod val="50000"/>
                  </a:schemeClr>
                </a:solidFill>
              </a:rPr>
              <a:t>——</a:t>
            </a:r>
            <a:r>
              <a:rPr lang="zh-CN" altLang="en-US" sz="3200" dirty="0">
                <a:solidFill>
                  <a:schemeClr val="accent1">
                    <a:lumMod val="50000"/>
                  </a:schemeClr>
                </a:solidFill>
              </a:rPr>
              <a:t>模型参数量化</a:t>
            </a:r>
          </a:p>
        </p:txBody>
      </p:sp>
    </p:spTree>
    <p:extLst>
      <p:ext uri="{BB962C8B-B14F-4D97-AF65-F5344CB8AC3E}">
        <p14:creationId xmlns:p14="http://schemas.microsoft.com/office/powerpoint/2010/main" val="366528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3" grpId="0"/>
      <p:bldP spid="24" grpId="0"/>
      <p:bldP spid="27" grpId="0"/>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B25039-A31E-9718-BBC7-45296CBCFDDC}"/>
              </a:ext>
            </a:extLst>
          </p:cNvPr>
          <p:cNvSpPr>
            <a:spLocks noGrp="1"/>
          </p:cNvSpPr>
          <p:nvPr>
            <p:ph type="dt" sz="half" idx="10"/>
          </p:nvPr>
        </p:nvSpPr>
        <p:spPr/>
        <p:txBody>
          <a:bodyPr/>
          <a:lstStyle/>
          <a:p>
            <a:pPr>
              <a:defRPr/>
            </a:pPr>
            <a:fld id="{7D57CFF5-4EAE-4F64-9EA4-AF1639666708}" type="datetime1">
              <a:rPr lang="zh-CN" altLang="en-US" smtClean="0"/>
              <a:t>2025/2/24</a:t>
            </a:fld>
            <a:endParaRPr lang="zh-CN" altLang="en-US" sz="1800">
              <a:solidFill>
                <a:schemeClr val="tx1"/>
              </a:solidFill>
            </a:endParaRPr>
          </a:p>
        </p:txBody>
      </p:sp>
      <p:sp>
        <p:nvSpPr>
          <p:cNvPr id="31" name="文本框 8">
            <a:extLst>
              <a:ext uri="{FF2B5EF4-FFF2-40B4-BE49-F238E27FC236}">
                <a16:creationId xmlns:a16="http://schemas.microsoft.com/office/drawing/2014/main" id="{0376C83D-884B-AA19-EA50-2DDC177DB949}"/>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6754185D-A0F1-2FBB-91DF-DE77B7C8CA0C}"/>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B4C76E51-147E-69E9-D177-BAF5909FCA73}"/>
              </a:ext>
            </a:extLst>
          </p:cNvPr>
          <p:cNvCxnSpPr/>
          <p:nvPr/>
        </p:nvCxnSpPr>
        <p:spPr bwMode="auto">
          <a:xfrm>
            <a:off x="944033" y="1753811"/>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1C696CDE-4902-874B-A024-101EB8DA82F3}"/>
              </a:ext>
            </a:extLst>
          </p:cNvPr>
          <p:cNvSpPr txBox="1"/>
          <p:nvPr/>
        </p:nvSpPr>
        <p:spPr>
          <a:xfrm>
            <a:off x="3265886" y="152793"/>
            <a:ext cx="5593391"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基于</a:t>
            </a:r>
            <a:r>
              <a:rPr lang="en-US" altLang="zh-CN" sz="4400" dirty="0">
                <a:solidFill>
                  <a:schemeClr val="accent1">
                    <a:lumMod val="50000"/>
                  </a:schemeClr>
                </a:solidFill>
                <a:latin typeface="微软雅黑" panose="020B0503020204020204" pitchFamily="34" charset="-122"/>
                <a:ea typeface="微软雅黑" panose="020B0503020204020204" pitchFamily="34" charset="-122"/>
              </a:rPr>
              <a:t>FPGA</a:t>
            </a: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的部署方案</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2B32437-19F4-C80D-8297-73F718C9025A}"/>
                  </a:ext>
                </a:extLst>
              </p:cNvPr>
              <p:cNvSpPr txBox="1"/>
              <p:nvPr/>
            </p:nvSpPr>
            <p:spPr>
              <a:xfrm>
                <a:off x="3173491" y="962086"/>
                <a:ext cx="5568576" cy="751872"/>
              </a:xfrm>
              <a:prstGeom prst="rect">
                <a:avLst/>
              </a:prstGeom>
              <a:noFill/>
            </p:spPr>
            <p:txBody>
              <a:bodyPr wrap="none" rtlCol="0">
                <a:spAutoFit/>
              </a:bodyPr>
              <a:lstStyle/>
              <a:p>
                <a:pPr algn="ctr"/>
                <a:r>
                  <a:rPr lang="zh-CN" altLang="en-US" sz="3200" dirty="0">
                    <a:solidFill>
                      <a:schemeClr val="accent1">
                        <a:lumMod val="50000"/>
                      </a:schemeClr>
                    </a:solidFill>
                  </a:rPr>
                  <a:t>线性量化：𝑞 </a:t>
                </a:r>
                <a:r>
                  <a:rPr lang="en-US" altLang="zh-CN" sz="3200" dirty="0">
                    <a:solidFill>
                      <a:schemeClr val="accent1">
                        <a:lumMod val="50000"/>
                      </a:schemeClr>
                    </a:solidFill>
                  </a:rPr>
                  <a:t>= </a:t>
                </a:r>
                <a:r>
                  <a:rPr lang="zh-CN" altLang="en-US" sz="3200" dirty="0">
                    <a:solidFill>
                      <a:schemeClr val="accent1">
                        <a:lumMod val="50000"/>
                      </a:schemeClr>
                    </a:solidFill>
                  </a:rPr>
                  <a:t>𝑟𝑜𝑢𝑛𝑑 </a:t>
                </a:r>
                <a:r>
                  <a:rPr lang="en-US" altLang="zh-CN" sz="3200" dirty="0">
                    <a:solidFill>
                      <a:schemeClr val="accent1">
                        <a:lumMod val="50000"/>
                      </a:schemeClr>
                    </a:solidFill>
                  </a:rPr>
                  <a:t>(  </a:t>
                </a:r>
                <a14:m>
                  <m:oMath xmlns:m="http://schemas.openxmlformats.org/officeDocument/2006/math">
                    <m:f>
                      <m:fPr>
                        <m:ctrlPr>
                          <a:rPr lang="zh-CN" altLang="en-US" sz="3200" i="1" dirty="0" smtClean="0">
                            <a:solidFill>
                              <a:schemeClr val="accent1">
                                <a:lumMod val="50000"/>
                              </a:schemeClr>
                            </a:solidFill>
                            <a:latin typeface="Cambria Math" panose="02040503050406030204" pitchFamily="18" charset="0"/>
                          </a:rPr>
                        </m:ctrlPr>
                      </m:fPr>
                      <m:num>
                        <m:r>
                          <a:rPr lang="zh-CN" altLang="en-US" sz="3200" i="1" dirty="0" smtClean="0">
                            <a:solidFill>
                              <a:schemeClr val="accent1">
                                <a:lumMod val="50000"/>
                              </a:schemeClr>
                            </a:solidFill>
                            <a:latin typeface="Cambria Math" panose="02040503050406030204" pitchFamily="18" charset="0"/>
                          </a:rPr>
                          <m:t>𝑟</m:t>
                        </m:r>
                      </m:num>
                      <m:den>
                        <m:r>
                          <a:rPr lang="zh-CN" altLang="en-US" sz="3200" i="1" dirty="0" smtClean="0">
                            <a:solidFill>
                              <a:schemeClr val="accent1">
                                <a:lumMod val="50000"/>
                              </a:schemeClr>
                            </a:solidFill>
                            <a:latin typeface="Cambria Math" panose="02040503050406030204" pitchFamily="18" charset="0"/>
                          </a:rPr>
                          <m:t>𝑆</m:t>
                        </m:r>
                      </m:den>
                    </m:f>
                  </m:oMath>
                </a14:m>
                <a:r>
                  <a:rPr lang="en-US" altLang="zh-CN" sz="3200" dirty="0">
                    <a:solidFill>
                      <a:schemeClr val="accent1">
                        <a:lumMod val="50000"/>
                      </a:schemeClr>
                    </a:solidFill>
                  </a:rPr>
                  <a:t> + </a:t>
                </a:r>
                <a:r>
                  <a:rPr lang="zh-CN" altLang="en-US" sz="3200" dirty="0">
                    <a:solidFill>
                      <a:schemeClr val="accent1">
                        <a:lumMod val="50000"/>
                      </a:schemeClr>
                    </a:solidFill>
                  </a:rPr>
                  <a:t>𝑍</a:t>
                </a:r>
                <a:r>
                  <a:rPr lang="en-US" altLang="zh-CN" sz="3200" dirty="0">
                    <a:solidFill>
                      <a:schemeClr val="accent1">
                        <a:lumMod val="50000"/>
                      </a:schemeClr>
                    </a:solidFill>
                  </a:rPr>
                  <a:t>)</a:t>
                </a:r>
                <a:endParaRPr lang="zh-CN" altLang="en-US" sz="3200" dirty="0">
                  <a:solidFill>
                    <a:schemeClr val="accent1">
                      <a:lumMod val="50000"/>
                    </a:schemeClr>
                  </a:solidFill>
                </a:endParaRPr>
              </a:p>
            </p:txBody>
          </p:sp>
        </mc:Choice>
        <mc:Fallback xmlns="">
          <p:sp>
            <p:nvSpPr>
              <p:cNvPr id="5" name="文本框 4">
                <a:extLst>
                  <a:ext uri="{FF2B5EF4-FFF2-40B4-BE49-F238E27FC236}">
                    <a16:creationId xmlns:a16="http://schemas.microsoft.com/office/drawing/2014/main" id="{82B32437-19F4-C80D-8297-73F718C9025A}"/>
                  </a:ext>
                </a:extLst>
              </p:cNvPr>
              <p:cNvSpPr txBox="1">
                <a:spLocks noRot="1" noChangeAspect="1" noMove="1" noResize="1" noEditPoints="1" noAdjustHandles="1" noChangeArrowheads="1" noChangeShapeType="1" noTextEdit="1"/>
              </p:cNvSpPr>
              <p:nvPr/>
            </p:nvSpPr>
            <p:spPr>
              <a:xfrm>
                <a:off x="3173491" y="962086"/>
                <a:ext cx="5568576" cy="751872"/>
              </a:xfrm>
              <a:prstGeom prst="rect">
                <a:avLst/>
              </a:prstGeom>
              <a:blipFill>
                <a:blip r:embed="rId3"/>
                <a:stretch>
                  <a:fillRect l="-2519" t="-4065" r="-2300" b="-13008"/>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5E42414B-610E-EF17-691D-59ABEB8229A3}"/>
              </a:ext>
            </a:extLst>
          </p:cNvPr>
          <p:cNvSpPr txBox="1"/>
          <p:nvPr/>
        </p:nvSpPr>
        <p:spPr>
          <a:xfrm>
            <a:off x="9365765" y="6477000"/>
            <a:ext cx="2743200" cy="276999"/>
          </a:xfrm>
          <a:prstGeom prst="rect">
            <a:avLst/>
          </a:prstGeom>
          <a:noFill/>
        </p:spPr>
        <p:txBody>
          <a:bodyPr wrap="square">
            <a:spAutoFit/>
          </a:bodyPr>
          <a:lstStyle/>
          <a:p>
            <a:r>
              <a:rPr lang="en-US" altLang="zh-CN" sz="1200" dirty="0"/>
              <a:t>[2]</a:t>
            </a:r>
            <a:r>
              <a:rPr lang="zh-CN" altLang="en-US" sz="1200" dirty="0">
                <a:hlinkClick r:id="rId4"/>
              </a:rPr>
              <a:t>模型量化原理与实践 </a:t>
            </a:r>
            <a:r>
              <a:rPr lang="en-US" altLang="zh-CN" sz="1200" dirty="0">
                <a:hlinkClick r:id="rId4"/>
              </a:rPr>
              <a:t>– Robot 9</a:t>
            </a:r>
            <a:endParaRPr lang="zh-CN" altLang="en-US" sz="1200" dirty="0"/>
          </a:p>
        </p:txBody>
      </p:sp>
      <p:pic>
        <p:nvPicPr>
          <p:cNvPr id="1026" name="Picture 2">
            <a:extLst>
              <a:ext uri="{FF2B5EF4-FFF2-40B4-BE49-F238E27FC236}">
                <a16:creationId xmlns:a16="http://schemas.microsoft.com/office/drawing/2014/main" id="{D01CF4DE-BE2F-BF8E-7E21-B02E3398CD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8980" y="3070312"/>
            <a:ext cx="3044422" cy="1597454"/>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206935A2-1F6C-2DC8-4569-480843F7057F}"/>
              </a:ext>
            </a:extLst>
          </p:cNvPr>
          <p:cNvSpPr txBox="1"/>
          <p:nvPr/>
        </p:nvSpPr>
        <p:spPr>
          <a:xfrm>
            <a:off x="944033" y="3178757"/>
            <a:ext cx="1073888"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浮点数：</a:t>
            </a:r>
          </a:p>
        </p:txBody>
      </p:sp>
      <p:sp>
        <p:nvSpPr>
          <p:cNvPr id="13" name="文本框 12">
            <a:extLst>
              <a:ext uri="{FF2B5EF4-FFF2-40B4-BE49-F238E27FC236}">
                <a16:creationId xmlns:a16="http://schemas.microsoft.com/office/drawing/2014/main" id="{002CBD50-85D1-88AB-8F4F-B5896DD6C27B}"/>
              </a:ext>
            </a:extLst>
          </p:cNvPr>
          <p:cNvSpPr txBox="1"/>
          <p:nvPr/>
        </p:nvSpPr>
        <p:spPr>
          <a:xfrm>
            <a:off x="944033" y="4063673"/>
            <a:ext cx="1073888"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量化后：</a:t>
            </a:r>
          </a:p>
        </p:txBody>
      </p:sp>
      <p:pic>
        <p:nvPicPr>
          <p:cNvPr id="2050" name="Picture 2">
            <a:extLst>
              <a:ext uri="{FF2B5EF4-FFF2-40B4-BE49-F238E27FC236}">
                <a16:creationId xmlns:a16="http://schemas.microsoft.com/office/drawing/2014/main" id="{6AE99431-FC3B-78FA-F89A-7925F10176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7779" y="2112996"/>
            <a:ext cx="4852434" cy="364486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8CEF5C2F-08C3-B1D3-50E2-4C6A43F818C8}"/>
              </a:ext>
            </a:extLst>
          </p:cNvPr>
          <p:cNvSpPr txBox="1"/>
          <p:nvPr/>
        </p:nvSpPr>
        <p:spPr>
          <a:xfrm>
            <a:off x="1814877" y="5826776"/>
            <a:ext cx="8922488" cy="369332"/>
          </a:xfrm>
          <a:prstGeom prst="rect">
            <a:avLst/>
          </a:prstGeom>
          <a:noFill/>
        </p:spPr>
        <p:txBody>
          <a:bodyPr wrap="square">
            <a:spAutoFit/>
          </a:bodyPr>
          <a:lstStyle/>
          <a:p>
            <a:r>
              <a:rPr lang="zh-CN" altLang="en-US" b="0" i="0" dirty="0">
                <a:solidFill>
                  <a:srgbClr val="1F2328"/>
                </a:solidFill>
                <a:effectLst/>
                <a:latin typeface="微软雅黑" panose="020B0503020204020204" pitchFamily="34" charset="-122"/>
                <a:ea typeface="微软雅黑" panose="020B0503020204020204" pitchFamily="34" charset="-122"/>
              </a:rPr>
              <a:t>一般来说，线性量化后数据</a:t>
            </a:r>
            <a:r>
              <a:rPr lang="en-US" altLang="zh-CN" b="0" i="0" dirty="0">
                <a:solidFill>
                  <a:srgbClr val="1F2328"/>
                </a:solidFill>
                <a:effectLst/>
                <a:latin typeface="微软雅黑" panose="020B0503020204020204" pitchFamily="34" charset="-122"/>
                <a:ea typeface="微软雅黑" panose="020B0503020204020204" pitchFamily="34" charset="-122"/>
              </a:rPr>
              <a:t>0</a:t>
            </a:r>
            <a:r>
              <a:rPr lang="zh-CN" altLang="en-US" b="0" i="0" dirty="0">
                <a:solidFill>
                  <a:srgbClr val="1F2328"/>
                </a:solidFill>
                <a:effectLst/>
                <a:latin typeface="微软雅黑" panose="020B0503020204020204" pitchFamily="34" charset="-122"/>
                <a:ea typeface="微软雅黑" panose="020B0503020204020204" pitchFamily="34" charset="-122"/>
              </a:rPr>
              <a:t>点发生变化，但参数得当时，分布不会发生太大改变</a:t>
            </a:r>
            <a:r>
              <a:rPr lang="zh-CN" altLang="en-US" dirty="0">
                <a:solidFill>
                  <a:srgbClr val="1F2328"/>
                </a:solidFill>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AD50055-EDA7-CAFD-C585-93D918F81636}"/>
                  </a:ext>
                </a:extLst>
              </p:cNvPr>
              <p:cNvSpPr txBox="1"/>
              <p:nvPr/>
            </p:nvSpPr>
            <p:spPr>
              <a:xfrm>
                <a:off x="527423" y="2043377"/>
                <a:ext cx="5568576" cy="751872"/>
              </a:xfrm>
              <a:prstGeom prst="rect">
                <a:avLst/>
              </a:prstGeom>
              <a:noFill/>
            </p:spPr>
            <p:txBody>
              <a:bodyPr wrap="none" rtlCol="0">
                <a:spAutoFit/>
              </a:bodyPr>
              <a:lstStyle/>
              <a:p>
                <a:pPr algn="ctr"/>
                <a:r>
                  <a:rPr lang="zh-CN" altLang="en-US" sz="3200" dirty="0">
                    <a:solidFill>
                      <a:schemeClr val="accent1">
                        <a:lumMod val="50000"/>
                      </a:schemeClr>
                    </a:solidFill>
                  </a:rPr>
                  <a:t>线性量化：𝑞 </a:t>
                </a:r>
                <a:r>
                  <a:rPr lang="en-US" altLang="zh-CN" sz="3200" dirty="0">
                    <a:solidFill>
                      <a:schemeClr val="accent1">
                        <a:lumMod val="50000"/>
                      </a:schemeClr>
                    </a:solidFill>
                  </a:rPr>
                  <a:t>= </a:t>
                </a:r>
                <a:r>
                  <a:rPr lang="zh-CN" altLang="en-US" sz="3200" dirty="0">
                    <a:solidFill>
                      <a:schemeClr val="accent1">
                        <a:lumMod val="50000"/>
                      </a:schemeClr>
                    </a:solidFill>
                  </a:rPr>
                  <a:t>𝑟𝑜𝑢𝑛𝑑 </a:t>
                </a:r>
                <a:r>
                  <a:rPr lang="en-US" altLang="zh-CN" sz="3200" dirty="0">
                    <a:solidFill>
                      <a:schemeClr val="accent1">
                        <a:lumMod val="50000"/>
                      </a:schemeClr>
                    </a:solidFill>
                  </a:rPr>
                  <a:t>(  </a:t>
                </a:r>
                <a14:m>
                  <m:oMath xmlns:m="http://schemas.openxmlformats.org/officeDocument/2006/math">
                    <m:f>
                      <m:fPr>
                        <m:ctrlPr>
                          <a:rPr lang="zh-CN" altLang="en-US" sz="3200" i="1" dirty="0" smtClean="0">
                            <a:solidFill>
                              <a:schemeClr val="accent1">
                                <a:lumMod val="50000"/>
                              </a:schemeClr>
                            </a:solidFill>
                            <a:latin typeface="Cambria Math" panose="02040503050406030204" pitchFamily="18" charset="0"/>
                          </a:rPr>
                        </m:ctrlPr>
                      </m:fPr>
                      <m:num>
                        <m:r>
                          <a:rPr lang="zh-CN" altLang="en-US" sz="3200" i="1" dirty="0" smtClean="0">
                            <a:solidFill>
                              <a:schemeClr val="accent1">
                                <a:lumMod val="50000"/>
                              </a:schemeClr>
                            </a:solidFill>
                            <a:latin typeface="Cambria Math" panose="02040503050406030204" pitchFamily="18" charset="0"/>
                          </a:rPr>
                          <m:t>𝑟</m:t>
                        </m:r>
                      </m:num>
                      <m:den>
                        <m:r>
                          <a:rPr lang="zh-CN" altLang="en-US" sz="3200" i="1" dirty="0" smtClean="0">
                            <a:solidFill>
                              <a:schemeClr val="accent1">
                                <a:lumMod val="50000"/>
                              </a:schemeClr>
                            </a:solidFill>
                            <a:latin typeface="Cambria Math" panose="02040503050406030204" pitchFamily="18" charset="0"/>
                          </a:rPr>
                          <m:t>𝑆</m:t>
                        </m:r>
                      </m:den>
                    </m:f>
                  </m:oMath>
                </a14:m>
                <a:r>
                  <a:rPr lang="en-US" altLang="zh-CN" sz="3200" dirty="0">
                    <a:solidFill>
                      <a:schemeClr val="accent1">
                        <a:lumMod val="50000"/>
                      </a:schemeClr>
                    </a:solidFill>
                  </a:rPr>
                  <a:t> + </a:t>
                </a:r>
                <a:r>
                  <a:rPr lang="zh-CN" altLang="en-US" sz="3200" dirty="0">
                    <a:solidFill>
                      <a:schemeClr val="accent1">
                        <a:lumMod val="50000"/>
                      </a:schemeClr>
                    </a:solidFill>
                  </a:rPr>
                  <a:t>𝑍</a:t>
                </a:r>
                <a:r>
                  <a:rPr lang="en-US" altLang="zh-CN" sz="3200" dirty="0">
                    <a:solidFill>
                      <a:schemeClr val="accent1">
                        <a:lumMod val="50000"/>
                      </a:schemeClr>
                    </a:solidFill>
                  </a:rPr>
                  <a:t>)</a:t>
                </a:r>
                <a:endParaRPr lang="zh-CN" altLang="en-US" sz="3200" dirty="0">
                  <a:solidFill>
                    <a:schemeClr val="accent1">
                      <a:lumMod val="50000"/>
                    </a:schemeClr>
                  </a:solidFill>
                </a:endParaRPr>
              </a:p>
            </p:txBody>
          </p:sp>
        </mc:Choice>
        <mc:Fallback xmlns="">
          <p:sp>
            <p:nvSpPr>
              <p:cNvPr id="6" name="文本框 5">
                <a:extLst>
                  <a:ext uri="{FF2B5EF4-FFF2-40B4-BE49-F238E27FC236}">
                    <a16:creationId xmlns:a16="http://schemas.microsoft.com/office/drawing/2014/main" id="{AAD50055-EDA7-CAFD-C585-93D918F81636}"/>
                  </a:ext>
                </a:extLst>
              </p:cNvPr>
              <p:cNvSpPr txBox="1">
                <a:spLocks noRot="1" noChangeAspect="1" noMove="1" noResize="1" noEditPoints="1" noAdjustHandles="1" noChangeArrowheads="1" noChangeShapeType="1" noTextEdit="1"/>
              </p:cNvSpPr>
              <p:nvPr/>
            </p:nvSpPr>
            <p:spPr>
              <a:xfrm>
                <a:off x="527423" y="2043377"/>
                <a:ext cx="5568576" cy="751872"/>
              </a:xfrm>
              <a:prstGeom prst="rect">
                <a:avLst/>
              </a:prstGeom>
              <a:blipFill>
                <a:blip r:embed="rId7"/>
                <a:stretch>
                  <a:fillRect l="-2519" t="-4032" r="-2300" b="-120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4178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1CF72-2337-34BB-9BC7-CA181369DFCA}"/>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FCCF192D-B244-4939-8588-C4F83093B52C}"/>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669E35DC-1432-C2A6-71A2-3C54B2696382}"/>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D52506E6-B772-EDC8-2ECD-0A19C60E5127}"/>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8BAC8E95-89AC-00DC-372A-114F491FEB44}"/>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ABC03EA2-AFDC-11E4-4A27-84E7768916BC}"/>
              </a:ext>
            </a:extLst>
          </p:cNvPr>
          <p:cNvSpPr txBox="1"/>
          <p:nvPr/>
        </p:nvSpPr>
        <p:spPr>
          <a:xfrm>
            <a:off x="3431127" y="152793"/>
            <a:ext cx="5262979" cy="769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0"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研究内容及技术路线</a:t>
            </a:r>
          </a:p>
        </p:txBody>
      </p:sp>
      <p:sp>
        <p:nvSpPr>
          <p:cNvPr id="6" name="文本框 5">
            <a:extLst>
              <a:ext uri="{FF2B5EF4-FFF2-40B4-BE49-F238E27FC236}">
                <a16:creationId xmlns:a16="http://schemas.microsoft.com/office/drawing/2014/main" id="{72E654FE-BA1E-0E84-26CA-1127FAB405A0}"/>
              </a:ext>
            </a:extLst>
          </p:cNvPr>
          <p:cNvSpPr txBox="1"/>
          <p:nvPr/>
        </p:nvSpPr>
        <p:spPr>
          <a:xfrm>
            <a:off x="2187145" y="954782"/>
            <a:ext cx="8640462" cy="584775"/>
          </a:xfrm>
          <a:prstGeom prst="rect">
            <a:avLst/>
          </a:prstGeom>
          <a:noFill/>
        </p:spPr>
        <p:txBody>
          <a:bodyPr wrap="square">
            <a:spAutoFit/>
          </a:bodyPr>
          <a:lstStyle/>
          <a:p>
            <a:r>
              <a:rPr lang="zh-CN" altLang="zh-CN" sz="3200" dirty="0">
                <a:solidFill>
                  <a:schemeClr val="accent1">
                    <a:lumMod val="50000"/>
                  </a:schemeClr>
                </a:solidFill>
              </a:rPr>
              <a:t>基于</a:t>
            </a:r>
            <a:r>
              <a:rPr lang="en-US" altLang="zh-CN" sz="3200" dirty="0">
                <a:solidFill>
                  <a:schemeClr val="accent1">
                    <a:lumMod val="50000"/>
                  </a:schemeClr>
                </a:solidFill>
              </a:rPr>
              <a:t>RKNN</a:t>
            </a:r>
            <a:r>
              <a:rPr lang="zh-CN" altLang="zh-CN" sz="3200" dirty="0">
                <a:solidFill>
                  <a:schemeClr val="accent1">
                    <a:lumMod val="50000"/>
                  </a:schemeClr>
                </a:solidFill>
              </a:rPr>
              <a:t>的部署方案</a:t>
            </a:r>
            <a:r>
              <a:rPr lang="en-US" altLang="zh-CN" sz="3200" dirty="0">
                <a:solidFill>
                  <a:schemeClr val="accent1">
                    <a:lumMod val="50000"/>
                  </a:schemeClr>
                </a:solidFill>
              </a:rPr>
              <a:t>——RKNPU</a:t>
            </a:r>
            <a:r>
              <a:rPr lang="zh-CN" altLang="en-US" sz="3200" dirty="0">
                <a:solidFill>
                  <a:schemeClr val="accent1">
                    <a:lumMod val="50000"/>
                  </a:schemeClr>
                </a:solidFill>
              </a:rPr>
              <a:t>开发流程</a:t>
            </a:r>
          </a:p>
        </p:txBody>
      </p:sp>
      <p:pic>
        <p:nvPicPr>
          <p:cNvPr id="2050" name="Picture 2">
            <a:extLst>
              <a:ext uri="{FF2B5EF4-FFF2-40B4-BE49-F238E27FC236}">
                <a16:creationId xmlns:a16="http://schemas.microsoft.com/office/drawing/2014/main" id="{B0BF3CAF-404C-3A44-0EC5-711E9A6DC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033" y="1704447"/>
            <a:ext cx="10177049" cy="4180419"/>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D83F3CC-D5E7-2992-7813-0A66D825580E}"/>
              </a:ext>
            </a:extLst>
          </p:cNvPr>
          <p:cNvSpPr txBox="1"/>
          <p:nvPr/>
        </p:nvSpPr>
        <p:spPr>
          <a:xfrm>
            <a:off x="4729549" y="5866478"/>
            <a:ext cx="6098058" cy="369332"/>
          </a:xfrm>
          <a:prstGeom prst="rect">
            <a:avLst/>
          </a:prstGeom>
          <a:noFill/>
        </p:spPr>
        <p:txBody>
          <a:bodyPr wrap="square">
            <a:spAutoFit/>
          </a:bodyPr>
          <a:lstStyle/>
          <a:p>
            <a:r>
              <a:rPr lang="en-US" altLang="zh-CN" b="0" i="0" dirty="0">
                <a:solidFill>
                  <a:srgbClr val="333333"/>
                </a:solidFill>
                <a:effectLst/>
                <a:latin typeface="微软雅黑" panose="020B0503020204020204" pitchFamily="34" charset="-122"/>
                <a:ea typeface="微软雅黑" panose="020B0503020204020204" pitchFamily="34" charset="-122"/>
              </a:rPr>
              <a:t>RKNPU</a:t>
            </a:r>
            <a:r>
              <a:rPr lang="zh-CN" altLang="en-US" b="0" i="0" dirty="0">
                <a:solidFill>
                  <a:srgbClr val="333333"/>
                </a:solidFill>
                <a:effectLst/>
                <a:latin typeface="微软雅黑" panose="020B0503020204020204" pitchFamily="34" charset="-122"/>
                <a:ea typeface="微软雅黑" panose="020B0503020204020204" pitchFamily="34" charset="-122"/>
              </a:rPr>
              <a:t>完整开发流程</a:t>
            </a:r>
            <a:endParaRPr lang="zh-CN" altLang="en-US" dirty="0"/>
          </a:p>
        </p:txBody>
      </p:sp>
    </p:spTree>
    <p:extLst>
      <p:ext uri="{BB962C8B-B14F-4D97-AF65-F5344CB8AC3E}">
        <p14:creationId xmlns:p14="http://schemas.microsoft.com/office/powerpoint/2010/main" val="3701259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8D7363-B080-E6A5-0A46-5DC2C014A001}"/>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A8993BCA-AEC1-D157-F5FB-737FA0F9A511}"/>
              </a:ext>
            </a:extLst>
          </p:cNvPr>
          <p:cNvSpPr>
            <a:spLocks noGrp="1"/>
          </p:cNvSpPr>
          <p:nvPr>
            <p:ph type="dt" sz="half" idx="10"/>
          </p:nvPr>
        </p:nvSpPr>
        <p:spPr/>
        <p:txBody>
          <a:bodyPr/>
          <a:lstStyle/>
          <a:p>
            <a:pPr>
              <a:defRPr/>
            </a:pPr>
            <a:fld id="{7D57CFF5-4EAE-4F64-9EA4-AF1639666708}" type="datetime1">
              <a:rPr lang="zh-CN" altLang="en-US" smtClean="0"/>
              <a:t>2025/2/24</a:t>
            </a:fld>
            <a:endParaRPr lang="zh-CN" altLang="en-US" sz="1800">
              <a:solidFill>
                <a:schemeClr val="tx1"/>
              </a:solidFill>
            </a:endParaRPr>
          </a:p>
        </p:txBody>
      </p:sp>
      <p:sp>
        <p:nvSpPr>
          <p:cNvPr id="31" name="文本框 8">
            <a:extLst>
              <a:ext uri="{FF2B5EF4-FFF2-40B4-BE49-F238E27FC236}">
                <a16:creationId xmlns:a16="http://schemas.microsoft.com/office/drawing/2014/main" id="{08E1AAB2-3C09-C5E9-5DE0-3CBD5F09B6D2}"/>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D1CE097A-3B31-837D-AB73-35CF9030B535}"/>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F3D4F03F-6153-0701-7566-CF7612116F2E}"/>
              </a:ext>
            </a:extLst>
          </p:cNvPr>
          <p:cNvCxnSpPr/>
          <p:nvPr/>
        </p:nvCxnSpPr>
        <p:spPr bwMode="auto">
          <a:xfrm>
            <a:off x="944033" y="1753811"/>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5" name="文本框 4">
            <a:extLst>
              <a:ext uri="{FF2B5EF4-FFF2-40B4-BE49-F238E27FC236}">
                <a16:creationId xmlns:a16="http://schemas.microsoft.com/office/drawing/2014/main" id="{0CECFB75-24F6-7518-18FB-73BC23EE2AC3}"/>
              </a:ext>
            </a:extLst>
          </p:cNvPr>
          <p:cNvSpPr txBox="1"/>
          <p:nvPr/>
        </p:nvSpPr>
        <p:spPr>
          <a:xfrm>
            <a:off x="1900236" y="1047339"/>
            <a:ext cx="8121134" cy="584775"/>
          </a:xfrm>
          <a:prstGeom prst="rect">
            <a:avLst/>
          </a:prstGeom>
          <a:noFill/>
        </p:spPr>
        <p:txBody>
          <a:bodyPr wrap="none" rtlCol="0">
            <a:spAutoFit/>
          </a:bodyPr>
          <a:lstStyle/>
          <a:p>
            <a:pPr algn="ctr"/>
            <a:r>
              <a:rPr lang="en-US" altLang="zh-CN" sz="3200" dirty="0">
                <a:solidFill>
                  <a:schemeClr val="accent1">
                    <a:lumMod val="50000"/>
                  </a:schemeClr>
                </a:solidFill>
              </a:rPr>
              <a:t>FPGA</a:t>
            </a:r>
            <a:r>
              <a:rPr lang="zh-CN" altLang="en-US" sz="3200" dirty="0">
                <a:solidFill>
                  <a:schemeClr val="accent1">
                    <a:lumMod val="50000"/>
                  </a:schemeClr>
                </a:solidFill>
              </a:rPr>
              <a:t>需要同时考虑存储资源和数据传输速率</a:t>
            </a:r>
          </a:p>
        </p:txBody>
      </p:sp>
      <p:sp>
        <p:nvSpPr>
          <p:cNvPr id="7" name="文本框 6">
            <a:extLst>
              <a:ext uri="{FF2B5EF4-FFF2-40B4-BE49-F238E27FC236}">
                <a16:creationId xmlns:a16="http://schemas.microsoft.com/office/drawing/2014/main" id="{D4F32994-8A7F-96EF-8C5D-AD941F4EEBB7}"/>
              </a:ext>
            </a:extLst>
          </p:cNvPr>
          <p:cNvSpPr txBox="1"/>
          <p:nvPr/>
        </p:nvSpPr>
        <p:spPr>
          <a:xfrm>
            <a:off x="9365765" y="6477000"/>
            <a:ext cx="2743200" cy="276999"/>
          </a:xfrm>
          <a:prstGeom prst="rect">
            <a:avLst/>
          </a:prstGeom>
          <a:noFill/>
        </p:spPr>
        <p:txBody>
          <a:bodyPr wrap="square">
            <a:spAutoFit/>
          </a:bodyPr>
          <a:lstStyle/>
          <a:p>
            <a:r>
              <a:rPr lang="en-US" altLang="zh-CN" sz="1200" dirty="0"/>
              <a:t>[2]</a:t>
            </a:r>
            <a:r>
              <a:rPr lang="zh-CN" altLang="en-US" sz="1200" dirty="0">
                <a:hlinkClick r:id="rId3"/>
              </a:rPr>
              <a:t>模型量化原理与实践 </a:t>
            </a:r>
            <a:r>
              <a:rPr lang="en-US" altLang="zh-CN" sz="1200" dirty="0">
                <a:hlinkClick r:id="rId3"/>
              </a:rPr>
              <a:t>– Robot 9</a:t>
            </a:r>
            <a:endParaRPr lang="zh-CN" altLang="en-US" sz="1200" dirty="0"/>
          </a:p>
        </p:txBody>
      </p:sp>
      <p:pic>
        <p:nvPicPr>
          <p:cNvPr id="9" name="图片 8">
            <a:extLst>
              <a:ext uri="{FF2B5EF4-FFF2-40B4-BE49-F238E27FC236}">
                <a16:creationId xmlns:a16="http://schemas.microsoft.com/office/drawing/2014/main" id="{59DE1D3B-0DEF-9A97-C535-526883F5219C}"/>
              </a:ext>
            </a:extLst>
          </p:cNvPr>
          <p:cNvPicPr>
            <a:picLocks noChangeAspect="1"/>
          </p:cNvPicPr>
          <p:nvPr/>
        </p:nvPicPr>
        <p:blipFill>
          <a:blip r:embed="rId4"/>
          <a:stretch>
            <a:fillRect/>
          </a:stretch>
        </p:blipFill>
        <p:spPr>
          <a:xfrm>
            <a:off x="2052638" y="1903667"/>
            <a:ext cx="7839075" cy="2428875"/>
          </a:xfrm>
          <a:prstGeom prst="rect">
            <a:avLst/>
          </a:prstGeom>
        </p:spPr>
      </p:pic>
      <p:graphicFrame>
        <p:nvGraphicFramePr>
          <p:cNvPr id="11" name="表格 10">
            <a:extLst>
              <a:ext uri="{FF2B5EF4-FFF2-40B4-BE49-F238E27FC236}">
                <a16:creationId xmlns:a16="http://schemas.microsoft.com/office/drawing/2014/main" id="{33804C18-ADE8-9F64-A7EB-3855F5F88765}"/>
              </a:ext>
            </a:extLst>
          </p:cNvPr>
          <p:cNvGraphicFramePr>
            <a:graphicFrameLocks noGrp="1"/>
          </p:cNvGraphicFramePr>
          <p:nvPr>
            <p:extLst>
              <p:ext uri="{D42A27DB-BD31-4B8C-83A1-F6EECF244321}">
                <p14:modId xmlns:p14="http://schemas.microsoft.com/office/powerpoint/2010/main" val="3383188848"/>
              </p:ext>
            </p:extLst>
          </p:nvPr>
        </p:nvGraphicFramePr>
        <p:xfrm>
          <a:off x="2052638" y="4605306"/>
          <a:ext cx="8127999" cy="14782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760535362"/>
                    </a:ext>
                  </a:extLst>
                </a:gridCol>
                <a:gridCol w="2709333">
                  <a:extLst>
                    <a:ext uri="{9D8B030D-6E8A-4147-A177-3AD203B41FA5}">
                      <a16:colId xmlns:a16="http://schemas.microsoft.com/office/drawing/2014/main" val="2740263486"/>
                    </a:ext>
                  </a:extLst>
                </a:gridCol>
                <a:gridCol w="2709333">
                  <a:extLst>
                    <a:ext uri="{9D8B030D-6E8A-4147-A177-3AD203B41FA5}">
                      <a16:colId xmlns:a16="http://schemas.microsoft.com/office/drawing/2014/main" val="3408603058"/>
                    </a:ext>
                  </a:extLst>
                </a:gridCol>
              </a:tblGrid>
              <a:tr h="293064">
                <a:tc>
                  <a:txBody>
                    <a:bodyPr/>
                    <a:lstStyle/>
                    <a:p>
                      <a:pPr algn="ctr"/>
                      <a:r>
                        <a:rPr lang="zh-CN" altLang="en-US" dirty="0"/>
                        <a:t>存储模块</a:t>
                      </a:r>
                    </a:p>
                  </a:txBody>
                  <a:tcPr/>
                </a:tc>
                <a:tc>
                  <a:txBody>
                    <a:bodyPr/>
                    <a:lstStyle/>
                    <a:p>
                      <a:pPr algn="ctr"/>
                      <a:r>
                        <a:rPr lang="zh-CN" altLang="en-US" dirty="0"/>
                        <a:t>性能瓶颈</a:t>
                      </a:r>
                    </a:p>
                  </a:txBody>
                  <a:tcPr/>
                </a:tc>
                <a:tc>
                  <a:txBody>
                    <a:bodyPr/>
                    <a:lstStyle/>
                    <a:p>
                      <a:pPr algn="ctr"/>
                      <a:r>
                        <a:rPr lang="zh-CN" altLang="en-US" dirty="0"/>
                        <a:t>硬件加速方式</a:t>
                      </a:r>
                    </a:p>
                  </a:txBody>
                  <a:tcPr/>
                </a:tc>
                <a:extLst>
                  <a:ext uri="{0D108BD9-81ED-4DB2-BD59-A6C34878D82A}">
                    <a16:rowId xmlns:a16="http://schemas.microsoft.com/office/drawing/2014/main" val="3143281520"/>
                  </a:ext>
                </a:extLst>
              </a:tr>
              <a:tr h="370840">
                <a:tc>
                  <a:txBody>
                    <a:bodyPr/>
                    <a:lstStyle/>
                    <a:p>
                      <a:pPr algn="ctr"/>
                      <a:r>
                        <a:rPr lang="zh-CN" altLang="en-US" dirty="0"/>
                        <a:t>外部存储器</a:t>
                      </a:r>
                    </a:p>
                  </a:txBody>
                  <a:tcPr/>
                </a:tc>
                <a:tc>
                  <a:txBody>
                    <a:bodyPr/>
                    <a:lstStyle/>
                    <a:p>
                      <a:pPr algn="ctr"/>
                      <a:r>
                        <a:rPr lang="zh-CN" altLang="en-US" dirty="0"/>
                        <a:t>数据传输延迟</a:t>
                      </a:r>
                    </a:p>
                  </a:txBody>
                  <a:tcPr/>
                </a:tc>
                <a:tc>
                  <a:txBody>
                    <a:bodyPr/>
                    <a:lstStyle/>
                    <a:p>
                      <a:pPr algn="ctr"/>
                      <a:r>
                        <a:rPr lang="zh-CN" altLang="en-US" dirty="0"/>
                        <a:t>数据复用</a:t>
                      </a:r>
                    </a:p>
                  </a:txBody>
                  <a:tcPr/>
                </a:tc>
                <a:extLst>
                  <a:ext uri="{0D108BD9-81ED-4DB2-BD59-A6C34878D82A}">
                    <a16:rowId xmlns:a16="http://schemas.microsoft.com/office/drawing/2014/main" val="976510199"/>
                  </a:ext>
                </a:extLst>
              </a:tr>
              <a:tr h="370840">
                <a:tc>
                  <a:txBody>
                    <a:bodyPr/>
                    <a:lstStyle/>
                    <a:p>
                      <a:pPr algn="ctr"/>
                      <a:r>
                        <a:rPr lang="zh-CN" altLang="en-US" dirty="0"/>
                        <a:t>片上存储器</a:t>
                      </a:r>
                    </a:p>
                  </a:txBody>
                  <a:tcPr/>
                </a:tc>
                <a:tc>
                  <a:txBody>
                    <a:bodyPr/>
                    <a:lstStyle/>
                    <a:p>
                      <a:pPr algn="ctr"/>
                      <a:r>
                        <a:rPr lang="zh-CN" altLang="en-US" dirty="0"/>
                        <a:t>存储资源限制</a:t>
                      </a:r>
                    </a:p>
                  </a:txBody>
                  <a:tcPr/>
                </a:tc>
                <a:tc>
                  <a:txBody>
                    <a:bodyPr/>
                    <a:lstStyle/>
                    <a:p>
                      <a:pPr algn="ctr"/>
                      <a:r>
                        <a:rPr lang="zh-CN" altLang="en-US" dirty="0"/>
                        <a:t>数据分片</a:t>
                      </a:r>
                    </a:p>
                  </a:txBody>
                  <a:tcPr/>
                </a:tc>
                <a:extLst>
                  <a:ext uri="{0D108BD9-81ED-4DB2-BD59-A6C34878D82A}">
                    <a16:rowId xmlns:a16="http://schemas.microsoft.com/office/drawing/2014/main" val="2908786564"/>
                  </a:ext>
                </a:extLst>
              </a:tr>
              <a:tr h="370840">
                <a:tc>
                  <a:txBody>
                    <a:bodyPr/>
                    <a:lstStyle/>
                    <a:p>
                      <a:pPr algn="ctr"/>
                      <a:r>
                        <a:rPr lang="zh-CN" altLang="en-US" dirty="0"/>
                        <a:t>寄存器级存储单元</a:t>
                      </a:r>
                    </a:p>
                  </a:txBody>
                  <a:tcPr/>
                </a:tc>
                <a:tc>
                  <a:txBody>
                    <a:bodyPr/>
                    <a:lstStyle/>
                    <a:p>
                      <a:pPr algn="ctr"/>
                      <a:r>
                        <a:rPr lang="zh-CN" altLang="en-US" dirty="0"/>
                        <a:t>计算并行性</a:t>
                      </a:r>
                    </a:p>
                  </a:txBody>
                  <a:tcPr/>
                </a:tc>
                <a:tc>
                  <a:txBody>
                    <a:bodyPr/>
                    <a:lstStyle/>
                    <a:p>
                      <a:pPr algn="ctr"/>
                      <a:r>
                        <a:rPr lang="zh-CN" altLang="en-US" dirty="0"/>
                        <a:t>循环展开</a:t>
                      </a:r>
                    </a:p>
                  </a:txBody>
                  <a:tcPr/>
                </a:tc>
                <a:extLst>
                  <a:ext uri="{0D108BD9-81ED-4DB2-BD59-A6C34878D82A}">
                    <a16:rowId xmlns:a16="http://schemas.microsoft.com/office/drawing/2014/main" val="3697668977"/>
                  </a:ext>
                </a:extLst>
              </a:tr>
            </a:tbl>
          </a:graphicData>
        </a:graphic>
      </p:graphicFrame>
      <p:sp>
        <p:nvSpPr>
          <p:cNvPr id="4" name="文本框 3">
            <a:extLst>
              <a:ext uri="{FF2B5EF4-FFF2-40B4-BE49-F238E27FC236}">
                <a16:creationId xmlns:a16="http://schemas.microsoft.com/office/drawing/2014/main" id="{F02C30F6-F35E-A87E-2986-FE9360A157E2}"/>
              </a:ext>
            </a:extLst>
          </p:cNvPr>
          <p:cNvSpPr txBox="1"/>
          <p:nvPr/>
        </p:nvSpPr>
        <p:spPr>
          <a:xfrm>
            <a:off x="3464510" y="178328"/>
            <a:ext cx="5262979" cy="769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0"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研究内容及技术路线</a:t>
            </a:r>
          </a:p>
        </p:txBody>
      </p:sp>
    </p:spTree>
    <p:extLst>
      <p:ext uri="{BB962C8B-B14F-4D97-AF65-F5344CB8AC3E}">
        <p14:creationId xmlns:p14="http://schemas.microsoft.com/office/powerpoint/2010/main" val="3917942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973C104-0B2C-930C-B42B-182A2E3C9EEB}"/>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E6BB97A4-C7FB-4B94-7CE6-13ADF67028A5}"/>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166957DA-6E90-9809-7073-1BD83044382F}"/>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10D20816-41AC-BF9A-26FD-9C0F51849944}"/>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28F715C6-A8FD-87F6-B9BE-5E6624E7E1B1}"/>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36BE281B-2E45-D242-BCA8-AF69824573ED}"/>
              </a:ext>
            </a:extLst>
          </p:cNvPr>
          <p:cNvSpPr txBox="1"/>
          <p:nvPr/>
        </p:nvSpPr>
        <p:spPr>
          <a:xfrm>
            <a:off x="891961" y="152793"/>
            <a:ext cx="10341293"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为什么选择基于自注意力机制的网络方法</a:t>
            </a:r>
          </a:p>
        </p:txBody>
      </p:sp>
      <p:sp>
        <p:nvSpPr>
          <p:cNvPr id="8" name="文本框 7">
            <a:extLst>
              <a:ext uri="{FF2B5EF4-FFF2-40B4-BE49-F238E27FC236}">
                <a16:creationId xmlns:a16="http://schemas.microsoft.com/office/drawing/2014/main" id="{3398D8ED-8845-961A-108F-E72C492B76FC}"/>
              </a:ext>
            </a:extLst>
          </p:cNvPr>
          <p:cNvSpPr txBox="1"/>
          <p:nvPr/>
        </p:nvSpPr>
        <p:spPr>
          <a:xfrm>
            <a:off x="3118536" y="954891"/>
            <a:ext cx="5888151" cy="584775"/>
          </a:xfrm>
          <a:prstGeom prst="rect">
            <a:avLst/>
          </a:prstGeom>
          <a:noFill/>
        </p:spPr>
        <p:txBody>
          <a:bodyPr wrap="none" rtlCol="0">
            <a:spAutoFit/>
          </a:bodyPr>
          <a:lstStyle/>
          <a:p>
            <a:pPr algn="ctr"/>
            <a:r>
              <a:rPr lang="zh-CN" altLang="en-US" sz="3200" dirty="0">
                <a:solidFill>
                  <a:schemeClr val="accent1">
                    <a:lumMod val="50000"/>
                  </a:schemeClr>
                </a:solidFill>
              </a:rPr>
              <a:t>自注意力机制特有的能力和潜力</a:t>
            </a:r>
          </a:p>
        </p:txBody>
      </p:sp>
      <p:pic>
        <p:nvPicPr>
          <p:cNvPr id="25" name="图片 24">
            <a:extLst>
              <a:ext uri="{FF2B5EF4-FFF2-40B4-BE49-F238E27FC236}">
                <a16:creationId xmlns:a16="http://schemas.microsoft.com/office/drawing/2014/main" id="{577199C9-0334-260C-3F80-0CD7433C05E7}"/>
              </a:ext>
            </a:extLst>
          </p:cNvPr>
          <p:cNvPicPr>
            <a:picLocks noChangeAspect="1"/>
          </p:cNvPicPr>
          <p:nvPr/>
        </p:nvPicPr>
        <p:blipFill>
          <a:blip r:embed="rId3"/>
          <a:stretch>
            <a:fillRect/>
          </a:stretch>
        </p:blipFill>
        <p:spPr>
          <a:xfrm>
            <a:off x="3762207" y="1777529"/>
            <a:ext cx="8150540" cy="4014369"/>
          </a:xfrm>
          <a:prstGeom prst="rect">
            <a:avLst/>
          </a:prstGeom>
        </p:spPr>
      </p:pic>
      <p:pic>
        <p:nvPicPr>
          <p:cNvPr id="30" name="图片 29">
            <a:extLst>
              <a:ext uri="{FF2B5EF4-FFF2-40B4-BE49-F238E27FC236}">
                <a16:creationId xmlns:a16="http://schemas.microsoft.com/office/drawing/2014/main" id="{492A50A4-D2BF-BB43-B534-B266EB0DC366}"/>
              </a:ext>
            </a:extLst>
          </p:cNvPr>
          <p:cNvPicPr>
            <a:picLocks noChangeAspect="1"/>
          </p:cNvPicPr>
          <p:nvPr/>
        </p:nvPicPr>
        <p:blipFill>
          <a:blip r:embed="rId4"/>
          <a:stretch>
            <a:fillRect/>
          </a:stretch>
        </p:blipFill>
        <p:spPr>
          <a:xfrm>
            <a:off x="472262" y="2121446"/>
            <a:ext cx="2840982" cy="3657917"/>
          </a:xfrm>
          <a:prstGeom prst="rect">
            <a:avLst/>
          </a:prstGeom>
        </p:spPr>
      </p:pic>
      <p:pic>
        <p:nvPicPr>
          <p:cNvPr id="36" name="图片 35">
            <a:extLst>
              <a:ext uri="{FF2B5EF4-FFF2-40B4-BE49-F238E27FC236}">
                <a16:creationId xmlns:a16="http://schemas.microsoft.com/office/drawing/2014/main" id="{ACF24CBA-A358-50CB-673D-8885C80CBC1B}"/>
              </a:ext>
            </a:extLst>
          </p:cNvPr>
          <p:cNvPicPr>
            <a:picLocks noChangeAspect="1"/>
          </p:cNvPicPr>
          <p:nvPr/>
        </p:nvPicPr>
        <p:blipFill>
          <a:blip r:embed="rId5"/>
          <a:stretch>
            <a:fillRect/>
          </a:stretch>
        </p:blipFill>
        <p:spPr>
          <a:xfrm>
            <a:off x="167847" y="1953335"/>
            <a:ext cx="3627434" cy="3932261"/>
          </a:xfrm>
          <a:prstGeom prst="rect">
            <a:avLst/>
          </a:prstGeom>
        </p:spPr>
      </p:pic>
      <p:sp>
        <p:nvSpPr>
          <p:cNvPr id="37" name="文本框 36">
            <a:extLst>
              <a:ext uri="{FF2B5EF4-FFF2-40B4-BE49-F238E27FC236}">
                <a16:creationId xmlns:a16="http://schemas.microsoft.com/office/drawing/2014/main" id="{C6D934B2-2357-06DB-A3C8-2D6C52542189}"/>
              </a:ext>
            </a:extLst>
          </p:cNvPr>
          <p:cNvSpPr txBox="1"/>
          <p:nvPr/>
        </p:nvSpPr>
        <p:spPr>
          <a:xfrm>
            <a:off x="3013674" y="6563513"/>
            <a:ext cx="9450175" cy="276999"/>
          </a:xfrm>
          <a:prstGeom prst="rect">
            <a:avLst/>
          </a:prstGeom>
          <a:noFill/>
        </p:spPr>
        <p:txBody>
          <a:bodyPr wrap="square">
            <a:spAutoFit/>
          </a:bodyPr>
          <a:lstStyle/>
          <a:p>
            <a:r>
              <a:rPr lang="en-US" altLang="zh-CN" sz="1200" dirty="0"/>
              <a:t>[1] A. Vaswani et al., “Attention is All you Need,” Neural Information Processing </a:t>
            </a:r>
            <a:r>
              <a:rPr lang="en-US" altLang="zh-CN" sz="1200" dirty="0" err="1"/>
              <a:t>Systems,Neural</a:t>
            </a:r>
            <a:r>
              <a:rPr lang="en-US" altLang="zh-CN" sz="1200" dirty="0"/>
              <a:t> Information Processing Systems, Jun. 2017.</a:t>
            </a:r>
            <a:endParaRPr lang="zh-CN" altLang="en-US" sz="1200" dirty="0"/>
          </a:p>
        </p:txBody>
      </p:sp>
      <p:sp>
        <p:nvSpPr>
          <p:cNvPr id="38" name="矩形 37">
            <a:extLst>
              <a:ext uri="{FF2B5EF4-FFF2-40B4-BE49-F238E27FC236}">
                <a16:creationId xmlns:a16="http://schemas.microsoft.com/office/drawing/2014/main" id="{D1129E2B-5BDE-BA7D-8C55-0CF0F49EA5C5}"/>
              </a:ext>
            </a:extLst>
          </p:cNvPr>
          <p:cNvSpPr/>
          <p:nvPr/>
        </p:nvSpPr>
        <p:spPr>
          <a:xfrm>
            <a:off x="4555067" y="3886201"/>
            <a:ext cx="914400" cy="228600"/>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22C15248-050A-05E3-73B2-E5EDAD03E5D9}"/>
              </a:ext>
            </a:extLst>
          </p:cNvPr>
          <p:cNvSpPr/>
          <p:nvPr/>
        </p:nvSpPr>
        <p:spPr>
          <a:xfrm>
            <a:off x="4555067" y="3646841"/>
            <a:ext cx="753533" cy="228600"/>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90C76AA-0D56-D4CB-10EB-F1A6A47AC5A0}"/>
              </a:ext>
            </a:extLst>
          </p:cNvPr>
          <p:cNvSpPr txBox="1"/>
          <p:nvPr/>
        </p:nvSpPr>
        <p:spPr>
          <a:xfrm>
            <a:off x="5861020" y="5253972"/>
            <a:ext cx="3057247" cy="1077218"/>
          </a:xfrm>
          <a:prstGeom prst="rect">
            <a:avLst/>
          </a:prstGeom>
          <a:noFill/>
        </p:spPr>
        <p:txBody>
          <a:bodyPr wrap="none" rtlCol="0">
            <a:spAutoFit/>
          </a:bodyPr>
          <a:lstStyle/>
          <a:p>
            <a:pPr algn="ctr"/>
            <a:r>
              <a:rPr lang="zh-CN" altLang="en-US" sz="3200" dirty="0">
                <a:solidFill>
                  <a:schemeClr val="accent1">
                    <a:lumMod val="50000"/>
                  </a:schemeClr>
                </a:solidFill>
              </a:rPr>
              <a:t>全局的注意力</a:t>
            </a:r>
            <a:endParaRPr lang="en-US" altLang="zh-CN" sz="3200" dirty="0">
              <a:solidFill>
                <a:schemeClr val="accent1">
                  <a:lumMod val="50000"/>
                </a:schemeClr>
              </a:solidFill>
            </a:endParaRPr>
          </a:p>
          <a:p>
            <a:pPr algn="ctr"/>
            <a:r>
              <a:rPr lang="zh-CN" altLang="en-US" sz="3200" dirty="0">
                <a:solidFill>
                  <a:schemeClr val="accent1">
                    <a:lumMod val="50000"/>
                  </a:schemeClr>
                </a:solidFill>
              </a:rPr>
              <a:t>对噪声的鲁棒性</a:t>
            </a:r>
          </a:p>
        </p:txBody>
      </p:sp>
    </p:spTree>
    <p:extLst>
      <p:ext uri="{BB962C8B-B14F-4D97-AF65-F5344CB8AC3E}">
        <p14:creationId xmlns:p14="http://schemas.microsoft.com/office/powerpoint/2010/main" val="548892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30"/>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3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A79B353-B3B0-290C-A47F-767EF07AE3ED}"/>
            </a:ext>
          </a:extLst>
        </p:cNvPr>
        <p:cNvGrpSpPr/>
        <p:nvPr/>
      </p:nvGrpSpPr>
      <p:grpSpPr>
        <a:xfrm>
          <a:off x="0" y="0"/>
          <a:ext cx="0" cy="0"/>
          <a:chOff x="0" y="0"/>
          <a:chExt cx="0" cy="0"/>
        </a:xfrm>
      </p:grpSpPr>
      <p:sp>
        <p:nvSpPr>
          <p:cNvPr id="31" name="文本框 8">
            <a:extLst>
              <a:ext uri="{FF2B5EF4-FFF2-40B4-BE49-F238E27FC236}">
                <a16:creationId xmlns:a16="http://schemas.microsoft.com/office/drawing/2014/main" id="{1D5163FF-5656-0BEB-9E54-B3271390AB57}"/>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E9D8E118-A513-C668-A395-3A0F2D269D5E}"/>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00230349-20B1-7EF2-FC04-CAA76554D667}"/>
              </a:ext>
            </a:extLst>
          </p:cNvPr>
          <p:cNvCxnSpPr/>
          <p:nvPr/>
        </p:nvCxnSpPr>
        <p:spPr bwMode="auto">
          <a:xfrm>
            <a:off x="844636" y="1897502"/>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6C193CFF-0EDA-0EA0-3195-52BEC2E05A73}"/>
              </a:ext>
            </a:extLst>
          </p:cNvPr>
          <p:cNvSpPr txBox="1"/>
          <p:nvPr/>
        </p:nvSpPr>
        <p:spPr>
          <a:xfrm>
            <a:off x="1134735" y="167159"/>
            <a:ext cx="9723752"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自注意力机制在脑电中应用的典型案例</a:t>
            </a:r>
          </a:p>
        </p:txBody>
      </p:sp>
      <p:sp>
        <p:nvSpPr>
          <p:cNvPr id="5" name="文本框 4">
            <a:extLst>
              <a:ext uri="{FF2B5EF4-FFF2-40B4-BE49-F238E27FC236}">
                <a16:creationId xmlns:a16="http://schemas.microsoft.com/office/drawing/2014/main" id="{3655D72E-98CC-ECF5-DABC-730A8605849A}"/>
              </a:ext>
            </a:extLst>
          </p:cNvPr>
          <p:cNvSpPr txBox="1"/>
          <p:nvPr/>
        </p:nvSpPr>
        <p:spPr>
          <a:xfrm>
            <a:off x="-1482367" y="1096561"/>
            <a:ext cx="14957941" cy="584775"/>
          </a:xfrm>
          <a:prstGeom prst="rect">
            <a:avLst/>
          </a:prstGeom>
          <a:noFill/>
        </p:spPr>
        <p:txBody>
          <a:bodyPr wrap="square" rtlCol="0">
            <a:spAutoFit/>
          </a:bodyPr>
          <a:lstStyle/>
          <a:p>
            <a:pPr algn="ctr"/>
            <a:r>
              <a:rPr lang="en-US" altLang="zh-CN" sz="3200" dirty="0">
                <a:solidFill>
                  <a:schemeClr val="accent1">
                    <a:lumMod val="50000"/>
                  </a:schemeClr>
                </a:solidFill>
              </a:rPr>
              <a:t>EEG Conformer</a:t>
            </a:r>
            <a:r>
              <a:rPr lang="zh-CN" altLang="en-US" sz="3200" dirty="0">
                <a:solidFill>
                  <a:schemeClr val="accent1">
                    <a:lumMod val="50000"/>
                  </a:schemeClr>
                </a:solidFill>
              </a:rPr>
              <a:t>：</a:t>
            </a:r>
            <a:r>
              <a:rPr lang="en-US" altLang="zh-CN" sz="3200" dirty="0">
                <a:solidFill>
                  <a:schemeClr val="accent1">
                    <a:lumMod val="50000"/>
                  </a:schemeClr>
                </a:solidFill>
              </a:rPr>
              <a:t>Convolutional Transformer</a:t>
            </a:r>
          </a:p>
        </p:txBody>
      </p:sp>
      <p:pic>
        <p:nvPicPr>
          <p:cNvPr id="4098" name="Picture 2">
            <a:extLst>
              <a:ext uri="{FF2B5EF4-FFF2-40B4-BE49-F238E27FC236}">
                <a16:creationId xmlns:a16="http://schemas.microsoft.com/office/drawing/2014/main" id="{F7F85083-771E-1578-65AB-494FB3337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4165" y="2221764"/>
            <a:ext cx="9727601" cy="3009477"/>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8FC26A9E-47AF-FB2C-9989-9EF514BA0545}"/>
              </a:ext>
            </a:extLst>
          </p:cNvPr>
          <p:cNvSpPr txBox="1"/>
          <p:nvPr/>
        </p:nvSpPr>
        <p:spPr>
          <a:xfrm>
            <a:off x="2052638" y="5678447"/>
            <a:ext cx="8389964" cy="923330"/>
          </a:xfrm>
          <a:prstGeom prst="rect">
            <a:avLst/>
          </a:prstGeom>
          <a:noFill/>
        </p:spPr>
        <p:txBody>
          <a:bodyPr wrap="square">
            <a:spAutoFit/>
          </a:bodyPr>
          <a:lstStyle/>
          <a:p>
            <a:pPr marL="285750" indent="-285750">
              <a:buFont typeface="Arial" panose="020B0604020202020204" pitchFamily="34" charset="0"/>
              <a:buChar char="•"/>
            </a:pPr>
            <a:r>
              <a:rPr lang="zh-CN" altLang="en-US" b="0" i="0" dirty="0">
                <a:solidFill>
                  <a:srgbClr val="2C2C36"/>
                </a:solidFill>
                <a:effectLst/>
                <a:latin typeface="-apple-system"/>
              </a:rPr>
              <a:t>在分类任务中，基于</a:t>
            </a:r>
            <a:r>
              <a:rPr lang="en-US" altLang="zh-CN" b="0" i="0" dirty="0">
                <a:solidFill>
                  <a:srgbClr val="2C2C36"/>
                </a:solidFill>
                <a:effectLst/>
                <a:latin typeface="-apple-system"/>
              </a:rPr>
              <a:t>Transformer</a:t>
            </a:r>
            <a:r>
              <a:rPr lang="zh-CN" altLang="en-US" b="0" i="0" dirty="0">
                <a:solidFill>
                  <a:srgbClr val="2C2C36"/>
                </a:solidFill>
                <a:effectLst/>
                <a:latin typeface="-apple-system"/>
              </a:rPr>
              <a:t>的架构常常省略了解码部分的分支结构</a:t>
            </a:r>
            <a:endParaRPr lang="en-US" altLang="zh-CN" b="0" i="0" dirty="0">
              <a:solidFill>
                <a:srgbClr val="2C2C36"/>
              </a:solidFill>
              <a:effectLst/>
              <a:latin typeface="-apple-system"/>
            </a:endParaRPr>
          </a:p>
          <a:p>
            <a:pPr marL="285750" indent="-285750">
              <a:buFont typeface="Arial" panose="020B0604020202020204" pitchFamily="34" charset="0"/>
              <a:buChar char="•"/>
            </a:pPr>
            <a:r>
              <a:rPr lang="zh-CN" altLang="en-US" b="0" i="0" dirty="0">
                <a:solidFill>
                  <a:srgbClr val="2C2C36"/>
                </a:solidFill>
                <a:effectLst/>
                <a:latin typeface="-apple-system"/>
              </a:rPr>
              <a:t>经过卷积模块初步处理后，自注意力机制能够有效地捕捉到类别相关的重要特征。</a:t>
            </a:r>
            <a:endParaRPr lang="zh-CN" altLang="en-US" dirty="0"/>
          </a:p>
        </p:txBody>
      </p:sp>
    </p:spTree>
    <p:extLst>
      <p:ext uri="{BB962C8B-B14F-4D97-AF65-F5344CB8AC3E}">
        <p14:creationId xmlns:p14="http://schemas.microsoft.com/office/powerpoint/2010/main" val="2182575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732191-E7E4-92A3-D5C4-AA877DC2ACF5}"/>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28E12B76-C954-050C-5E7A-C9E59D4D8E9E}"/>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B313D3C8-F9AE-C2EF-4144-8376F5A7F8D0}"/>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998EC575-0CD1-895C-237C-AC96C0AC6715}"/>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FF027238-0008-A1D3-F0D0-6DAC4A81BE63}"/>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116F5502-6577-E0D7-3A53-FCDF3C764410}"/>
              </a:ext>
            </a:extLst>
          </p:cNvPr>
          <p:cNvSpPr txBox="1"/>
          <p:nvPr/>
        </p:nvSpPr>
        <p:spPr>
          <a:xfrm>
            <a:off x="3035337" y="152793"/>
            <a:ext cx="6054543"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如何改进自注意力机制</a:t>
            </a:r>
          </a:p>
        </p:txBody>
      </p:sp>
      <p:sp>
        <p:nvSpPr>
          <p:cNvPr id="5" name="文本框 4">
            <a:extLst>
              <a:ext uri="{FF2B5EF4-FFF2-40B4-BE49-F238E27FC236}">
                <a16:creationId xmlns:a16="http://schemas.microsoft.com/office/drawing/2014/main" id="{DE9C8936-FB08-B3EB-5FAE-04D6C5B394B2}"/>
              </a:ext>
            </a:extLst>
          </p:cNvPr>
          <p:cNvSpPr txBox="1"/>
          <p:nvPr/>
        </p:nvSpPr>
        <p:spPr>
          <a:xfrm>
            <a:off x="2892509" y="953393"/>
            <a:ext cx="6340198" cy="584775"/>
          </a:xfrm>
          <a:prstGeom prst="rect">
            <a:avLst/>
          </a:prstGeom>
          <a:noFill/>
        </p:spPr>
        <p:txBody>
          <a:bodyPr wrap="none" rtlCol="0">
            <a:spAutoFit/>
          </a:bodyPr>
          <a:lstStyle/>
          <a:p>
            <a:pPr algn="ctr"/>
            <a:r>
              <a:rPr lang="zh-CN" altLang="en-US" sz="3200" dirty="0">
                <a:solidFill>
                  <a:schemeClr val="accent1">
                    <a:lumMod val="50000"/>
                  </a:schemeClr>
                </a:solidFill>
              </a:rPr>
              <a:t>从其他时间序列任务中得到的启发</a:t>
            </a:r>
          </a:p>
        </p:txBody>
      </p:sp>
      <p:pic>
        <p:nvPicPr>
          <p:cNvPr id="6" name="图片 5">
            <a:extLst>
              <a:ext uri="{FF2B5EF4-FFF2-40B4-BE49-F238E27FC236}">
                <a16:creationId xmlns:a16="http://schemas.microsoft.com/office/drawing/2014/main" id="{72696F1C-0161-7B16-BF4A-BC2A13E1E996}"/>
              </a:ext>
            </a:extLst>
          </p:cNvPr>
          <p:cNvPicPr>
            <a:picLocks noChangeAspect="1"/>
          </p:cNvPicPr>
          <p:nvPr/>
        </p:nvPicPr>
        <p:blipFill>
          <a:blip r:embed="rId3"/>
          <a:stretch>
            <a:fillRect/>
          </a:stretch>
        </p:blipFill>
        <p:spPr>
          <a:xfrm>
            <a:off x="120045" y="2149688"/>
            <a:ext cx="11588564" cy="3774146"/>
          </a:xfrm>
          <a:prstGeom prst="rect">
            <a:avLst/>
          </a:prstGeom>
        </p:spPr>
      </p:pic>
      <p:sp>
        <p:nvSpPr>
          <p:cNvPr id="9" name="文本框 8">
            <a:extLst>
              <a:ext uri="{FF2B5EF4-FFF2-40B4-BE49-F238E27FC236}">
                <a16:creationId xmlns:a16="http://schemas.microsoft.com/office/drawing/2014/main" id="{D896F185-9766-A189-9353-CE35DD8DA38C}"/>
              </a:ext>
            </a:extLst>
          </p:cNvPr>
          <p:cNvSpPr txBox="1"/>
          <p:nvPr/>
        </p:nvSpPr>
        <p:spPr>
          <a:xfrm>
            <a:off x="226904" y="6297971"/>
            <a:ext cx="11738192" cy="646331"/>
          </a:xfrm>
          <a:prstGeom prst="rect">
            <a:avLst/>
          </a:prstGeom>
          <a:noFill/>
        </p:spPr>
        <p:txBody>
          <a:bodyPr wrap="square">
            <a:spAutoFit/>
          </a:bodyPr>
          <a:lstStyle/>
          <a:p>
            <a:r>
              <a:rPr lang="zh-CN" altLang="en-US" dirty="0"/>
              <a:t>[</a:t>
            </a:r>
            <a:r>
              <a:rPr lang="en-US" altLang="zh-CN" dirty="0"/>
              <a:t>3</a:t>
            </a:r>
            <a:r>
              <a:rPr lang="zh-CN" altLang="en-US" dirty="0"/>
              <a:t>]Shiyang Li;Xiaoyong Jin;Yao Xuan;Xiyou Zhou;Wenhu Chen;Yu-Xiang Wang;Xifeng Yan.Enhancing the Locality and Breaking the Memory Bottleneck of Transformer on Time Series Forecasting[J].Statistics,2019,</a:t>
            </a:r>
          </a:p>
        </p:txBody>
      </p:sp>
      <p:sp>
        <p:nvSpPr>
          <p:cNvPr id="12" name="文本框 11">
            <a:extLst>
              <a:ext uri="{FF2B5EF4-FFF2-40B4-BE49-F238E27FC236}">
                <a16:creationId xmlns:a16="http://schemas.microsoft.com/office/drawing/2014/main" id="{E2D9E1FA-6972-C72B-965F-B2CF62C6D1D2}"/>
              </a:ext>
            </a:extLst>
          </p:cNvPr>
          <p:cNvSpPr txBox="1"/>
          <p:nvPr/>
        </p:nvSpPr>
        <p:spPr>
          <a:xfrm>
            <a:off x="747712" y="3105834"/>
            <a:ext cx="1941700" cy="646331"/>
          </a:xfrm>
          <a:prstGeom prst="rect">
            <a:avLst/>
          </a:prstGeom>
          <a:noFill/>
        </p:spPr>
        <p:txBody>
          <a:bodyPr wrap="square" rtlCol="0">
            <a:spAutoFit/>
          </a:bodyPr>
          <a:lstStyle/>
          <a:p>
            <a:r>
              <a:rPr lang="zh-CN" altLang="en-US" dirty="0"/>
              <a:t>特征不同</a:t>
            </a:r>
            <a:endParaRPr lang="en-US" altLang="zh-CN" dirty="0"/>
          </a:p>
          <a:p>
            <a:r>
              <a:rPr lang="zh-CN" altLang="en-US" dirty="0"/>
              <a:t>但绝对数值一样</a:t>
            </a:r>
          </a:p>
        </p:txBody>
      </p:sp>
      <p:sp>
        <p:nvSpPr>
          <p:cNvPr id="14" name="文本框 13">
            <a:extLst>
              <a:ext uri="{FF2B5EF4-FFF2-40B4-BE49-F238E27FC236}">
                <a16:creationId xmlns:a16="http://schemas.microsoft.com/office/drawing/2014/main" id="{A5DC21FD-B93A-699D-D1F1-63806C6D1AF6}"/>
              </a:ext>
            </a:extLst>
          </p:cNvPr>
          <p:cNvSpPr txBox="1"/>
          <p:nvPr/>
        </p:nvSpPr>
        <p:spPr>
          <a:xfrm>
            <a:off x="6328019" y="3053976"/>
            <a:ext cx="1941700" cy="646331"/>
          </a:xfrm>
          <a:prstGeom prst="rect">
            <a:avLst/>
          </a:prstGeom>
          <a:noFill/>
        </p:spPr>
        <p:txBody>
          <a:bodyPr wrap="square" rtlCol="0">
            <a:spAutoFit/>
          </a:bodyPr>
          <a:lstStyle/>
          <a:p>
            <a:r>
              <a:rPr lang="zh-CN" altLang="en-US" dirty="0"/>
              <a:t>特征相同</a:t>
            </a:r>
            <a:endParaRPr lang="en-US" altLang="zh-CN" dirty="0"/>
          </a:p>
          <a:p>
            <a:r>
              <a:rPr lang="zh-CN" altLang="en-US" dirty="0"/>
              <a:t>但绝对数值不同</a:t>
            </a:r>
          </a:p>
        </p:txBody>
      </p:sp>
    </p:spTree>
    <p:extLst>
      <p:ext uri="{BB962C8B-B14F-4D97-AF65-F5344CB8AC3E}">
        <p14:creationId xmlns:p14="http://schemas.microsoft.com/office/powerpoint/2010/main" val="182763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6745D9-10CE-445F-25F3-6D1C2F32224D}"/>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FE2AB043-3B30-374D-F8FA-C822A90F1932}"/>
              </a:ext>
            </a:extLst>
          </p:cNvPr>
          <p:cNvSpPr>
            <a:spLocks noGrp="1"/>
          </p:cNvSpPr>
          <p:nvPr>
            <p:ph type="dt" sz="half" idx="10"/>
          </p:nvPr>
        </p:nvSpPr>
        <p:spPr>
          <a:xfrm>
            <a:off x="570044" y="6408092"/>
            <a:ext cx="2743200" cy="365125"/>
          </a:xfrm>
        </p:spPr>
        <p:txBody>
          <a:bodyPr/>
          <a:lstStyle/>
          <a:p>
            <a:pPr>
              <a:defRPr/>
            </a:pPr>
            <a:fld id="{7D57CFF5-4EAE-4F64-9EA4-AF1639666708}" type="datetime1">
              <a:rPr lang="zh-CN" altLang="en-US" smtClean="0"/>
              <a:t>2025/2/24</a:t>
            </a:fld>
            <a:endParaRPr lang="zh-CN" altLang="en-US" sz="1800" dirty="0">
              <a:solidFill>
                <a:schemeClr val="tx1"/>
              </a:solidFill>
            </a:endParaRPr>
          </a:p>
        </p:txBody>
      </p:sp>
      <p:sp>
        <p:nvSpPr>
          <p:cNvPr id="31" name="文本框 8">
            <a:extLst>
              <a:ext uri="{FF2B5EF4-FFF2-40B4-BE49-F238E27FC236}">
                <a16:creationId xmlns:a16="http://schemas.microsoft.com/office/drawing/2014/main" id="{DF6C53EF-97B2-D9B4-F4B3-0DFA157FD108}"/>
              </a:ext>
            </a:extLst>
          </p:cNvPr>
          <p:cNvSpPr>
            <a:spLocks noChangeArrowheads="1"/>
          </p:cNvSpPr>
          <p:nvPr/>
        </p:nvSpPr>
        <p:spPr bwMode="auto">
          <a:xfrm>
            <a:off x="747712" y="-67579"/>
            <a:ext cx="1479922" cy="3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dirty="0"/>
          </a:p>
        </p:txBody>
      </p:sp>
      <p:sp>
        <p:nvSpPr>
          <p:cNvPr id="33" name="Freeform 27">
            <a:extLst>
              <a:ext uri="{FF2B5EF4-FFF2-40B4-BE49-F238E27FC236}">
                <a16:creationId xmlns:a16="http://schemas.microsoft.com/office/drawing/2014/main" id="{5BA60003-ED71-A0CF-2944-F8B7A50AD41F}"/>
              </a:ext>
            </a:extLst>
          </p:cNvPr>
          <p:cNvSpPr>
            <a:spLocks noEditPoints="1" noChangeArrowheads="1"/>
          </p:cNvSpPr>
          <p:nvPr/>
        </p:nvSpPr>
        <p:spPr bwMode="auto">
          <a:xfrm>
            <a:off x="2052638" y="120136"/>
            <a:ext cx="484188" cy="442913"/>
          </a:xfrm>
          <a:custGeom>
            <a:avLst/>
            <a:gdLst>
              <a:gd name="T0" fmla="*/ 2147483646 w 246"/>
              <a:gd name="T1" fmla="*/ 2147483646 h 238"/>
              <a:gd name="T2" fmla="*/ 0 w 246"/>
              <a:gd name="T3" fmla="*/ 2147483646 h 238"/>
              <a:gd name="T4" fmla="*/ 2147483646 w 246"/>
              <a:gd name="T5" fmla="*/ 2147483646 h 238"/>
              <a:gd name="T6" fmla="*/ 2147483646 w 246"/>
              <a:gd name="T7" fmla="*/ 2147483646 h 238"/>
              <a:gd name="T8" fmla="*/ 2147483646 w 246"/>
              <a:gd name="T9" fmla="*/ 2147483646 h 238"/>
              <a:gd name="T10" fmla="*/ 2147483646 w 246"/>
              <a:gd name="T11" fmla="*/ 2147483646 h 238"/>
              <a:gd name="T12" fmla="*/ 2147483646 w 246"/>
              <a:gd name="T13" fmla="*/ 2147483646 h 238"/>
              <a:gd name="T14" fmla="*/ 2147483646 w 246"/>
              <a:gd name="T15" fmla="*/ 2147483646 h 238"/>
              <a:gd name="T16" fmla="*/ 2147483646 w 246"/>
              <a:gd name="T17" fmla="*/ 2147483646 h 238"/>
              <a:gd name="T18" fmla="*/ 2147483646 w 246"/>
              <a:gd name="T19" fmla="*/ 2147483646 h 238"/>
              <a:gd name="T20" fmla="*/ 2147483646 w 246"/>
              <a:gd name="T21" fmla="*/ 2147483646 h 238"/>
              <a:gd name="T22" fmla="*/ 2147483646 w 246"/>
              <a:gd name="T23" fmla="*/ 2147483646 h 238"/>
              <a:gd name="T24" fmla="*/ 2147483646 w 246"/>
              <a:gd name="T25" fmla="*/ 2147483646 h 238"/>
              <a:gd name="T26" fmla="*/ 2147483646 w 246"/>
              <a:gd name="T27" fmla="*/ 2147483646 h 238"/>
              <a:gd name="T28" fmla="*/ 2147483646 w 246"/>
              <a:gd name="T29" fmla="*/ 2147483646 h 238"/>
              <a:gd name="T30" fmla="*/ 2147483646 w 246"/>
              <a:gd name="T31" fmla="*/ 2147483646 h 238"/>
              <a:gd name="T32" fmla="*/ 2147483646 w 246"/>
              <a:gd name="T33" fmla="*/ 2147483646 h 238"/>
              <a:gd name="T34" fmla="*/ 2147483646 w 246"/>
              <a:gd name="T35" fmla="*/ 2147483646 h 238"/>
              <a:gd name="T36" fmla="*/ 2147483646 w 246"/>
              <a:gd name="T37" fmla="*/ 2147483646 h 238"/>
              <a:gd name="T38" fmla="*/ 2147483646 w 246"/>
              <a:gd name="T39" fmla="*/ 2147483646 h 238"/>
              <a:gd name="T40" fmla="*/ 2147483646 w 246"/>
              <a:gd name="T41" fmla="*/ 2147483646 h 238"/>
              <a:gd name="T42" fmla="*/ 2147483646 w 246"/>
              <a:gd name="T43" fmla="*/ 2147483646 h 238"/>
              <a:gd name="T44" fmla="*/ 2147483646 w 246"/>
              <a:gd name="T45" fmla="*/ 2147483646 h 238"/>
              <a:gd name="T46" fmla="*/ 2147483646 w 246"/>
              <a:gd name="T47" fmla="*/ 2147483646 h 238"/>
              <a:gd name="T48" fmla="*/ 2147483646 w 246"/>
              <a:gd name="T49" fmla="*/ 2147483646 h 238"/>
              <a:gd name="T50" fmla="*/ 2147483646 w 246"/>
              <a:gd name="T51" fmla="*/ 2147483646 h 238"/>
              <a:gd name="T52" fmla="*/ 2147483646 w 246"/>
              <a:gd name="T53" fmla="*/ 2147483646 h 238"/>
              <a:gd name="T54" fmla="*/ 2147483646 w 246"/>
              <a:gd name="T55" fmla="*/ 2147483646 h 238"/>
              <a:gd name="T56" fmla="*/ 2147483646 w 246"/>
              <a:gd name="T57" fmla="*/ 2147483646 h 238"/>
              <a:gd name="T58" fmla="*/ 2147483646 w 246"/>
              <a:gd name="T59" fmla="*/ 2147483646 h 238"/>
              <a:gd name="T60" fmla="*/ 2147483646 w 246"/>
              <a:gd name="T61" fmla="*/ 2147483646 h 238"/>
              <a:gd name="T62" fmla="*/ 2147483646 w 246"/>
              <a:gd name="T63" fmla="*/ 2147483646 h 238"/>
              <a:gd name="T64" fmla="*/ 2147483646 w 246"/>
              <a:gd name="T65" fmla="*/ 2147483646 h 238"/>
              <a:gd name="T66" fmla="*/ 2147483646 w 246"/>
              <a:gd name="T67" fmla="*/ 2147483646 h 238"/>
              <a:gd name="T68" fmla="*/ 2147483646 w 246"/>
              <a:gd name="T69" fmla="*/ 2147483646 h 238"/>
              <a:gd name="T70" fmla="*/ 2147483646 w 246"/>
              <a:gd name="T71" fmla="*/ 2147483646 h 238"/>
              <a:gd name="T72" fmla="*/ 2147483646 w 246"/>
              <a:gd name="T73" fmla="*/ 2147483646 h 238"/>
              <a:gd name="T74" fmla="*/ 2147483646 w 246"/>
              <a:gd name="T75" fmla="*/ 2147483646 h 238"/>
              <a:gd name="T76" fmla="*/ 2147483646 w 246"/>
              <a:gd name="T77" fmla="*/ 2147483646 h 238"/>
              <a:gd name="T78" fmla="*/ 2147483646 w 246"/>
              <a:gd name="T79" fmla="*/ 2147483646 h 238"/>
              <a:gd name="T80" fmla="*/ 2147483646 w 246"/>
              <a:gd name="T81" fmla="*/ 2147483646 h 238"/>
              <a:gd name="T82" fmla="*/ 2147483646 w 246"/>
              <a:gd name="T83" fmla="*/ 2147483646 h 238"/>
              <a:gd name="T84" fmla="*/ 2147483646 w 246"/>
              <a:gd name="T85" fmla="*/ 2147483646 h 238"/>
              <a:gd name="T86" fmla="*/ 2147483646 w 246"/>
              <a:gd name="T87" fmla="*/ 2147483646 h 238"/>
              <a:gd name="T88" fmla="*/ 2147483646 w 246"/>
              <a:gd name="T89" fmla="*/ 2147483646 h 238"/>
              <a:gd name="T90" fmla="*/ 2147483646 w 246"/>
              <a:gd name="T91" fmla="*/ 2147483646 h 238"/>
              <a:gd name="T92" fmla="*/ 2147483646 w 246"/>
              <a:gd name="T93" fmla="*/ 2147483646 h 238"/>
              <a:gd name="T94" fmla="*/ 2147483646 w 246"/>
              <a:gd name="T95" fmla="*/ 2147483646 h 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6"/>
              <a:gd name="T145" fmla="*/ 0 h 238"/>
              <a:gd name="T146" fmla="*/ 246 w 246"/>
              <a:gd name="T147" fmla="*/ 238 h 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6" h="238">
                <a:moveTo>
                  <a:pt x="241" y="213"/>
                </a:moveTo>
                <a:cubicBezTo>
                  <a:pt x="193" y="171"/>
                  <a:pt x="193" y="171"/>
                  <a:pt x="193" y="171"/>
                </a:cubicBezTo>
                <a:cubicBezTo>
                  <a:pt x="192" y="170"/>
                  <a:pt x="191" y="169"/>
                  <a:pt x="191" y="169"/>
                </a:cubicBezTo>
                <a:cubicBezTo>
                  <a:pt x="199" y="158"/>
                  <a:pt x="203" y="145"/>
                  <a:pt x="203" y="131"/>
                </a:cubicBezTo>
                <a:cubicBezTo>
                  <a:pt x="203" y="115"/>
                  <a:pt x="197" y="99"/>
                  <a:pt x="185" y="87"/>
                </a:cubicBezTo>
                <a:cubicBezTo>
                  <a:pt x="183" y="86"/>
                  <a:pt x="182" y="84"/>
                  <a:pt x="180" y="83"/>
                </a:cubicBezTo>
                <a:cubicBezTo>
                  <a:pt x="176" y="37"/>
                  <a:pt x="137" y="0"/>
                  <a:pt x="90" y="0"/>
                </a:cubicBezTo>
                <a:cubicBezTo>
                  <a:pt x="40" y="0"/>
                  <a:pt x="0" y="40"/>
                  <a:pt x="0" y="90"/>
                </a:cubicBezTo>
                <a:cubicBezTo>
                  <a:pt x="0" y="140"/>
                  <a:pt x="40" y="180"/>
                  <a:pt x="90" y="180"/>
                </a:cubicBezTo>
                <a:cubicBezTo>
                  <a:pt x="93" y="180"/>
                  <a:pt x="97" y="180"/>
                  <a:pt x="100" y="180"/>
                </a:cubicBezTo>
                <a:cubicBezTo>
                  <a:pt x="111" y="189"/>
                  <a:pt x="125" y="194"/>
                  <a:pt x="140" y="194"/>
                </a:cubicBezTo>
                <a:cubicBezTo>
                  <a:pt x="154" y="194"/>
                  <a:pt x="167" y="190"/>
                  <a:pt x="177" y="182"/>
                </a:cubicBezTo>
                <a:cubicBezTo>
                  <a:pt x="178" y="183"/>
                  <a:pt x="178" y="184"/>
                  <a:pt x="179" y="184"/>
                </a:cubicBezTo>
                <a:cubicBezTo>
                  <a:pt x="222" y="233"/>
                  <a:pt x="222" y="233"/>
                  <a:pt x="222" y="233"/>
                </a:cubicBezTo>
                <a:cubicBezTo>
                  <a:pt x="226" y="238"/>
                  <a:pt x="233" y="238"/>
                  <a:pt x="238" y="233"/>
                </a:cubicBezTo>
                <a:cubicBezTo>
                  <a:pt x="242" y="229"/>
                  <a:pt x="242" y="229"/>
                  <a:pt x="242" y="229"/>
                </a:cubicBezTo>
                <a:cubicBezTo>
                  <a:pt x="246" y="225"/>
                  <a:pt x="246" y="217"/>
                  <a:pt x="241" y="213"/>
                </a:cubicBezTo>
                <a:close/>
                <a:moveTo>
                  <a:pt x="191" y="118"/>
                </a:moveTo>
                <a:cubicBezTo>
                  <a:pt x="185" y="120"/>
                  <a:pt x="185" y="120"/>
                  <a:pt x="185" y="120"/>
                </a:cubicBezTo>
                <a:cubicBezTo>
                  <a:pt x="185" y="123"/>
                  <a:pt x="185" y="123"/>
                  <a:pt x="185" y="123"/>
                </a:cubicBezTo>
                <a:cubicBezTo>
                  <a:pt x="191" y="121"/>
                  <a:pt x="191" y="121"/>
                  <a:pt x="191" y="121"/>
                </a:cubicBezTo>
                <a:cubicBezTo>
                  <a:pt x="191" y="141"/>
                  <a:pt x="191" y="141"/>
                  <a:pt x="191" y="141"/>
                </a:cubicBezTo>
                <a:cubicBezTo>
                  <a:pt x="186" y="141"/>
                  <a:pt x="186" y="141"/>
                  <a:pt x="186" y="141"/>
                </a:cubicBezTo>
                <a:cubicBezTo>
                  <a:pt x="186" y="143"/>
                  <a:pt x="186" y="143"/>
                  <a:pt x="186" y="143"/>
                </a:cubicBezTo>
                <a:cubicBezTo>
                  <a:pt x="191" y="143"/>
                  <a:pt x="191" y="143"/>
                  <a:pt x="191" y="143"/>
                </a:cubicBezTo>
                <a:cubicBezTo>
                  <a:pt x="189" y="152"/>
                  <a:pt x="185" y="159"/>
                  <a:pt x="179" y="166"/>
                </a:cubicBezTo>
                <a:cubicBezTo>
                  <a:pt x="178" y="163"/>
                  <a:pt x="176" y="161"/>
                  <a:pt x="173" y="161"/>
                </a:cubicBezTo>
                <a:cubicBezTo>
                  <a:pt x="170" y="161"/>
                  <a:pt x="168" y="162"/>
                  <a:pt x="167" y="164"/>
                </a:cubicBezTo>
                <a:cubicBezTo>
                  <a:pt x="165" y="167"/>
                  <a:pt x="164" y="170"/>
                  <a:pt x="164" y="175"/>
                </a:cubicBezTo>
                <a:cubicBezTo>
                  <a:pt x="164" y="176"/>
                  <a:pt x="164" y="177"/>
                  <a:pt x="164" y="178"/>
                </a:cubicBezTo>
                <a:cubicBezTo>
                  <a:pt x="163" y="178"/>
                  <a:pt x="162" y="179"/>
                  <a:pt x="161" y="179"/>
                </a:cubicBezTo>
                <a:cubicBezTo>
                  <a:pt x="161" y="178"/>
                  <a:pt x="161" y="176"/>
                  <a:pt x="161" y="175"/>
                </a:cubicBezTo>
                <a:cubicBezTo>
                  <a:pt x="161" y="166"/>
                  <a:pt x="158" y="161"/>
                  <a:pt x="153" y="161"/>
                </a:cubicBezTo>
                <a:cubicBezTo>
                  <a:pt x="150" y="161"/>
                  <a:pt x="148" y="162"/>
                  <a:pt x="147" y="164"/>
                </a:cubicBezTo>
                <a:cubicBezTo>
                  <a:pt x="145" y="167"/>
                  <a:pt x="144" y="170"/>
                  <a:pt x="144" y="175"/>
                </a:cubicBezTo>
                <a:cubicBezTo>
                  <a:pt x="144" y="178"/>
                  <a:pt x="145" y="181"/>
                  <a:pt x="146" y="183"/>
                </a:cubicBezTo>
                <a:cubicBezTo>
                  <a:pt x="144" y="183"/>
                  <a:pt x="142" y="184"/>
                  <a:pt x="140" y="184"/>
                </a:cubicBezTo>
                <a:cubicBezTo>
                  <a:pt x="138" y="184"/>
                  <a:pt x="137" y="183"/>
                  <a:pt x="135" y="183"/>
                </a:cubicBezTo>
                <a:cubicBezTo>
                  <a:pt x="135" y="161"/>
                  <a:pt x="135" y="161"/>
                  <a:pt x="135" y="161"/>
                </a:cubicBezTo>
                <a:cubicBezTo>
                  <a:pt x="126" y="164"/>
                  <a:pt x="126" y="164"/>
                  <a:pt x="126" y="164"/>
                </a:cubicBezTo>
                <a:cubicBezTo>
                  <a:pt x="126" y="167"/>
                  <a:pt x="126" y="167"/>
                  <a:pt x="126" y="167"/>
                </a:cubicBezTo>
                <a:cubicBezTo>
                  <a:pt x="132" y="165"/>
                  <a:pt x="132" y="165"/>
                  <a:pt x="132" y="165"/>
                </a:cubicBezTo>
                <a:cubicBezTo>
                  <a:pt x="132" y="183"/>
                  <a:pt x="132" y="183"/>
                  <a:pt x="132" y="183"/>
                </a:cubicBezTo>
                <a:cubicBezTo>
                  <a:pt x="128" y="182"/>
                  <a:pt x="125" y="181"/>
                  <a:pt x="121" y="180"/>
                </a:cubicBezTo>
                <a:cubicBezTo>
                  <a:pt x="121" y="178"/>
                  <a:pt x="122" y="177"/>
                  <a:pt x="122" y="175"/>
                </a:cubicBezTo>
                <a:cubicBezTo>
                  <a:pt x="122" y="166"/>
                  <a:pt x="119" y="161"/>
                  <a:pt x="114" y="161"/>
                </a:cubicBezTo>
                <a:cubicBezTo>
                  <a:pt x="111" y="161"/>
                  <a:pt x="109" y="162"/>
                  <a:pt x="107" y="164"/>
                </a:cubicBezTo>
                <a:cubicBezTo>
                  <a:pt x="106" y="166"/>
                  <a:pt x="106" y="168"/>
                  <a:pt x="105" y="170"/>
                </a:cubicBezTo>
                <a:cubicBezTo>
                  <a:pt x="105" y="170"/>
                  <a:pt x="104" y="169"/>
                  <a:pt x="103" y="168"/>
                </a:cubicBezTo>
                <a:cubicBezTo>
                  <a:pt x="96" y="161"/>
                  <a:pt x="92" y="153"/>
                  <a:pt x="89" y="143"/>
                </a:cubicBezTo>
                <a:cubicBezTo>
                  <a:pt x="101" y="143"/>
                  <a:pt x="101" y="143"/>
                  <a:pt x="101" y="143"/>
                </a:cubicBezTo>
                <a:cubicBezTo>
                  <a:pt x="101" y="141"/>
                  <a:pt x="101" y="141"/>
                  <a:pt x="101" y="141"/>
                </a:cubicBezTo>
                <a:cubicBezTo>
                  <a:pt x="96" y="141"/>
                  <a:pt x="96" y="141"/>
                  <a:pt x="96" y="141"/>
                </a:cubicBezTo>
                <a:cubicBezTo>
                  <a:pt x="96" y="117"/>
                  <a:pt x="96" y="117"/>
                  <a:pt x="96" y="117"/>
                </a:cubicBezTo>
                <a:cubicBezTo>
                  <a:pt x="89" y="119"/>
                  <a:pt x="89" y="119"/>
                  <a:pt x="89" y="119"/>
                </a:cubicBezTo>
                <a:cubicBezTo>
                  <a:pt x="92" y="110"/>
                  <a:pt x="96" y="101"/>
                  <a:pt x="103" y="95"/>
                </a:cubicBezTo>
                <a:cubicBezTo>
                  <a:pt x="106" y="92"/>
                  <a:pt x="109" y="89"/>
                  <a:pt x="112" y="87"/>
                </a:cubicBezTo>
                <a:cubicBezTo>
                  <a:pt x="112" y="97"/>
                  <a:pt x="112" y="97"/>
                  <a:pt x="112" y="97"/>
                </a:cubicBezTo>
                <a:cubicBezTo>
                  <a:pt x="107" y="97"/>
                  <a:pt x="107" y="97"/>
                  <a:pt x="107" y="97"/>
                </a:cubicBezTo>
                <a:cubicBezTo>
                  <a:pt x="107" y="100"/>
                  <a:pt x="107" y="100"/>
                  <a:pt x="107" y="100"/>
                </a:cubicBezTo>
                <a:cubicBezTo>
                  <a:pt x="121" y="100"/>
                  <a:pt x="121" y="100"/>
                  <a:pt x="121" y="100"/>
                </a:cubicBezTo>
                <a:cubicBezTo>
                  <a:pt x="121" y="97"/>
                  <a:pt x="121" y="97"/>
                  <a:pt x="121" y="97"/>
                </a:cubicBezTo>
                <a:cubicBezTo>
                  <a:pt x="115" y="97"/>
                  <a:pt x="115" y="97"/>
                  <a:pt x="115" y="97"/>
                </a:cubicBezTo>
                <a:cubicBezTo>
                  <a:pt x="115" y="86"/>
                  <a:pt x="115" y="86"/>
                  <a:pt x="115" y="86"/>
                </a:cubicBezTo>
                <a:cubicBezTo>
                  <a:pt x="118" y="84"/>
                  <a:pt x="122" y="82"/>
                  <a:pt x="125" y="81"/>
                </a:cubicBezTo>
                <a:cubicBezTo>
                  <a:pt x="125" y="83"/>
                  <a:pt x="125" y="85"/>
                  <a:pt x="125" y="87"/>
                </a:cubicBezTo>
                <a:cubicBezTo>
                  <a:pt x="125" y="92"/>
                  <a:pt x="125" y="95"/>
                  <a:pt x="127" y="97"/>
                </a:cubicBezTo>
                <a:cubicBezTo>
                  <a:pt x="128" y="99"/>
                  <a:pt x="130" y="100"/>
                  <a:pt x="133" y="100"/>
                </a:cubicBezTo>
                <a:cubicBezTo>
                  <a:pt x="135" y="100"/>
                  <a:pt x="137" y="99"/>
                  <a:pt x="139" y="97"/>
                </a:cubicBezTo>
                <a:cubicBezTo>
                  <a:pt x="141" y="95"/>
                  <a:pt x="141" y="91"/>
                  <a:pt x="141" y="87"/>
                </a:cubicBezTo>
                <a:cubicBezTo>
                  <a:pt x="141" y="84"/>
                  <a:pt x="141" y="81"/>
                  <a:pt x="140" y="79"/>
                </a:cubicBezTo>
                <a:cubicBezTo>
                  <a:pt x="144" y="79"/>
                  <a:pt x="148" y="80"/>
                  <a:pt x="152" y="81"/>
                </a:cubicBezTo>
                <a:cubicBezTo>
                  <a:pt x="152" y="97"/>
                  <a:pt x="152" y="97"/>
                  <a:pt x="152" y="97"/>
                </a:cubicBezTo>
                <a:cubicBezTo>
                  <a:pt x="146" y="97"/>
                  <a:pt x="146" y="97"/>
                  <a:pt x="146" y="97"/>
                </a:cubicBezTo>
                <a:cubicBezTo>
                  <a:pt x="146" y="100"/>
                  <a:pt x="146" y="100"/>
                  <a:pt x="146" y="100"/>
                </a:cubicBezTo>
                <a:cubicBezTo>
                  <a:pt x="161" y="100"/>
                  <a:pt x="161" y="100"/>
                  <a:pt x="161" y="100"/>
                </a:cubicBezTo>
                <a:cubicBezTo>
                  <a:pt x="161" y="97"/>
                  <a:pt x="161" y="97"/>
                  <a:pt x="161" y="97"/>
                </a:cubicBezTo>
                <a:cubicBezTo>
                  <a:pt x="155" y="97"/>
                  <a:pt x="155" y="97"/>
                  <a:pt x="155" y="97"/>
                </a:cubicBezTo>
                <a:cubicBezTo>
                  <a:pt x="155" y="81"/>
                  <a:pt x="155" y="81"/>
                  <a:pt x="155" y="81"/>
                </a:cubicBezTo>
                <a:cubicBezTo>
                  <a:pt x="161" y="83"/>
                  <a:pt x="166" y="86"/>
                  <a:pt x="172" y="90"/>
                </a:cubicBezTo>
                <a:cubicBezTo>
                  <a:pt x="172" y="97"/>
                  <a:pt x="172" y="97"/>
                  <a:pt x="172" y="97"/>
                </a:cubicBezTo>
                <a:cubicBezTo>
                  <a:pt x="166" y="97"/>
                  <a:pt x="166" y="97"/>
                  <a:pt x="166" y="97"/>
                </a:cubicBezTo>
                <a:cubicBezTo>
                  <a:pt x="166" y="100"/>
                  <a:pt x="166" y="100"/>
                  <a:pt x="166" y="100"/>
                </a:cubicBezTo>
                <a:cubicBezTo>
                  <a:pt x="180" y="100"/>
                  <a:pt x="180" y="100"/>
                  <a:pt x="180" y="100"/>
                </a:cubicBezTo>
                <a:cubicBezTo>
                  <a:pt x="180" y="98"/>
                  <a:pt x="180" y="98"/>
                  <a:pt x="180" y="98"/>
                </a:cubicBezTo>
                <a:cubicBezTo>
                  <a:pt x="185" y="104"/>
                  <a:pt x="189" y="111"/>
                  <a:pt x="191" y="118"/>
                </a:cubicBezTo>
                <a:close/>
                <a:moveTo>
                  <a:pt x="167" y="176"/>
                </a:moveTo>
                <a:cubicBezTo>
                  <a:pt x="167" y="176"/>
                  <a:pt x="167" y="175"/>
                  <a:pt x="167" y="175"/>
                </a:cubicBezTo>
                <a:cubicBezTo>
                  <a:pt x="167" y="168"/>
                  <a:pt x="169" y="164"/>
                  <a:pt x="173" y="164"/>
                </a:cubicBezTo>
                <a:cubicBezTo>
                  <a:pt x="175" y="164"/>
                  <a:pt x="176" y="165"/>
                  <a:pt x="177" y="168"/>
                </a:cubicBezTo>
                <a:cubicBezTo>
                  <a:pt x="174" y="171"/>
                  <a:pt x="171" y="174"/>
                  <a:pt x="167" y="176"/>
                </a:cubicBezTo>
                <a:close/>
                <a:moveTo>
                  <a:pt x="149" y="183"/>
                </a:moveTo>
                <a:cubicBezTo>
                  <a:pt x="148" y="181"/>
                  <a:pt x="147" y="178"/>
                  <a:pt x="147" y="175"/>
                </a:cubicBezTo>
                <a:cubicBezTo>
                  <a:pt x="147" y="168"/>
                  <a:pt x="149" y="164"/>
                  <a:pt x="153" y="164"/>
                </a:cubicBezTo>
                <a:cubicBezTo>
                  <a:pt x="156" y="164"/>
                  <a:pt x="158" y="167"/>
                  <a:pt x="158" y="175"/>
                </a:cubicBezTo>
                <a:cubicBezTo>
                  <a:pt x="158" y="177"/>
                  <a:pt x="158" y="179"/>
                  <a:pt x="158" y="180"/>
                </a:cubicBezTo>
                <a:cubicBezTo>
                  <a:pt x="155" y="181"/>
                  <a:pt x="152" y="182"/>
                  <a:pt x="149" y="183"/>
                </a:cubicBezTo>
                <a:close/>
                <a:moveTo>
                  <a:pt x="108" y="172"/>
                </a:moveTo>
                <a:cubicBezTo>
                  <a:pt x="108" y="167"/>
                  <a:pt x="110" y="164"/>
                  <a:pt x="113" y="164"/>
                </a:cubicBezTo>
                <a:cubicBezTo>
                  <a:pt x="117" y="164"/>
                  <a:pt x="119" y="167"/>
                  <a:pt x="119" y="175"/>
                </a:cubicBezTo>
                <a:cubicBezTo>
                  <a:pt x="119" y="176"/>
                  <a:pt x="119" y="177"/>
                  <a:pt x="118" y="179"/>
                </a:cubicBezTo>
                <a:cubicBezTo>
                  <a:pt x="115" y="177"/>
                  <a:pt x="111" y="175"/>
                  <a:pt x="108" y="172"/>
                </a:cubicBezTo>
                <a:close/>
                <a:moveTo>
                  <a:pt x="88" y="131"/>
                </a:moveTo>
                <a:cubicBezTo>
                  <a:pt x="88" y="128"/>
                  <a:pt x="88" y="125"/>
                  <a:pt x="89" y="122"/>
                </a:cubicBezTo>
                <a:cubicBezTo>
                  <a:pt x="93" y="121"/>
                  <a:pt x="93" y="121"/>
                  <a:pt x="93" y="121"/>
                </a:cubicBezTo>
                <a:cubicBezTo>
                  <a:pt x="93" y="141"/>
                  <a:pt x="93" y="141"/>
                  <a:pt x="93" y="141"/>
                </a:cubicBezTo>
                <a:cubicBezTo>
                  <a:pt x="89" y="141"/>
                  <a:pt x="89" y="141"/>
                  <a:pt x="89" y="141"/>
                </a:cubicBezTo>
                <a:cubicBezTo>
                  <a:pt x="88" y="138"/>
                  <a:pt x="88" y="135"/>
                  <a:pt x="88" y="131"/>
                </a:cubicBezTo>
                <a:close/>
                <a:moveTo>
                  <a:pt x="135" y="68"/>
                </a:moveTo>
                <a:cubicBezTo>
                  <a:pt x="136" y="68"/>
                  <a:pt x="136" y="68"/>
                  <a:pt x="137" y="69"/>
                </a:cubicBezTo>
                <a:cubicBezTo>
                  <a:pt x="136" y="69"/>
                  <a:pt x="135" y="69"/>
                  <a:pt x="134" y="69"/>
                </a:cubicBezTo>
                <a:cubicBezTo>
                  <a:pt x="134" y="68"/>
                  <a:pt x="134" y="68"/>
                  <a:pt x="135" y="68"/>
                </a:cubicBezTo>
                <a:close/>
                <a:moveTo>
                  <a:pt x="175" y="92"/>
                </a:moveTo>
                <a:cubicBezTo>
                  <a:pt x="175" y="93"/>
                  <a:pt x="176" y="94"/>
                  <a:pt x="177" y="95"/>
                </a:cubicBezTo>
                <a:cubicBezTo>
                  <a:pt x="178" y="95"/>
                  <a:pt x="179" y="96"/>
                  <a:pt x="180" y="97"/>
                </a:cubicBezTo>
                <a:cubicBezTo>
                  <a:pt x="175" y="97"/>
                  <a:pt x="175" y="97"/>
                  <a:pt x="175" y="97"/>
                </a:cubicBezTo>
                <a:lnTo>
                  <a:pt x="175" y="92"/>
                </a:lnTo>
                <a:close/>
                <a:moveTo>
                  <a:pt x="138" y="87"/>
                </a:moveTo>
                <a:cubicBezTo>
                  <a:pt x="138" y="94"/>
                  <a:pt x="137" y="97"/>
                  <a:pt x="133" y="97"/>
                </a:cubicBezTo>
                <a:cubicBezTo>
                  <a:pt x="129" y="97"/>
                  <a:pt x="128" y="94"/>
                  <a:pt x="128" y="87"/>
                </a:cubicBezTo>
                <a:cubicBezTo>
                  <a:pt x="128" y="84"/>
                  <a:pt x="128" y="82"/>
                  <a:pt x="128" y="81"/>
                </a:cubicBezTo>
                <a:cubicBezTo>
                  <a:pt x="131" y="80"/>
                  <a:pt x="134" y="80"/>
                  <a:pt x="137" y="79"/>
                </a:cubicBezTo>
                <a:cubicBezTo>
                  <a:pt x="138" y="81"/>
                  <a:pt x="138" y="84"/>
                  <a:pt x="138" y="87"/>
                </a:cubicBezTo>
                <a:close/>
                <a:moveTo>
                  <a:pt x="153" y="66"/>
                </a:moveTo>
                <a:cubicBezTo>
                  <a:pt x="159" y="65"/>
                  <a:pt x="166" y="71"/>
                  <a:pt x="163" y="73"/>
                </a:cubicBezTo>
                <a:cubicBezTo>
                  <a:pt x="159" y="71"/>
                  <a:pt x="154" y="70"/>
                  <a:pt x="149" y="69"/>
                </a:cubicBezTo>
                <a:cubicBezTo>
                  <a:pt x="149" y="68"/>
                  <a:pt x="151" y="67"/>
                  <a:pt x="153" y="66"/>
                </a:cubicBezTo>
                <a:close/>
                <a:moveTo>
                  <a:pt x="49" y="160"/>
                </a:moveTo>
                <a:cubicBezTo>
                  <a:pt x="26" y="147"/>
                  <a:pt x="8" y="120"/>
                  <a:pt x="8" y="90"/>
                </a:cubicBezTo>
                <a:cubicBezTo>
                  <a:pt x="8" y="89"/>
                  <a:pt x="8" y="87"/>
                  <a:pt x="8" y="86"/>
                </a:cubicBezTo>
                <a:cubicBezTo>
                  <a:pt x="13" y="87"/>
                  <a:pt x="19" y="93"/>
                  <a:pt x="19" y="99"/>
                </a:cubicBezTo>
                <a:cubicBezTo>
                  <a:pt x="20" y="104"/>
                  <a:pt x="20" y="106"/>
                  <a:pt x="29" y="107"/>
                </a:cubicBezTo>
                <a:cubicBezTo>
                  <a:pt x="39" y="108"/>
                  <a:pt x="35" y="116"/>
                  <a:pt x="40" y="116"/>
                </a:cubicBezTo>
                <a:cubicBezTo>
                  <a:pt x="45" y="116"/>
                  <a:pt x="48" y="114"/>
                  <a:pt x="47" y="117"/>
                </a:cubicBezTo>
                <a:cubicBezTo>
                  <a:pt x="47" y="119"/>
                  <a:pt x="46" y="120"/>
                  <a:pt x="45" y="120"/>
                </a:cubicBezTo>
                <a:cubicBezTo>
                  <a:pt x="38" y="129"/>
                  <a:pt x="43" y="138"/>
                  <a:pt x="49" y="143"/>
                </a:cubicBezTo>
                <a:cubicBezTo>
                  <a:pt x="51" y="144"/>
                  <a:pt x="50" y="153"/>
                  <a:pt x="49" y="160"/>
                </a:cubicBezTo>
                <a:close/>
                <a:moveTo>
                  <a:pt x="51" y="110"/>
                </a:moveTo>
                <a:cubicBezTo>
                  <a:pt x="47" y="112"/>
                  <a:pt x="39" y="116"/>
                  <a:pt x="40" y="111"/>
                </a:cubicBezTo>
                <a:cubicBezTo>
                  <a:pt x="42" y="102"/>
                  <a:pt x="36" y="108"/>
                  <a:pt x="35" y="104"/>
                </a:cubicBezTo>
                <a:cubicBezTo>
                  <a:pt x="34" y="100"/>
                  <a:pt x="43" y="100"/>
                  <a:pt x="38" y="99"/>
                </a:cubicBezTo>
                <a:cubicBezTo>
                  <a:pt x="34" y="97"/>
                  <a:pt x="27" y="109"/>
                  <a:pt x="27" y="100"/>
                </a:cubicBezTo>
                <a:cubicBezTo>
                  <a:pt x="27" y="97"/>
                  <a:pt x="27" y="94"/>
                  <a:pt x="29" y="93"/>
                </a:cubicBezTo>
                <a:cubicBezTo>
                  <a:pt x="32" y="87"/>
                  <a:pt x="39" y="87"/>
                  <a:pt x="41" y="90"/>
                </a:cubicBezTo>
                <a:cubicBezTo>
                  <a:pt x="43" y="95"/>
                  <a:pt x="43" y="98"/>
                  <a:pt x="45" y="96"/>
                </a:cubicBezTo>
                <a:cubicBezTo>
                  <a:pt x="47" y="94"/>
                  <a:pt x="44" y="91"/>
                  <a:pt x="47" y="85"/>
                </a:cubicBezTo>
                <a:cubicBezTo>
                  <a:pt x="49" y="80"/>
                  <a:pt x="55" y="73"/>
                  <a:pt x="69" y="67"/>
                </a:cubicBezTo>
                <a:cubicBezTo>
                  <a:pt x="78" y="63"/>
                  <a:pt x="71" y="56"/>
                  <a:pt x="68" y="50"/>
                </a:cubicBezTo>
                <a:cubicBezTo>
                  <a:pt x="63" y="44"/>
                  <a:pt x="56" y="39"/>
                  <a:pt x="54" y="45"/>
                </a:cubicBezTo>
                <a:cubicBezTo>
                  <a:pt x="52" y="50"/>
                  <a:pt x="56" y="60"/>
                  <a:pt x="50" y="58"/>
                </a:cubicBezTo>
                <a:cubicBezTo>
                  <a:pt x="45" y="56"/>
                  <a:pt x="38" y="52"/>
                  <a:pt x="42" y="47"/>
                </a:cubicBezTo>
                <a:cubicBezTo>
                  <a:pt x="46" y="43"/>
                  <a:pt x="53" y="42"/>
                  <a:pt x="53" y="39"/>
                </a:cubicBezTo>
                <a:cubicBezTo>
                  <a:pt x="53" y="34"/>
                  <a:pt x="53" y="30"/>
                  <a:pt x="56" y="30"/>
                </a:cubicBezTo>
                <a:cubicBezTo>
                  <a:pt x="59" y="31"/>
                  <a:pt x="61" y="32"/>
                  <a:pt x="58" y="37"/>
                </a:cubicBezTo>
                <a:cubicBezTo>
                  <a:pt x="56" y="41"/>
                  <a:pt x="68" y="44"/>
                  <a:pt x="69" y="41"/>
                </a:cubicBezTo>
                <a:cubicBezTo>
                  <a:pt x="70" y="39"/>
                  <a:pt x="68" y="35"/>
                  <a:pt x="64" y="29"/>
                </a:cubicBezTo>
                <a:cubicBezTo>
                  <a:pt x="61" y="25"/>
                  <a:pt x="54" y="26"/>
                  <a:pt x="57" y="22"/>
                </a:cubicBezTo>
                <a:cubicBezTo>
                  <a:pt x="58" y="21"/>
                  <a:pt x="60" y="16"/>
                  <a:pt x="63" y="14"/>
                </a:cubicBezTo>
                <a:cubicBezTo>
                  <a:pt x="64" y="14"/>
                  <a:pt x="65" y="14"/>
                  <a:pt x="66" y="13"/>
                </a:cubicBezTo>
                <a:cubicBezTo>
                  <a:pt x="66" y="14"/>
                  <a:pt x="64" y="16"/>
                  <a:pt x="64" y="18"/>
                </a:cubicBezTo>
                <a:cubicBezTo>
                  <a:pt x="64" y="22"/>
                  <a:pt x="72" y="16"/>
                  <a:pt x="74" y="20"/>
                </a:cubicBezTo>
                <a:cubicBezTo>
                  <a:pt x="77" y="25"/>
                  <a:pt x="71" y="33"/>
                  <a:pt x="76" y="39"/>
                </a:cubicBezTo>
                <a:cubicBezTo>
                  <a:pt x="81" y="44"/>
                  <a:pt x="84" y="49"/>
                  <a:pt x="86" y="41"/>
                </a:cubicBezTo>
                <a:cubicBezTo>
                  <a:pt x="88" y="33"/>
                  <a:pt x="102" y="32"/>
                  <a:pt x="102" y="27"/>
                </a:cubicBezTo>
                <a:cubicBezTo>
                  <a:pt x="103" y="23"/>
                  <a:pt x="103" y="19"/>
                  <a:pt x="103" y="11"/>
                </a:cubicBezTo>
                <a:cubicBezTo>
                  <a:pt x="117" y="13"/>
                  <a:pt x="130" y="19"/>
                  <a:pt x="140" y="27"/>
                </a:cubicBezTo>
                <a:cubicBezTo>
                  <a:pt x="134" y="29"/>
                  <a:pt x="127" y="40"/>
                  <a:pt x="127" y="44"/>
                </a:cubicBezTo>
                <a:cubicBezTo>
                  <a:pt x="127" y="49"/>
                  <a:pt x="129" y="48"/>
                  <a:pt x="132" y="46"/>
                </a:cubicBezTo>
                <a:cubicBezTo>
                  <a:pt x="135" y="44"/>
                  <a:pt x="131" y="49"/>
                  <a:pt x="134" y="52"/>
                </a:cubicBezTo>
                <a:cubicBezTo>
                  <a:pt x="139" y="54"/>
                  <a:pt x="138" y="51"/>
                  <a:pt x="137" y="44"/>
                </a:cubicBezTo>
                <a:cubicBezTo>
                  <a:pt x="136" y="38"/>
                  <a:pt x="140" y="35"/>
                  <a:pt x="143" y="36"/>
                </a:cubicBezTo>
                <a:cubicBezTo>
                  <a:pt x="147" y="37"/>
                  <a:pt x="141" y="38"/>
                  <a:pt x="141" y="42"/>
                </a:cubicBezTo>
                <a:cubicBezTo>
                  <a:pt x="141" y="46"/>
                  <a:pt x="148" y="42"/>
                  <a:pt x="149" y="45"/>
                </a:cubicBezTo>
                <a:cubicBezTo>
                  <a:pt x="149" y="47"/>
                  <a:pt x="142" y="46"/>
                  <a:pt x="142" y="50"/>
                </a:cubicBezTo>
                <a:cubicBezTo>
                  <a:pt x="142" y="53"/>
                  <a:pt x="142" y="55"/>
                  <a:pt x="139" y="55"/>
                </a:cubicBezTo>
                <a:cubicBezTo>
                  <a:pt x="137" y="55"/>
                  <a:pt x="134" y="56"/>
                  <a:pt x="133" y="55"/>
                </a:cubicBezTo>
                <a:cubicBezTo>
                  <a:pt x="132" y="54"/>
                  <a:pt x="132" y="50"/>
                  <a:pt x="131" y="50"/>
                </a:cubicBezTo>
                <a:cubicBezTo>
                  <a:pt x="127" y="49"/>
                  <a:pt x="128" y="55"/>
                  <a:pt x="126" y="57"/>
                </a:cubicBezTo>
                <a:cubicBezTo>
                  <a:pt x="124" y="60"/>
                  <a:pt x="120" y="62"/>
                  <a:pt x="119" y="63"/>
                </a:cubicBezTo>
                <a:cubicBezTo>
                  <a:pt x="116" y="65"/>
                  <a:pt x="127" y="72"/>
                  <a:pt x="115" y="69"/>
                </a:cubicBezTo>
                <a:cubicBezTo>
                  <a:pt x="113" y="68"/>
                  <a:pt x="111" y="72"/>
                  <a:pt x="112" y="75"/>
                </a:cubicBezTo>
                <a:cubicBezTo>
                  <a:pt x="106" y="78"/>
                  <a:pt x="101" y="82"/>
                  <a:pt x="96" y="87"/>
                </a:cubicBezTo>
                <a:cubicBezTo>
                  <a:pt x="85" y="98"/>
                  <a:pt x="79" y="112"/>
                  <a:pt x="77" y="126"/>
                </a:cubicBezTo>
                <a:cubicBezTo>
                  <a:pt x="77" y="126"/>
                  <a:pt x="77" y="126"/>
                  <a:pt x="77" y="126"/>
                </a:cubicBezTo>
                <a:cubicBezTo>
                  <a:pt x="69" y="123"/>
                  <a:pt x="62" y="106"/>
                  <a:pt x="51" y="110"/>
                </a:cubicBezTo>
                <a:close/>
                <a:moveTo>
                  <a:pt x="64" y="167"/>
                </a:moveTo>
                <a:cubicBezTo>
                  <a:pt x="67" y="159"/>
                  <a:pt x="73" y="152"/>
                  <a:pt x="79" y="146"/>
                </a:cubicBezTo>
                <a:cubicBezTo>
                  <a:pt x="80" y="152"/>
                  <a:pt x="83" y="159"/>
                  <a:pt x="87" y="164"/>
                </a:cubicBezTo>
                <a:cubicBezTo>
                  <a:pt x="87" y="167"/>
                  <a:pt x="87" y="167"/>
                  <a:pt x="87" y="167"/>
                </a:cubicBezTo>
                <a:cubicBezTo>
                  <a:pt x="88" y="166"/>
                  <a:pt x="88" y="166"/>
                  <a:pt x="88" y="166"/>
                </a:cubicBezTo>
                <a:cubicBezTo>
                  <a:pt x="89" y="168"/>
                  <a:pt x="90" y="169"/>
                  <a:pt x="91" y="171"/>
                </a:cubicBezTo>
                <a:cubicBezTo>
                  <a:pt x="91" y="171"/>
                  <a:pt x="90" y="171"/>
                  <a:pt x="90" y="171"/>
                </a:cubicBezTo>
                <a:cubicBezTo>
                  <a:pt x="81" y="171"/>
                  <a:pt x="71" y="170"/>
                  <a:pt x="64" y="167"/>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lIns="69394" tIns="34697" rIns="69394" bIns="34697"/>
          <a:lstStyle/>
          <a:p>
            <a:endParaRPr lang="zh-CN" altLang="en-US"/>
          </a:p>
        </p:txBody>
      </p:sp>
      <p:cxnSp>
        <p:nvCxnSpPr>
          <p:cNvPr id="3" name="直接连接符 2">
            <a:extLst>
              <a:ext uri="{FF2B5EF4-FFF2-40B4-BE49-F238E27FC236}">
                <a16:creationId xmlns:a16="http://schemas.microsoft.com/office/drawing/2014/main" id="{B33D0E97-FE77-5B76-F952-1F1ECF40CEA6}"/>
              </a:ext>
            </a:extLst>
          </p:cNvPr>
          <p:cNvCxnSpPr/>
          <p:nvPr/>
        </p:nvCxnSpPr>
        <p:spPr bwMode="auto">
          <a:xfrm>
            <a:off x="944033"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4" name="文本框 3">
            <a:extLst>
              <a:ext uri="{FF2B5EF4-FFF2-40B4-BE49-F238E27FC236}">
                <a16:creationId xmlns:a16="http://schemas.microsoft.com/office/drawing/2014/main" id="{B31BD7B8-A14C-6E1D-8FA9-DB02CCE38540}"/>
              </a:ext>
            </a:extLst>
          </p:cNvPr>
          <p:cNvSpPr txBox="1"/>
          <p:nvPr/>
        </p:nvSpPr>
        <p:spPr>
          <a:xfrm>
            <a:off x="3035337" y="152793"/>
            <a:ext cx="6054543"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如何改进自注意力机制</a:t>
            </a:r>
          </a:p>
        </p:txBody>
      </p:sp>
      <p:sp>
        <p:nvSpPr>
          <p:cNvPr id="5" name="文本框 4">
            <a:extLst>
              <a:ext uri="{FF2B5EF4-FFF2-40B4-BE49-F238E27FC236}">
                <a16:creationId xmlns:a16="http://schemas.microsoft.com/office/drawing/2014/main" id="{ED798BFA-80FC-251B-0AE1-E7F7CEA84EC0}"/>
              </a:ext>
            </a:extLst>
          </p:cNvPr>
          <p:cNvSpPr txBox="1"/>
          <p:nvPr/>
        </p:nvSpPr>
        <p:spPr>
          <a:xfrm>
            <a:off x="2892509" y="953393"/>
            <a:ext cx="6340198" cy="584775"/>
          </a:xfrm>
          <a:prstGeom prst="rect">
            <a:avLst/>
          </a:prstGeom>
          <a:noFill/>
        </p:spPr>
        <p:txBody>
          <a:bodyPr wrap="none" rtlCol="0">
            <a:spAutoFit/>
          </a:bodyPr>
          <a:lstStyle/>
          <a:p>
            <a:pPr algn="ctr"/>
            <a:r>
              <a:rPr lang="zh-CN" altLang="en-US" sz="3200" dirty="0">
                <a:solidFill>
                  <a:schemeClr val="accent1">
                    <a:lumMod val="50000"/>
                  </a:schemeClr>
                </a:solidFill>
              </a:rPr>
              <a:t>从其他时间序列任务中得到的启发</a:t>
            </a:r>
          </a:p>
        </p:txBody>
      </p:sp>
      <p:sp>
        <p:nvSpPr>
          <p:cNvPr id="7" name="文本框 6">
            <a:extLst>
              <a:ext uri="{FF2B5EF4-FFF2-40B4-BE49-F238E27FC236}">
                <a16:creationId xmlns:a16="http://schemas.microsoft.com/office/drawing/2014/main" id="{2CB0F7EB-F33C-D6A1-41D5-0F5000A4B71B}"/>
              </a:ext>
            </a:extLst>
          </p:cNvPr>
          <p:cNvSpPr txBox="1"/>
          <p:nvPr/>
        </p:nvSpPr>
        <p:spPr>
          <a:xfrm>
            <a:off x="2227634" y="1897353"/>
            <a:ext cx="7576113" cy="646331"/>
          </a:xfrm>
          <a:prstGeom prst="rect">
            <a:avLst/>
          </a:prstGeom>
          <a:noFill/>
        </p:spPr>
        <p:txBody>
          <a:bodyPr wrap="none" rtlCol="0">
            <a:spAutoFit/>
          </a:bodyPr>
          <a:lstStyle/>
          <a:p>
            <a:r>
              <a:rPr lang="zh-CN" altLang="en-US" dirty="0"/>
              <a:t>共性：都提到了自注意力模块在局部特征提取方面的不足</a:t>
            </a:r>
            <a:endParaRPr lang="en-US" altLang="zh-CN" dirty="0"/>
          </a:p>
          <a:p>
            <a:r>
              <a:rPr lang="zh-CN" altLang="en-US" dirty="0"/>
              <a:t>都选择使用</a:t>
            </a:r>
            <a:r>
              <a:rPr lang="en-US" altLang="zh-CN" dirty="0"/>
              <a:t>transformer</a:t>
            </a:r>
            <a:r>
              <a:rPr lang="zh-CN" altLang="en-US" dirty="0"/>
              <a:t>和卷积网络的融合来弥补</a:t>
            </a:r>
            <a:r>
              <a:rPr lang="zh-CN" altLang="en-US" b="0" i="0" dirty="0">
                <a:solidFill>
                  <a:srgbClr val="2C2C36"/>
                </a:solidFill>
                <a:effectLst/>
                <a:latin typeface="-apple-system"/>
              </a:rPr>
              <a:t>局部特征提取方面的不足</a:t>
            </a:r>
            <a:endParaRPr lang="zh-CN" altLang="en-US" dirty="0"/>
          </a:p>
        </p:txBody>
      </p:sp>
      <p:pic>
        <p:nvPicPr>
          <p:cNvPr id="8" name="Picture 2">
            <a:extLst>
              <a:ext uri="{FF2B5EF4-FFF2-40B4-BE49-F238E27FC236}">
                <a16:creationId xmlns:a16="http://schemas.microsoft.com/office/drawing/2014/main" id="{4E3AA0B9-B5E3-8FCA-826B-FD7E25EFEA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295" y="2553942"/>
            <a:ext cx="7194786" cy="3242359"/>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803C72CA-4FF3-031D-A455-5B632EED2AEE}"/>
              </a:ext>
            </a:extLst>
          </p:cNvPr>
          <p:cNvPicPr>
            <a:picLocks noChangeAspect="1"/>
          </p:cNvPicPr>
          <p:nvPr/>
        </p:nvPicPr>
        <p:blipFill>
          <a:blip r:embed="rId4"/>
          <a:srcRect l="70287" t="4997" r="3077" b="10332"/>
          <a:stretch/>
        </p:blipFill>
        <p:spPr>
          <a:xfrm>
            <a:off x="8180171" y="2663851"/>
            <a:ext cx="2919513" cy="3022540"/>
          </a:xfrm>
          <a:prstGeom prst="rect">
            <a:avLst/>
          </a:prstGeom>
        </p:spPr>
      </p:pic>
    </p:spTree>
    <p:extLst>
      <p:ext uri="{BB962C8B-B14F-4D97-AF65-F5344CB8AC3E}">
        <p14:creationId xmlns:p14="http://schemas.microsoft.com/office/powerpoint/2010/main" val="297289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6C5228CF-0494-0D70-9B0C-6E3E2CA624FE}"/>
              </a:ext>
            </a:extLst>
          </p:cNvPr>
          <p:cNvCxnSpPr/>
          <p:nvPr/>
        </p:nvCxnSpPr>
        <p:spPr bwMode="auto">
          <a:xfrm>
            <a:off x="840794" y="1538168"/>
            <a:ext cx="10303933" cy="0"/>
          </a:xfrm>
          <a:prstGeom prst="line">
            <a:avLst/>
          </a:prstGeom>
          <a:solidFill>
            <a:schemeClr val="accent1"/>
          </a:solidFill>
          <a:ln w="57150" cap="flat" cmpd="sng" algn="ctr">
            <a:solidFill>
              <a:srgbClr val="0070C0"/>
            </a:solidFill>
            <a:prstDash val="solid"/>
            <a:round/>
            <a:headEnd type="none" w="med" len="med"/>
            <a:tailEnd type="none" w="med" len="med"/>
          </a:ln>
        </p:spPr>
      </p:cxnSp>
      <p:sp>
        <p:nvSpPr>
          <p:cNvPr id="5" name="文本框 4">
            <a:extLst>
              <a:ext uri="{FF2B5EF4-FFF2-40B4-BE49-F238E27FC236}">
                <a16:creationId xmlns:a16="http://schemas.microsoft.com/office/drawing/2014/main" id="{42348342-EC44-5D3D-0AF3-B230FAF65EBE}"/>
              </a:ext>
            </a:extLst>
          </p:cNvPr>
          <p:cNvSpPr txBox="1"/>
          <p:nvPr/>
        </p:nvSpPr>
        <p:spPr>
          <a:xfrm>
            <a:off x="4426901" y="447761"/>
            <a:ext cx="3005951" cy="769441"/>
          </a:xfrm>
          <a:prstGeom prst="rect">
            <a:avLst/>
          </a:prstGeom>
          <a:noFill/>
        </p:spPr>
        <p:txBody>
          <a:bodyPr wrap="none" rtlCol="0">
            <a:spAutoFit/>
          </a:bodyPr>
          <a:lstStyle/>
          <a:p>
            <a:pPr algn="ctr"/>
            <a:r>
              <a:rPr lang="zh-CN" altLang="en-US" sz="4400" dirty="0">
                <a:solidFill>
                  <a:schemeClr val="accent1">
                    <a:lumMod val="50000"/>
                  </a:schemeClr>
                </a:solidFill>
                <a:latin typeface="微软雅黑" panose="020B0503020204020204" pitchFamily="34" charset="-122"/>
                <a:ea typeface="微软雅黑" panose="020B0503020204020204" pitchFamily="34" charset="-122"/>
              </a:rPr>
              <a:t>小论文情况</a:t>
            </a:r>
          </a:p>
        </p:txBody>
      </p:sp>
    </p:spTree>
    <p:extLst>
      <p:ext uri="{BB962C8B-B14F-4D97-AF65-F5344CB8AC3E}">
        <p14:creationId xmlns:p14="http://schemas.microsoft.com/office/powerpoint/2010/main" val="266477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矩形 27"/>
          <p:cNvSpPr>
            <a:spLocks noChangeArrowheads="1"/>
          </p:cNvSpPr>
          <p:nvPr/>
        </p:nvSpPr>
        <p:spPr bwMode="auto">
          <a:xfrm>
            <a:off x="1238300" y="2664588"/>
            <a:ext cx="951653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lnSpc>
                <a:spcPct val="100000"/>
              </a:lnSpc>
              <a:spcBef>
                <a:spcPct val="0"/>
              </a:spcBef>
              <a:buNone/>
            </a:pPr>
            <a:r>
              <a:rPr lang="zh-CN" altLang="en-US" sz="8000" b="1" dirty="0">
                <a:solidFill>
                  <a:schemeClr val="accent1">
                    <a:lumMod val="50000"/>
                  </a:schemeClr>
                </a:solidFill>
                <a:latin typeface="微软雅黑" panose="020B0503020204020204" pitchFamily="34" charset="-122"/>
                <a:ea typeface="微软雅黑" panose="020B0503020204020204" pitchFamily="34" charset="-122"/>
              </a:rPr>
              <a:t>请老师批评指正</a:t>
            </a:r>
          </a:p>
        </p:txBody>
      </p:sp>
    </p:spTree>
    <p:extLst>
      <p:ext uri="{BB962C8B-B14F-4D97-AF65-F5344CB8AC3E}">
        <p14:creationId xmlns:p14="http://schemas.microsoft.com/office/powerpoint/2010/main" val="24384799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E3A0C923-D578-4154-8392-55F1210D0C5C}" vid="{EC7F7A2C-C214-4880-B608-57389FB1526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4926</TotalTime>
  <Words>4224</Words>
  <Application>Microsoft Office PowerPoint</Application>
  <PresentationFormat>宽屏</PresentationFormat>
  <Paragraphs>292</Paragraphs>
  <Slides>22</Slides>
  <Notes>20</Notes>
  <HiddenSlides>8</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5" baseType="lpstr">
      <vt:lpstr>Adobe 楷体 Std R</vt:lpstr>
      <vt:lpstr>-apple-system</vt:lpstr>
      <vt:lpstr>等线</vt:lpstr>
      <vt:lpstr>等线 Light</vt:lpstr>
      <vt:lpstr>楷体</vt:lpstr>
      <vt:lpstr>微软雅黑</vt:lpstr>
      <vt:lpstr>Arial</vt:lpstr>
      <vt:lpstr>Cambria Math</vt:lpstr>
      <vt:lpstr>Helvetica</vt:lpstr>
      <vt:lpstr>Lato</vt:lpstr>
      <vt:lpstr>Times New Roman</vt:lpstr>
      <vt:lpstr>Office 主题​​</vt:lpstr>
      <vt:lpstr>Unknown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浅赜 谴责</dc:creator>
  <cp:lastModifiedBy>浅赜 谴责</cp:lastModifiedBy>
  <cp:revision>43</cp:revision>
  <dcterms:created xsi:type="dcterms:W3CDTF">2024-03-31T10:03:01Z</dcterms:created>
  <dcterms:modified xsi:type="dcterms:W3CDTF">2025-02-24T06:30:31Z</dcterms:modified>
</cp:coreProperties>
</file>